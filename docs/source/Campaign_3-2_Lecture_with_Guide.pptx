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83"/>
  </p:notesMasterIdLst>
  <p:sldIdLst>
    <p:sldId id="1222" r:id="rId2"/>
    <p:sldId id="1352" r:id="rId90"/>
    <p:sldId id="1319" r:id="rId3"/>
    <p:sldId id="1320" r:id="rId4"/>
    <p:sldId id="1321" r:id="rId5"/>
    <p:sldId id="1322" r:id="rId6"/>
    <p:sldId id="1323" r:id="rId7"/>
    <p:sldId id="1324" r:id="rId8"/>
    <p:sldId id="1325" r:id="rId9"/>
    <p:sldId id="1326" r:id="rId10"/>
    <p:sldId id="1327" r:id="rId11"/>
    <p:sldId id="1328" r:id="rId12"/>
    <p:sldId id="1329" r:id="rId13"/>
    <p:sldId id="1330" r:id="rId14"/>
    <p:sldId id="1331" r:id="rId15"/>
    <p:sldId id="1332" r:id="rId16"/>
    <p:sldId id="1350" r:id="rId88"/>
    <p:sldId id="1333" r:id="rId17"/>
    <p:sldId id="1334" r:id="rId18"/>
    <p:sldId id="1264" r:id="rId19"/>
    <p:sldId id="1348" r:id="rId20"/>
    <p:sldId id="1280" r:id="rId21"/>
    <p:sldId id="1265" r:id="rId22"/>
    <p:sldId id="1349" r:id="rId23"/>
    <p:sldId id="1296" r:id="rId24"/>
    <p:sldId id="1339" r:id="rId25"/>
    <p:sldId id="1340" r:id="rId26"/>
    <p:sldId id="1341" r:id="rId27"/>
    <p:sldId id="1342" r:id="rId28"/>
    <p:sldId id="1343" r:id="rId29"/>
    <p:sldId id="1344" r:id="rId30"/>
    <p:sldId id="1345" r:id="rId31"/>
    <p:sldId id="1297" r:id="rId32"/>
    <p:sldId id="1298" r:id="rId33"/>
    <p:sldId id="1299" r:id="rId34"/>
    <p:sldId id="1300" r:id="rId35"/>
    <p:sldId id="1301" r:id="rId36"/>
    <p:sldId id="1302" r:id="rId37"/>
    <p:sldId id="1266" r:id="rId38"/>
    <p:sldId id="1275" r:id="rId39"/>
    <p:sldId id="1303" r:id="rId40"/>
    <p:sldId id="1304" r:id="rId41"/>
    <p:sldId id="1284" r:id="rId42"/>
    <p:sldId id="1305" r:id="rId43"/>
    <p:sldId id="1351" r:id="rId89"/>
    <p:sldId id="1353" r:id="rId91"/>
    <p:sldId id="1354" r:id="rId92"/>
    <p:sldId id="1355" r:id="rId93"/>
    <p:sldId id="1356" r:id="rId94"/>
    <p:sldId id="1357" r:id="rId95"/>
    <p:sldId id="1358" r:id="rId96"/>
    <p:sldId id="1359" r:id="rId97"/>
    <p:sldId id="1360" r:id="rId98"/>
    <p:sldId id="1361" r:id="rId99"/>
    <p:sldId id="1362" r:id="rId100"/>
    <p:sldId id="1363" r:id="rId101"/>
    <p:sldId id="1364" r:id="rId102"/>
    <p:sldId id="1306" r:id="rId44"/>
    <p:sldId id="1365" r:id="rId103"/>
    <p:sldId id="1307" r:id="rId45"/>
    <p:sldId id="1366" r:id="rId104"/>
    <p:sldId id="1267" r:id="rId46"/>
    <p:sldId id="1367" r:id="rId105"/>
    <p:sldId id="1368" r:id="rId106"/>
    <p:sldId id="1369" r:id="rId107"/>
    <p:sldId id="1370" r:id="rId108"/>
    <p:sldId id="1371" r:id="rId109"/>
    <p:sldId id="1285" r:id="rId47"/>
    <p:sldId id="1372" r:id="rId110"/>
    <p:sldId id="1308" r:id="rId48"/>
    <p:sldId id="1373" r:id="rId111"/>
    <p:sldId id="1268" r:id="rId49"/>
    <p:sldId id="1374" r:id="rId112"/>
    <p:sldId id="1375" r:id="rId113"/>
    <p:sldId id="1376" r:id="rId114"/>
    <p:sldId id="1377" r:id="rId115"/>
    <p:sldId id="1378" r:id="rId116"/>
    <p:sldId id="1379" r:id="rId117"/>
    <p:sldId id="1286" r:id="rId50"/>
    <p:sldId id="1380" r:id="rId118"/>
    <p:sldId id="1309" r:id="rId51"/>
    <p:sldId id="1381" r:id="rId119"/>
    <p:sldId id="1269" r:id="rId52"/>
    <p:sldId id="1283" r:id="rId53"/>
    <p:sldId id="1276" r:id="rId54"/>
    <p:sldId id="1382" r:id="rId120"/>
    <p:sldId id="1383" r:id="rId121"/>
    <p:sldId id="1384" r:id="rId122"/>
    <p:sldId id="1385" r:id="rId123"/>
    <p:sldId id="1386" r:id="rId124"/>
    <p:sldId id="1287" r:id="rId55"/>
    <p:sldId id="1387" r:id="rId125"/>
    <p:sldId id="1310" r:id="rId56"/>
    <p:sldId id="1388" r:id="rId126"/>
    <p:sldId id="1270" r:id="rId57"/>
    <p:sldId id="1389" r:id="rId127"/>
    <p:sldId id="1390" r:id="rId128"/>
    <p:sldId id="1391" r:id="rId129"/>
    <p:sldId id="1288" r:id="rId58"/>
    <p:sldId id="1392" r:id="rId130"/>
    <p:sldId id="1311" r:id="rId59"/>
    <p:sldId id="1393" r:id="rId131"/>
    <p:sldId id="1271" r:id="rId60"/>
    <p:sldId id="1272" r:id="rId61"/>
    <p:sldId id="1273" r:id="rId62"/>
    <p:sldId id="1281" r:id="rId63"/>
    <p:sldId id="1274" r:id="rId64"/>
    <p:sldId id="1394" r:id="rId132"/>
    <p:sldId id="1395" r:id="rId133"/>
    <p:sldId id="1396" r:id="rId134"/>
    <p:sldId id="1397" r:id="rId135"/>
    <p:sldId id="1398" r:id="rId136"/>
    <p:sldId id="1399" r:id="rId137"/>
    <p:sldId id="1289" r:id="rId65"/>
    <p:sldId id="1400" r:id="rId138"/>
    <p:sldId id="1312" r:id="rId66"/>
    <p:sldId id="1401" r:id="rId139"/>
    <p:sldId id="1402" r:id="rId140"/>
    <p:sldId id="1403" r:id="rId141"/>
    <p:sldId id="1404" r:id="rId142"/>
    <p:sldId id="1405" r:id="rId143"/>
    <p:sldId id="1290" r:id="rId67"/>
    <p:sldId id="1406" r:id="rId144"/>
    <p:sldId id="1313" r:id="rId68"/>
    <p:sldId id="1407" r:id="rId145"/>
    <p:sldId id="1277" r:id="rId69"/>
    <p:sldId id="1408" r:id="rId146"/>
    <p:sldId id="1409" r:id="rId147"/>
    <p:sldId id="1410" r:id="rId148"/>
    <p:sldId id="1411" r:id="rId149"/>
    <p:sldId id="1412" r:id="rId150"/>
    <p:sldId id="1291" r:id="rId70"/>
    <p:sldId id="1413" r:id="rId151"/>
    <p:sldId id="1314" r:id="rId71"/>
    <p:sldId id="1414" r:id="rId152"/>
    <p:sldId id="1415" r:id="rId153"/>
    <p:sldId id="1416" r:id="rId154"/>
    <p:sldId id="1417" r:id="rId155"/>
    <p:sldId id="1418" r:id="rId156"/>
    <p:sldId id="1292" r:id="rId72"/>
    <p:sldId id="1419" r:id="rId157"/>
    <p:sldId id="1315" r:id="rId73"/>
    <p:sldId id="1420" r:id="rId158"/>
    <p:sldId id="1278" r:id="rId74"/>
    <p:sldId id="1282" r:id="rId75"/>
    <p:sldId id="1421" r:id="rId159"/>
    <p:sldId id="1422" r:id="rId160"/>
    <p:sldId id="1423" r:id="rId161"/>
    <p:sldId id="1424" r:id="rId162"/>
    <p:sldId id="1425" r:id="rId163"/>
    <p:sldId id="1293" r:id="rId76"/>
    <p:sldId id="1426" r:id="rId164"/>
    <p:sldId id="1316" r:id="rId77"/>
    <p:sldId id="1427" r:id="rId165"/>
    <p:sldId id="271" r:id="rId78"/>
    <p:sldId id="1428" r:id="rId166"/>
    <p:sldId id="1429" r:id="rId167"/>
    <p:sldId id="1430" r:id="rId168"/>
    <p:sldId id="1294" r:id="rId79"/>
    <p:sldId id="1431" r:id="rId169"/>
    <p:sldId id="1317" r:id="rId80"/>
    <p:sldId id="1432" r:id="rId170"/>
    <p:sldId id="1433" r:id="rId171"/>
    <p:sldId id="1434" r:id="rId172"/>
    <p:sldId id="1435" r:id="rId173"/>
    <p:sldId id="1295" r:id="rId81"/>
    <p:sldId id="1318" r:id="rId82"/>
    <p:sldId id="1436" r:id="rId17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22"/>
            <p14:sldId id="1319"/>
            <p14:sldId id="1320"/>
            <p14:sldId id="1321"/>
            <p14:sldId id="1322"/>
            <p14:sldId id="1323"/>
            <p14:sldId id="1324"/>
            <p14:sldId id="1325"/>
            <p14:sldId id="1326"/>
            <p14:sldId id="1327"/>
            <p14:sldId id="1328"/>
            <p14:sldId id="1329"/>
            <p14:sldId id="1330"/>
            <p14:sldId id="1331"/>
            <p14:sldId id="1332"/>
            <p14:sldId id="1333"/>
            <p14:sldId id="1334"/>
            <p14:sldId id="1264"/>
            <p14:sldId id="1348"/>
            <p14:sldId id="1280"/>
            <p14:sldId id="1265"/>
            <p14:sldId id="1349"/>
            <p14:sldId id="1296"/>
            <p14:sldId id="1339"/>
            <p14:sldId id="1340"/>
            <p14:sldId id="1341"/>
            <p14:sldId id="1342"/>
            <p14:sldId id="1343"/>
            <p14:sldId id="1344"/>
            <p14:sldId id="1345"/>
            <p14:sldId id="1297"/>
            <p14:sldId id="1298"/>
            <p14:sldId id="1299"/>
            <p14:sldId id="1300"/>
            <p14:sldId id="1301"/>
            <p14:sldId id="1302"/>
            <p14:sldId id="1266"/>
            <p14:sldId id="1275"/>
            <p14:sldId id="1303"/>
            <p14:sldId id="1304"/>
            <p14:sldId id="1284"/>
            <p14:sldId id="1305"/>
            <p14:sldId id="1306"/>
            <p14:sldId id="1307"/>
            <p14:sldId id="1267"/>
            <p14:sldId id="1285"/>
            <p14:sldId id="1308"/>
            <p14:sldId id="1268"/>
            <p14:sldId id="1286"/>
            <p14:sldId id="1309"/>
            <p14:sldId id="1269"/>
            <p14:sldId id="1283"/>
            <p14:sldId id="1276"/>
            <p14:sldId id="1287"/>
            <p14:sldId id="1310"/>
            <p14:sldId id="1270"/>
            <p14:sldId id="1288"/>
            <p14:sldId id="1311"/>
            <p14:sldId id="1271"/>
            <p14:sldId id="1272"/>
            <p14:sldId id="1273"/>
            <p14:sldId id="1281"/>
            <p14:sldId id="1274"/>
            <p14:sldId id="1289"/>
            <p14:sldId id="1312"/>
            <p14:sldId id="1290"/>
            <p14:sldId id="1313"/>
            <p14:sldId id="1277"/>
            <p14:sldId id="1291"/>
            <p14:sldId id="1314"/>
            <p14:sldId id="1292"/>
            <p14:sldId id="1315"/>
            <p14:sldId id="1278"/>
            <p14:sldId id="1282"/>
            <p14:sldId id="1293"/>
            <p14:sldId id="1316"/>
            <p14:sldId id="271"/>
            <p14:sldId id="1294"/>
            <p14:sldId id="1317"/>
            <p14:sldId id="1295"/>
            <p14:sldId id="1318"/>
          </p14:sldIdLst>
        </p14:section>
        <p14:section name="내지템플릿" id="{3037A2AB-4A6B-4C83-8556-AB3EFE8FE7EF}">
          <p14:sldIdLst/>
        </p14:section>
      </p14:sectionLst>
    </p:ext>
    <p:ext uri="{EFAFB233-063F-42B5-8137-9DF3F51BA10A}">
      <p15:sldGuideLst xmlns:p15="http://schemas.microsoft.com/office/powerpoint/2012/main" xmlns="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9068" autoAdjust="0"/>
    <p:restoredTop sz="90970" autoAdjust="0"/>
  </p:normalViewPr>
  <p:slideViewPr>
    <p:cSldViewPr>
      <p:cViewPr varScale="1">
        <p:scale>
          <a:sx n="101" d="100"/>
          <a:sy n="101" d="100"/>
        </p:scale>
        <p:origin x="-77" y="-130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slide" Target="slides/slide42.xml"/><Relationship Id="rId42" Type="http://schemas.openxmlformats.org/officeDocument/2006/relationships/slide" Target="slides/slide43.xml"/><Relationship Id="rId43" Type="http://schemas.openxmlformats.org/officeDocument/2006/relationships/slide" Target="slides/slide44.xml"/><Relationship Id="rId44" Type="http://schemas.openxmlformats.org/officeDocument/2006/relationships/slide" Target="slides/slide58.xml"/><Relationship Id="rId45" Type="http://schemas.openxmlformats.org/officeDocument/2006/relationships/slide" Target="slides/slide60.xml"/><Relationship Id="rId46" Type="http://schemas.openxmlformats.org/officeDocument/2006/relationships/slide" Target="slides/slide62.xml"/><Relationship Id="rId47" Type="http://schemas.openxmlformats.org/officeDocument/2006/relationships/slide" Target="slides/slide68.xml"/><Relationship Id="rId48" Type="http://schemas.openxmlformats.org/officeDocument/2006/relationships/slide" Target="slides/slide70.xml"/><Relationship Id="rId49" Type="http://schemas.openxmlformats.org/officeDocument/2006/relationships/slide" Target="slides/slide72.xml"/><Relationship Id="rId50" Type="http://schemas.openxmlformats.org/officeDocument/2006/relationships/slide" Target="slides/slide79.xml"/><Relationship Id="rId51" Type="http://schemas.openxmlformats.org/officeDocument/2006/relationships/slide" Target="slides/slide81.xml"/><Relationship Id="rId52" Type="http://schemas.openxmlformats.org/officeDocument/2006/relationships/slide" Target="slides/slide83.xml"/><Relationship Id="rId53" Type="http://schemas.openxmlformats.org/officeDocument/2006/relationships/slide" Target="slides/slide84.xml"/><Relationship Id="rId54" Type="http://schemas.openxmlformats.org/officeDocument/2006/relationships/slide" Target="slides/slide85.xml"/><Relationship Id="rId55" Type="http://schemas.openxmlformats.org/officeDocument/2006/relationships/slide" Target="slides/slide91.xml"/><Relationship Id="rId56" Type="http://schemas.openxmlformats.org/officeDocument/2006/relationships/slide" Target="slides/slide93.xml"/><Relationship Id="rId57" Type="http://schemas.openxmlformats.org/officeDocument/2006/relationships/slide" Target="slides/slide95.xml"/><Relationship Id="rId58" Type="http://schemas.openxmlformats.org/officeDocument/2006/relationships/slide" Target="slides/slide99.xml"/><Relationship Id="rId59" Type="http://schemas.openxmlformats.org/officeDocument/2006/relationships/slide" Target="slides/slide101.xml"/><Relationship Id="rId60" Type="http://schemas.openxmlformats.org/officeDocument/2006/relationships/slide" Target="slides/slide103.xml"/><Relationship Id="rId61" Type="http://schemas.openxmlformats.org/officeDocument/2006/relationships/slide" Target="slides/slide104.xml"/><Relationship Id="rId62" Type="http://schemas.openxmlformats.org/officeDocument/2006/relationships/slide" Target="slides/slide105.xml"/><Relationship Id="rId63" Type="http://schemas.openxmlformats.org/officeDocument/2006/relationships/slide" Target="slides/slide106.xml"/><Relationship Id="rId64" Type="http://schemas.openxmlformats.org/officeDocument/2006/relationships/slide" Target="slides/slide107.xml"/><Relationship Id="rId65" Type="http://schemas.openxmlformats.org/officeDocument/2006/relationships/slide" Target="slides/slide114.xml"/><Relationship Id="rId66" Type="http://schemas.openxmlformats.org/officeDocument/2006/relationships/slide" Target="slides/slide116.xml"/><Relationship Id="rId67" Type="http://schemas.openxmlformats.org/officeDocument/2006/relationships/slide" Target="slides/slide122.xml"/><Relationship Id="rId68" Type="http://schemas.openxmlformats.org/officeDocument/2006/relationships/slide" Target="slides/slide124.xml"/><Relationship Id="rId69" Type="http://schemas.openxmlformats.org/officeDocument/2006/relationships/slide" Target="slides/slide126.xml"/><Relationship Id="rId70" Type="http://schemas.openxmlformats.org/officeDocument/2006/relationships/slide" Target="slides/slide132.xml"/><Relationship Id="rId71" Type="http://schemas.openxmlformats.org/officeDocument/2006/relationships/slide" Target="slides/slide134.xml"/><Relationship Id="rId72" Type="http://schemas.openxmlformats.org/officeDocument/2006/relationships/slide" Target="slides/slide140.xml"/><Relationship Id="rId73" Type="http://schemas.openxmlformats.org/officeDocument/2006/relationships/slide" Target="slides/slide142.xml"/><Relationship Id="rId74" Type="http://schemas.openxmlformats.org/officeDocument/2006/relationships/slide" Target="slides/slide144.xml"/><Relationship Id="rId75" Type="http://schemas.openxmlformats.org/officeDocument/2006/relationships/slide" Target="slides/slide145.xml"/><Relationship Id="rId76" Type="http://schemas.openxmlformats.org/officeDocument/2006/relationships/slide" Target="slides/slide151.xml"/><Relationship Id="rId77" Type="http://schemas.openxmlformats.org/officeDocument/2006/relationships/slide" Target="slides/slide153.xml"/><Relationship Id="rId78" Type="http://schemas.openxmlformats.org/officeDocument/2006/relationships/slide" Target="slides/slide155.xml"/><Relationship Id="rId79" Type="http://schemas.openxmlformats.org/officeDocument/2006/relationships/slide" Target="slides/slide159.xml"/><Relationship Id="rId80" Type="http://schemas.openxmlformats.org/officeDocument/2006/relationships/slide" Target="slides/slide161.xml"/><Relationship Id="rId81" Type="http://schemas.openxmlformats.org/officeDocument/2006/relationships/slide" Target="slides/slide166.xml"/><Relationship Id="rId82" Type="http://schemas.openxmlformats.org/officeDocument/2006/relationships/slide" Target="slides/slide167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Relationship Id="rId88" Type="http://schemas.openxmlformats.org/officeDocument/2006/relationships/slide" Target="slides/slide17.xml"/><Relationship Id="rId89" Type="http://schemas.openxmlformats.org/officeDocument/2006/relationships/slide" Target="slides/slide45.xml"/><Relationship Id="rId90" Type="http://schemas.openxmlformats.org/officeDocument/2006/relationships/slide" Target="slides/slide2.xml"/><Relationship Id="rId91" Type="http://schemas.openxmlformats.org/officeDocument/2006/relationships/slide" Target="slides/slide46.xml"/><Relationship Id="rId92" Type="http://schemas.openxmlformats.org/officeDocument/2006/relationships/slide" Target="slides/slide47.xml"/><Relationship Id="rId93" Type="http://schemas.openxmlformats.org/officeDocument/2006/relationships/slide" Target="slides/slide48.xml"/><Relationship Id="rId94" Type="http://schemas.openxmlformats.org/officeDocument/2006/relationships/slide" Target="slides/slide49.xml"/><Relationship Id="rId95" Type="http://schemas.openxmlformats.org/officeDocument/2006/relationships/slide" Target="slides/slide50.xml"/><Relationship Id="rId96" Type="http://schemas.openxmlformats.org/officeDocument/2006/relationships/slide" Target="slides/slide51.xml"/><Relationship Id="rId97" Type="http://schemas.openxmlformats.org/officeDocument/2006/relationships/slide" Target="slides/slide52.xml"/><Relationship Id="rId98" Type="http://schemas.openxmlformats.org/officeDocument/2006/relationships/slide" Target="slides/slide53.xml"/><Relationship Id="rId99" Type="http://schemas.openxmlformats.org/officeDocument/2006/relationships/slide" Target="slides/slide54.xml"/><Relationship Id="rId100" Type="http://schemas.openxmlformats.org/officeDocument/2006/relationships/slide" Target="slides/slide55.xml"/><Relationship Id="rId101" Type="http://schemas.openxmlformats.org/officeDocument/2006/relationships/slide" Target="slides/slide56.xml"/><Relationship Id="rId102" Type="http://schemas.openxmlformats.org/officeDocument/2006/relationships/slide" Target="slides/slide57.xml"/><Relationship Id="rId103" Type="http://schemas.openxmlformats.org/officeDocument/2006/relationships/slide" Target="slides/slide59.xml"/><Relationship Id="rId104" Type="http://schemas.openxmlformats.org/officeDocument/2006/relationships/slide" Target="slides/slide61.xml"/><Relationship Id="rId105" Type="http://schemas.openxmlformats.org/officeDocument/2006/relationships/slide" Target="slides/slide63.xml"/><Relationship Id="rId106" Type="http://schemas.openxmlformats.org/officeDocument/2006/relationships/slide" Target="slides/slide64.xml"/><Relationship Id="rId107" Type="http://schemas.openxmlformats.org/officeDocument/2006/relationships/slide" Target="slides/slide65.xml"/><Relationship Id="rId108" Type="http://schemas.openxmlformats.org/officeDocument/2006/relationships/slide" Target="slides/slide66.xml"/><Relationship Id="rId109" Type="http://schemas.openxmlformats.org/officeDocument/2006/relationships/slide" Target="slides/slide67.xml"/><Relationship Id="rId110" Type="http://schemas.openxmlformats.org/officeDocument/2006/relationships/slide" Target="slides/slide69.xml"/><Relationship Id="rId111" Type="http://schemas.openxmlformats.org/officeDocument/2006/relationships/slide" Target="slides/slide71.xml"/><Relationship Id="rId112" Type="http://schemas.openxmlformats.org/officeDocument/2006/relationships/slide" Target="slides/slide73.xml"/><Relationship Id="rId113" Type="http://schemas.openxmlformats.org/officeDocument/2006/relationships/slide" Target="slides/slide74.xml"/><Relationship Id="rId114" Type="http://schemas.openxmlformats.org/officeDocument/2006/relationships/slide" Target="slides/slide75.xml"/><Relationship Id="rId115" Type="http://schemas.openxmlformats.org/officeDocument/2006/relationships/slide" Target="slides/slide76.xml"/><Relationship Id="rId116" Type="http://schemas.openxmlformats.org/officeDocument/2006/relationships/slide" Target="slides/slide77.xml"/><Relationship Id="rId117" Type="http://schemas.openxmlformats.org/officeDocument/2006/relationships/slide" Target="slides/slide78.xml"/><Relationship Id="rId118" Type="http://schemas.openxmlformats.org/officeDocument/2006/relationships/slide" Target="slides/slide80.xml"/><Relationship Id="rId119" Type="http://schemas.openxmlformats.org/officeDocument/2006/relationships/slide" Target="slides/slide82.xml"/><Relationship Id="rId120" Type="http://schemas.openxmlformats.org/officeDocument/2006/relationships/slide" Target="slides/slide86.xml"/><Relationship Id="rId121" Type="http://schemas.openxmlformats.org/officeDocument/2006/relationships/slide" Target="slides/slide87.xml"/><Relationship Id="rId122" Type="http://schemas.openxmlformats.org/officeDocument/2006/relationships/slide" Target="slides/slide88.xml"/><Relationship Id="rId123" Type="http://schemas.openxmlformats.org/officeDocument/2006/relationships/slide" Target="slides/slide89.xml"/><Relationship Id="rId124" Type="http://schemas.openxmlformats.org/officeDocument/2006/relationships/slide" Target="slides/slide90.xml"/><Relationship Id="rId125" Type="http://schemas.openxmlformats.org/officeDocument/2006/relationships/slide" Target="slides/slide92.xml"/><Relationship Id="rId126" Type="http://schemas.openxmlformats.org/officeDocument/2006/relationships/slide" Target="slides/slide94.xml"/><Relationship Id="rId127" Type="http://schemas.openxmlformats.org/officeDocument/2006/relationships/slide" Target="slides/slide96.xml"/><Relationship Id="rId128" Type="http://schemas.openxmlformats.org/officeDocument/2006/relationships/slide" Target="slides/slide97.xml"/><Relationship Id="rId129" Type="http://schemas.openxmlformats.org/officeDocument/2006/relationships/slide" Target="slides/slide98.xml"/><Relationship Id="rId130" Type="http://schemas.openxmlformats.org/officeDocument/2006/relationships/slide" Target="slides/slide100.xml"/><Relationship Id="rId131" Type="http://schemas.openxmlformats.org/officeDocument/2006/relationships/slide" Target="slides/slide102.xml"/><Relationship Id="rId132" Type="http://schemas.openxmlformats.org/officeDocument/2006/relationships/slide" Target="slides/slide108.xml"/><Relationship Id="rId133" Type="http://schemas.openxmlformats.org/officeDocument/2006/relationships/slide" Target="slides/slide109.xml"/><Relationship Id="rId134" Type="http://schemas.openxmlformats.org/officeDocument/2006/relationships/slide" Target="slides/slide110.xml"/><Relationship Id="rId135" Type="http://schemas.openxmlformats.org/officeDocument/2006/relationships/slide" Target="slides/slide111.xml"/><Relationship Id="rId136" Type="http://schemas.openxmlformats.org/officeDocument/2006/relationships/slide" Target="slides/slide112.xml"/><Relationship Id="rId137" Type="http://schemas.openxmlformats.org/officeDocument/2006/relationships/slide" Target="slides/slide113.xml"/><Relationship Id="rId138" Type="http://schemas.openxmlformats.org/officeDocument/2006/relationships/slide" Target="slides/slide115.xml"/><Relationship Id="rId139" Type="http://schemas.openxmlformats.org/officeDocument/2006/relationships/slide" Target="slides/slide117.xml"/><Relationship Id="rId140" Type="http://schemas.openxmlformats.org/officeDocument/2006/relationships/slide" Target="slides/slide118.xml"/><Relationship Id="rId141" Type="http://schemas.openxmlformats.org/officeDocument/2006/relationships/slide" Target="slides/slide119.xml"/><Relationship Id="rId142" Type="http://schemas.openxmlformats.org/officeDocument/2006/relationships/slide" Target="slides/slide120.xml"/><Relationship Id="rId143" Type="http://schemas.openxmlformats.org/officeDocument/2006/relationships/slide" Target="slides/slide121.xml"/><Relationship Id="rId144" Type="http://schemas.openxmlformats.org/officeDocument/2006/relationships/slide" Target="slides/slide123.xml"/><Relationship Id="rId145" Type="http://schemas.openxmlformats.org/officeDocument/2006/relationships/slide" Target="slides/slide125.xml"/><Relationship Id="rId146" Type="http://schemas.openxmlformats.org/officeDocument/2006/relationships/slide" Target="slides/slide127.xml"/><Relationship Id="rId147" Type="http://schemas.openxmlformats.org/officeDocument/2006/relationships/slide" Target="slides/slide128.xml"/><Relationship Id="rId148" Type="http://schemas.openxmlformats.org/officeDocument/2006/relationships/slide" Target="slides/slide129.xml"/><Relationship Id="rId149" Type="http://schemas.openxmlformats.org/officeDocument/2006/relationships/slide" Target="slides/slide130.xml"/><Relationship Id="rId150" Type="http://schemas.openxmlformats.org/officeDocument/2006/relationships/slide" Target="slides/slide131.xml"/><Relationship Id="rId151" Type="http://schemas.openxmlformats.org/officeDocument/2006/relationships/slide" Target="slides/slide133.xml"/><Relationship Id="rId152" Type="http://schemas.openxmlformats.org/officeDocument/2006/relationships/slide" Target="slides/slide135.xml"/><Relationship Id="rId153" Type="http://schemas.openxmlformats.org/officeDocument/2006/relationships/slide" Target="slides/slide136.xml"/><Relationship Id="rId154" Type="http://schemas.openxmlformats.org/officeDocument/2006/relationships/slide" Target="slides/slide137.xml"/><Relationship Id="rId155" Type="http://schemas.openxmlformats.org/officeDocument/2006/relationships/slide" Target="slides/slide138.xml"/><Relationship Id="rId156" Type="http://schemas.openxmlformats.org/officeDocument/2006/relationships/slide" Target="slides/slide139.xml"/><Relationship Id="rId157" Type="http://schemas.openxmlformats.org/officeDocument/2006/relationships/slide" Target="slides/slide141.xml"/><Relationship Id="rId158" Type="http://schemas.openxmlformats.org/officeDocument/2006/relationships/slide" Target="slides/slide143.xml"/><Relationship Id="rId159" Type="http://schemas.openxmlformats.org/officeDocument/2006/relationships/slide" Target="slides/slide146.xml"/><Relationship Id="rId160" Type="http://schemas.openxmlformats.org/officeDocument/2006/relationships/slide" Target="slides/slide147.xml"/><Relationship Id="rId161" Type="http://schemas.openxmlformats.org/officeDocument/2006/relationships/slide" Target="slides/slide148.xml"/><Relationship Id="rId162" Type="http://schemas.openxmlformats.org/officeDocument/2006/relationships/slide" Target="slides/slide149.xml"/><Relationship Id="rId163" Type="http://schemas.openxmlformats.org/officeDocument/2006/relationships/slide" Target="slides/slide150.xml"/><Relationship Id="rId164" Type="http://schemas.openxmlformats.org/officeDocument/2006/relationships/slide" Target="slides/slide152.xml"/><Relationship Id="rId165" Type="http://schemas.openxmlformats.org/officeDocument/2006/relationships/slide" Target="slides/slide154.xml"/><Relationship Id="rId166" Type="http://schemas.openxmlformats.org/officeDocument/2006/relationships/slide" Target="slides/slide156.xml"/><Relationship Id="rId167" Type="http://schemas.openxmlformats.org/officeDocument/2006/relationships/slide" Target="slides/slide157.xml"/><Relationship Id="rId168" Type="http://schemas.openxmlformats.org/officeDocument/2006/relationships/slide" Target="slides/slide158.xml"/><Relationship Id="rId169" Type="http://schemas.openxmlformats.org/officeDocument/2006/relationships/slide" Target="slides/slide160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26E8D04-78BD-3200-3C5B-A4D3F100F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38B07F9A-2A2E-6398-4780-461CAD547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728D9789-6290-C073-9D35-6D7C94674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2D90D977-842F-882A-C145-C4EEA5FE3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47827-678D-44C3-90F5-D7FFBBDE4B57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2914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[진행] 문제마다 먼저 맞힌 사람 또는 조에 작은 선물. 6문제 × 2분 = 약 12분.</a:t>
            </a:r>
          </a:p>
          <a:p>
            <a:r>
              <a:t>[멘트] "어제 배운 게 오늘 캠페인에서도 그대로 쓰여요. 기억나는지 볼게요."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[진행] 문제를 읽고 10초 생각 → 손 들기. 정답은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[정답] 세일즈(판매)</a:t>
            </a:r>
          </a:p>
          <a:p>
            <a:r>
              <a:t>[선물] 먼저 맞힌 사람 또는 조에 작은 선물.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[진행] 문제를 읽고 10초 생각 → 손 들기. 정답은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[정답] 오게 → 머물게 → 사게 → 다시 오게</a:t>
            </a:r>
          </a:p>
          <a:p>
            <a:r>
              <a:t>[선물] 먼저 맞힌 사람 또는 조에 작은 선물.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[진행] 문제를 읽고 10초 생각 → 손 들기. 정답은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[정답] 고객이 원하고, 경쟁사가 안 하고, 우리가 할 수 있는 것</a:t>
            </a:r>
          </a:p>
          <a:p>
            <a:r>
              <a:t>[선물] 먼저 맞힌 사람 또는 조에 작은 선물.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[진행] 문제를 읽고 10초 생각 → 손 들기. 정답은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[정답] 회의실에서 믿음직해 보이고 싶어서</a:t>
            </a:r>
          </a:p>
          <a:p>
            <a:r>
              <a:t>[선물] 먼저 맞힌 사람 또는 조에 작은 선물.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[진행] 문제를 읽고 10초 생각 → 손 들기. 정답은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[정답] 프로모션이 들어갈 자리</a:t>
            </a:r>
          </a:p>
          <a:p>
            <a:r>
              <a:t>[선물] 먼저 맞힌 사람 또는 조에 작은 선물.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[진행] 문제를 읽고 10초 생각 → 손 들기. 정답은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[정답] 억울한 실패로 기록된다</a:t>
            </a:r>
          </a:p>
          <a:p>
            <a:r>
              <a:t>[선물] 먼저 맞힌 사람 또는 조에 작은 선물.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 smtClean="0"/>
              <a:t>여러분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지난 시간에 백화점 프로모션을 기획해 봤죠</a:t>
            </a:r>
            <a:r>
              <a:rPr lang="en-US" altLang="ko-KR" dirty="0" smtClean="0"/>
              <a:t>. 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오늘은 그보다 한 단계 큰 걸 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바로 캠페인이에요</a:t>
            </a:r>
            <a:r>
              <a:rPr lang="en-US" altLang="ko-KR" dirty="0" smtClean="0"/>
              <a:t>.”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“</a:t>
            </a:r>
            <a:r>
              <a:rPr lang="ko-KR" altLang="en-US" dirty="0" smtClean="0"/>
              <a:t>캠페인이라는 말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어디서 들어 보셨어요</a:t>
            </a:r>
            <a:r>
              <a:rPr lang="en-US" altLang="ko-KR" dirty="0" smtClean="0"/>
              <a:t>?”</a:t>
            </a:r>
            <a:r>
              <a:rPr lang="en-US" altLang="ko-KR" sz="120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(2~3</a:t>
            </a:r>
            <a:r>
              <a:rPr lang="ko-KR" altLang="en-US" sz="120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명 대답 듣기</a:t>
            </a:r>
            <a:r>
              <a:rPr lang="en-US" altLang="ko-KR" sz="120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 </a:t>
            </a:r>
            <a:r>
              <a:rPr lang="ko-KR" altLang="en-US" sz="120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선거 캠페인</a:t>
            </a:r>
            <a:r>
              <a:rPr lang="en-US" altLang="ko-KR" sz="120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, </a:t>
            </a:r>
            <a:r>
              <a:rPr lang="ko-KR" altLang="en-US" sz="120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금연 캠페인 같은 답이 나옵니다</a:t>
            </a:r>
            <a:r>
              <a:rPr lang="en-US" altLang="ko-KR" sz="120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.)</a:t>
            </a:r>
            <a:br>
              <a:rPr lang="en-US" altLang="ko-KR" sz="120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</a:br>
            <a:endParaRPr lang="en-US" altLang="ko-KR" sz="1200" i="1" kern="1200" dirty="0" smtClean="0">
              <a:solidFill>
                <a:schemeClr val="tx1"/>
              </a:solidFill>
              <a:effectLst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r>
              <a:rPr lang="ko-KR" altLang="en-US" dirty="0" smtClean="0"/>
              <a:t>“맞아요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공통점이 뭘까요</a:t>
            </a:r>
            <a:r>
              <a:rPr lang="en-US" altLang="ko-KR" dirty="0" smtClean="0"/>
              <a:t>? </a:t>
            </a:r>
            <a:r>
              <a:rPr lang="ko-KR" altLang="en-US" dirty="0" smtClean="0"/>
              <a:t>한 번 하고 끝나지 않죠</a:t>
            </a:r>
            <a:r>
              <a:rPr lang="en-US" altLang="ko-KR" dirty="0" smtClean="0"/>
              <a:t>. 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몇 달 동안 같은 말을 계속해서 사람들 생각을 바꾸려고 해요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기업 캠페인도 똑같습니다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（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넘어가는 한마디 ）그럼 지난 시간에 한 프로모션이랑은 뭐가 다를까요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[멘트] "할인, 쿠폰, 포토존, 캐릭터… 이건 캠페인일까요, 프로모션일까요? 하나씩 골라 볼게요."</a:t>
            </a:r>
          </a:p>
          <a:p>
            <a:r>
              <a:t>[진행] 번호를 부르면 조별로 "캠페인!" 또는 "프로모션!" 외치기.</a:t>
            </a:r>
          </a:p>
          <a:p>
            <a:r>
              <a:t>[정답]</a:t>
            </a:r>
          </a:p>
          <a:p>
            <a:r>
              <a:t>1. 캠페인 — 기간이 길고 목표가 이미지</a:t>
            </a:r>
          </a:p>
          <a:p>
            <a:r>
              <a:t>2. 프로모션 — 단기간, 즉각적 매출</a:t>
            </a:r>
          </a:p>
          <a:p>
            <a:r>
              <a:t>3. 캠페인 — 오래 이어지며 관계를 만듦 (Green Friends)</a:t>
            </a:r>
          </a:p>
          <a:p>
            <a:r>
              <a:t>4. 프로모션 — 캠페인 우산 아래의 개별 행사</a:t>
            </a:r>
          </a:p>
          <a:p>
            <a:r>
              <a:t>5. 캠페인 — 브랜드 자산을 쌓음 (신세계)</a:t>
            </a:r>
          </a:p>
          <a:p>
            <a:r>
              <a:t>6. 프로모션 — 재고 정리를 위한 단기 할인</a:t>
            </a:r>
          </a:p>
          <a:p>
            <a:r>
              <a:t>7. 캠페인 — 브랜드 지표로 먼저 잼</a:t>
            </a:r>
          </a:p>
          <a:p>
            <a:r>
              <a:t>8. 프로모션 — 즉각적 판매 지표로 잼</a:t>
            </a:r>
          </a:p>
          <a:p>
            <a:r>
              <a:t>9. 캠페인 — 캠페인은 우산</a:t>
            </a:r>
          </a:p>
          <a:p>
            <a:r>
              <a:t>10. 프로모션 — 직접 혜택으로 단기 매출</a:t>
            </a:r>
          </a:p>
          <a:p>
            <a:r>
              <a:t>[정리] 캠페인은 우산(길게, 이미지·관계), 프로모션은 그 아래 행사(짧게, 매출).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[멘트] "정답을 볼게요. 초록 버튼이 정답이에요. 몇 개 맞히셨나요?"</a:t>
            </a:r>
          </a:p>
          <a:p>
            <a:r>
              <a:t>[진행] 번호 순서대로 정답과 이유를 읽고, 많이 틀린 문항(특히 7·8번 비교)은 한 번 더 짚기.</a:t>
            </a:r>
          </a:p>
          <a:p>
            <a:r>
              <a:t>[정답]</a:t>
            </a:r>
          </a:p>
          <a:p>
            <a:r>
              <a:t>1. 캠페인 — 기간이 길고 목표가 이미지</a:t>
            </a:r>
          </a:p>
          <a:p>
            <a:r>
              <a:t>2. 프로모션 — 단기간, 즉각적 매출</a:t>
            </a:r>
          </a:p>
          <a:p>
            <a:r>
              <a:t>3. 캠페인 — 오래 이어지며 관계를 만듦 (Green Friends)</a:t>
            </a:r>
          </a:p>
          <a:p>
            <a:r>
              <a:t>4. 프로모션 — 캠페인 우산 아래의 개별 행사</a:t>
            </a:r>
          </a:p>
          <a:p>
            <a:r>
              <a:t>5. 캠페인 — 브랜드 자산을 쌓음 (신세계)</a:t>
            </a:r>
          </a:p>
          <a:p>
            <a:r>
              <a:t>6. 프로모션 — 재고 정리를 위한 단기 할인</a:t>
            </a:r>
          </a:p>
          <a:p>
            <a:r>
              <a:t>7. 캠페인 — 브랜드 지표로 먼저 잼</a:t>
            </a:r>
          </a:p>
          <a:p>
            <a:r>
              <a:t>8. 프로모션 — 즉각적 판매 지표로 잼</a:t>
            </a:r>
          </a:p>
          <a:p>
            <a:r>
              <a:t>9. 캠페인 — 캠페인은 우산</a:t>
            </a:r>
          </a:p>
          <a:p>
            <a:r>
              <a:t>10. 프로모션 — 직접 혜택으로 단기 매출</a:t>
            </a:r>
          </a:p>
          <a:p>
            <a:r>
              <a:t>[정리] 캠페인은 우산(길게, 이미지·관계), 프로모션은 그 아래 행사(짧게, 매출).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슬라이드 왼쪽이 프로모션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,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오른쪽이 캠페인입니다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프로모션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: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오늘 사게 만듭니다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할인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,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쿠폰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,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짧은 기간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r>
              <a:rPr lang="ko-KR" altLang="en-US" dirty="0" smtClean="0"/>
              <a:t>“프로모션은 지난 시간에 했죠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할인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쿠폰</a:t>
            </a:r>
            <a:r>
              <a:rPr lang="en-US" altLang="ko-KR" dirty="0" smtClean="0"/>
              <a:t>. </a:t>
            </a:r>
            <a:r>
              <a:rPr lang="ko-KR" altLang="en-US" dirty="0" smtClean="0"/>
              <a:t>목표는 </a:t>
            </a:r>
            <a:r>
              <a:rPr lang="en-US" altLang="ko-KR" dirty="0" smtClean="0"/>
              <a:t>'</a:t>
            </a:r>
            <a:r>
              <a:rPr lang="ko-KR" altLang="en-US" dirty="0" smtClean="0"/>
              <a:t>지금 사게 하는 것</a:t>
            </a:r>
            <a:r>
              <a:rPr lang="en-US" altLang="ko-KR" dirty="0" smtClean="0"/>
              <a:t>'</a:t>
            </a:r>
            <a:r>
              <a:rPr lang="ko-KR" altLang="en-US" dirty="0" smtClean="0"/>
              <a:t>이에요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“</a:t>
            </a:r>
            <a:r>
              <a:rPr lang="ko-KR" altLang="en-US" dirty="0" smtClean="0"/>
              <a:t>캠페인은 </a:t>
            </a:r>
            <a:r>
              <a:rPr lang="en-US" altLang="ko-KR" dirty="0" smtClean="0"/>
              <a:t>'</a:t>
            </a:r>
            <a:r>
              <a:rPr lang="ko-KR" altLang="en-US" dirty="0" smtClean="0"/>
              <a:t>우리를 기억하고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좋아하고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다시 오게 하는 것</a:t>
            </a:r>
            <a:r>
              <a:rPr lang="en-US" altLang="ko-KR" dirty="0" smtClean="0"/>
              <a:t>'</a:t>
            </a:r>
            <a:r>
              <a:rPr lang="ko-KR" altLang="en-US" dirty="0" smtClean="0"/>
              <a:t>이에요</a:t>
            </a:r>
            <a:r>
              <a:rPr lang="en-US" altLang="ko-KR" dirty="0" smtClean="0"/>
              <a:t>.”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“</a:t>
            </a:r>
            <a:r>
              <a:rPr lang="ko-KR" altLang="en-US" dirty="0" smtClean="0"/>
              <a:t>질문 하나 할게요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캠페인은 왜 할까요</a:t>
            </a:r>
            <a:r>
              <a:rPr lang="en-US" altLang="ko-KR" dirty="0" smtClean="0"/>
              <a:t>? </a:t>
            </a:r>
            <a:r>
              <a:rPr lang="ko-KR" altLang="en-US" dirty="0" smtClean="0"/>
              <a:t>할인만 계속하면 안 될까요</a:t>
            </a:r>
            <a:r>
              <a:rPr lang="en-US" altLang="ko-KR" dirty="0" smtClean="0"/>
              <a:t>?”</a:t>
            </a:r>
            <a:r>
              <a:rPr lang="en-US" altLang="ko-KR" sz="1200" b="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(</a:t>
            </a:r>
            <a:r>
              <a:rPr lang="ko-KR" altLang="en-US" sz="1200" b="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대답 듣기</a:t>
            </a:r>
            <a:r>
              <a:rPr lang="en-US" altLang="ko-KR" sz="1200" b="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)</a:t>
            </a:r>
            <a:br>
              <a:rPr lang="en-US" altLang="ko-KR" sz="1200" b="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</a:br>
            <a:endParaRPr lang="en-US" altLang="ko-KR" sz="1200" b="0" i="1" kern="1200" dirty="0" smtClean="0">
              <a:solidFill>
                <a:schemeClr val="tx1"/>
              </a:solidFill>
              <a:effectLst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r>
              <a:rPr lang="ko-KR" altLang="en-US" dirty="0" smtClean="0"/>
              <a:t>“할인만 하면 싸서 온 고객만 와요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할인이 끝나면 떠나죠</a:t>
            </a:r>
            <a:r>
              <a:rPr lang="en-US" altLang="ko-KR" dirty="0" smtClean="0"/>
              <a:t>. </a:t>
            </a:r>
            <a:r>
              <a:rPr lang="ko-KR" altLang="en-US" dirty="0" smtClean="0"/>
              <a:t>캠페인은 할인이 없어도 올 이유를 만듭니다</a:t>
            </a:r>
            <a:r>
              <a:rPr lang="en-US" altLang="ko-KR" dirty="0" smtClean="0"/>
              <a:t>.”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/>
            </a:r>
            <a:b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</a:b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/>
            </a:r>
            <a:b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</a:br>
            <a:endParaRPr lang="en-US" altLang="ko-KR" sz="1200" b="0" i="0" kern="1200" dirty="0">
              <a:solidFill>
                <a:schemeClr val="tx1"/>
              </a:solidFill>
              <a:effectLst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847827-678D-44C3-90F5-D7FFBBDE4B5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5124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[멘트] "왼쪽 그림은 쿠폰이 휴대폰에서 튀어나오죠. 지금 사라는 거예요. 오른쪽은 뿌리 깊은 나무와 악수, 관계가 자라는 그림입니다."</a:t>
            </a:r>
          </a:p>
          <a:p>
            <a:r>
              <a:t>[질문] "할인이 없어도 가는 매장이 있나요? 왜 가나요?"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선생님이 먼저 알아 둘 것</a:t>
            </a:r>
          </a:p>
          <a:p>
            <a:r>
              <a:rPr lang="ko-KR" altLang="en-US" dirty="0" smtClean="0">
                <a:effectLst/>
              </a:rPr>
              <a:t>캠페인은 우산이고</a:t>
            </a:r>
            <a:r>
              <a:rPr lang="en-US" altLang="ko-KR" dirty="0" smtClean="0">
                <a:effectLst/>
              </a:rPr>
              <a:t>, </a:t>
            </a:r>
            <a:r>
              <a:rPr lang="ko-KR" altLang="en-US" dirty="0" smtClean="0">
                <a:effectLst/>
              </a:rPr>
              <a:t>프로모션은 그 아래 들어가는 행사들입니다</a:t>
            </a:r>
            <a:r>
              <a:rPr lang="en-US" altLang="ko-KR" dirty="0" smtClean="0">
                <a:effectLst/>
              </a:rPr>
              <a:t>. </a:t>
            </a:r>
            <a:r>
              <a:rPr lang="ko-KR" altLang="en-US" dirty="0" smtClean="0">
                <a:effectLst/>
              </a:rPr>
              <a:t>반대 개념이 아니라 큰 것 안에 작은 것이 들어 있는 관계입니다</a:t>
            </a:r>
            <a:r>
              <a:rPr lang="en-US" altLang="ko-KR" dirty="0" smtClean="0">
                <a:effectLst/>
              </a:rPr>
              <a:t>. </a:t>
            </a:r>
            <a:r>
              <a:rPr lang="ko-KR" altLang="en-US" dirty="0" err="1" smtClean="0">
                <a:effectLst/>
              </a:rPr>
              <a:t>클리어런스는</a:t>
            </a:r>
            <a:r>
              <a:rPr lang="ko-KR" altLang="en-US" dirty="0" smtClean="0">
                <a:effectLst/>
              </a:rPr>
              <a:t> 재고를 정리하는 세일입니다</a:t>
            </a:r>
            <a:r>
              <a:rPr lang="en-US" altLang="ko-KR" dirty="0" smtClean="0">
                <a:effectLst/>
              </a:rPr>
              <a:t>.</a:t>
            </a:r>
          </a:p>
          <a:p>
            <a:r>
              <a:rPr lang="ko-KR" altLang="en-US" sz="1200" b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대본</a:t>
            </a:r>
          </a:p>
          <a:p>
            <a:r>
              <a:rPr lang="ko-KR" altLang="en-US" dirty="0" smtClean="0"/>
              <a:t>“그림을 보세요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캠페인이 우산이고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아래에 프로모션 </a:t>
            </a:r>
            <a:r>
              <a:rPr lang="en-US" altLang="ko-KR" dirty="0" smtClean="0"/>
              <a:t>A, B, C, D</a:t>
            </a:r>
            <a:r>
              <a:rPr lang="ko-KR" altLang="en-US" dirty="0" smtClean="0"/>
              <a:t>가 있죠</a:t>
            </a:r>
            <a:r>
              <a:rPr lang="en-US" altLang="ko-KR" dirty="0" smtClean="0"/>
              <a:t>.”“3</a:t>
            </a:r>
            <a:r>
              <a:rPr lang="ko-KR" altLang="en-US" dirty="0" smtClean="0"/>
              <a:t>개월짜리 캠페인 안에서 오픈 할인도 하고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포토존</a:t>
            </a:r>
            <a:r>
              <a:rPr lang="ko-KR" altLang="en-US" dirty="0" smtClean="0"/>
              <a:t> 이벤트도 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적립도 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마지막엔 재고 정리 세일도 해요</a:t>
            </a:r>
            <a:r>
              <a:rPr lang="en-US" altLang="ko-KR" dirty="0" smtClean="0"/>
              <a:t>.”“</a:t>
            </a:r>
            <a:r>
              <a:rPr lang="ko-KR" altLang="en-US" dirty="0" smtClean="0"/>
              <a:t>표 맨 아래 </a:t>
            </a:r>
            <a:r>
              <a:rPr lang="en-US" altLang="ko-KR" dirty="0" smtClean="0"/>
              <a:t>'</a:t>
            </a:r>
            <a:r>
              <a:rPr lang="ko-KR" altLang="en-US" dirty="0" smtClean="0"/>
              <a:t>실패의 신호</a:t>
            </a:r>
            <a:r>
              <a:rPr lang="en-US" altLang="ko-KR" dirty="0" smtClean="0"/>
              <a:t>'</a:t>
            </a:r>
            <a:r>
              <a:rPr lang="ko-KR" altLang="en-US" dirty="0" smtClean="0"/>
              <a:t>를 보세요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캠페인은 채널마다 말이 달라 고객이 기억 못 할 때 실패해요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프로모션은 할인은 했는데 남는 게 없을 때 실패하고요</a:t>
            </a:r>
            <a:r>
              <a:rPr lang="en-US" altLang="ko-KR" dirty="0" smtClean="0"/>
              <a:t>.”“</a:t>
            </a:r>
            <a:r>
              <a:rPr lang="ko-KR" altLang="en-US" dirty="0" smtClean="0"/>
              <a:t>그래서 캠페인은 같은 말을 오래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계속하는 것이 제일 중요합니다</a:t>
            </a:r>
            <a:r>
              <a:rPr lang="en-US" altLang="ko-KR" dirty="0" smtClean="0"/>
              <a:t>.”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넘어가는 한마디 말로만 하면 어려우니까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,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잘한 캠페인을 직접 보겠습니다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847827-678D-44C3-90F5-D7FFBBDE4B5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4050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선생님이 먼저 알아 둘 것</a:t>
            </a:r>
          </a:p>
          <a:p>
            <a:r>
              <a:rPr lang="ko-KR" altLang="en-US" dirty="0" smtClean="0">
                <a:effectLst/>
              </a:rPr>
              <a:t>학생들이 아는 사례로 분위기를 여는 장입니다</a:t>
            </a:r>
            <a:r>
              <a:rPr lang="en-US" altLang="ko-KR" dirty="0" smtClean="0">
                <a:effectLst/>
              </a:rPr>
              <a:t>.</a:t>
            </a:r>
          </a:p>
          <a:p>
            <a:r>
              <a:rPr lang="ko-KR" altLang="en-US" dirty="0" err="1" smtClean="0">
                <a:effectLst/>
              </a:rPr>
              <a:t>스타벅스</a:t>
            </a:r>
            <a:r>
              <a:rPr lang="ko-KR" altLang="en-US" dirty="0" smtClean="0">
                <a:effectLst/>
              </a:rPr>
              <a:t> </a:t>
            </a:r>
            <a:r>
              <a:rPr lang="ko-KR" altLang="en-US" dirty="0" err="1" smtClean="0">
                <a:effectLst/>
              </a:rPr>
              <a:t>프리퀀시</a:t>
            </a:r>
            <a:r>
              <a:rPr lang="en-US" altLang="ko-KR" dirty="0" smtClean="0">
                <a:effectLst/>
              </a:rPr>
              <a:t>: </a:t>
            </a:r>
            <a:r>
              <a:rPr lang="ko-KR" altLang="en-US" dirty="0" smtClean="0">
                <a:effectLst/>
              </a:rPr>
              <a:t>정해진 잔 수를 채우면 </a:t>
            </a:r>
            <a:r>
              <a:rPr lang="ko-KR" altLang="en-US" dirty="0" err="1" smtClean="0">
                <a:effectLst/>
              </a:rPr>
              <a:t>굿즈를</a:t>
            </a:r>
            <a:r>
              <a:rPr lang="ko-KR" altLang="en-US" dirty="0" smtClean="0">
                <a:effectLst/>
              </a:rPr>
              <a:t> 줍니다</a:t>
            </a:r>
            <a:r>
              <a:rPr lang="en-US" altLang="ko-KR" dirty="0" smtClean="0">
                <a:effectLst/>
              </a:rPr>
              <a:t>.</a:t>
            </a:r>
          </a:p>
          <a:p>
            <a:r>
              <a:rPr lang="ko-KR" altLang="en-US" dirty="0" err="1" smtClean="0">
                <a:effectLst/>
              </a:rPr>
              <a:t>올영세일</a:t>
            </a:r>
            <a:r>
              <a:rPr lang="en-US" altLang="ko-KR" dirty="0" smtClean="0">
                <a:effectLst/>
              </a:rPr>
              <a:t>: </a:t>
            </a:r>
            <a:r>
              <a:rPr lang="ko-KR" altLang="en-US" dirty="0" smtClean="0">
                <a:effectLst/>
              </a:rPr>
              <a:t>기간을 딱 정한 세일입니다</a:t>
            </a:r>
            <a:r>
              <a:rPr lang="en-US" altLang="ko-KR" dirty="0" smtClean="0">
                <a:effectLst/>
              </a:rPr>
              <a:t>.</a:t>
            </a:r>
          </a:p>
          <a:p>
            <a:r>
              <a:rPr lang="ko-KR" altLang="en-US" dirty="0" err="1" smtClean="0">
                <a:effectLst/>
              </a:rPr>
              <a:t>무신사</a:t>
            </a:r>
            <a:r>
              <a:rPr lang="ko-KR" altLang="en-US" dirty="0" smtClean="0">
                <a:effectLst/>
              </a:rPr>
              <a:t> </a:t>
            </a:r>
            <a:r>
              <a:rPr lang="ko-KR" altLang="en-US" dirty="0" err="1" smtClean="0">
                <a:effectLst/>
              </a:rPr>
              <a:t>블랙프라이데이</a:t>
            </a:r>
            <a:r>
              <a:rPr lang="en-US" altLang="ko-KR" dirty="0" smtClean="0">
                <a:effectLst/>
              </a:rPr>
              <a:t>: </a:t>
            </a:r>
            <a:r>
              <a:rPr lang="ko-KR" altLang="en-US" dirty="0" smtClean="0">
                <a:effectLst/>
              </a:rPr>
              <a:t>미국의 연말 할인 문화를 가져왔습니다</a:t>
            </a:r>
            <a:r>
              <a:rPr lang="en-US" altLang="ko-KR" dirty="0" smtClean="0">
                <a:effectLst/>
              </a:rPr>
              <a:t>.</a:t>
            </a:r>
          </a:p>
          <a:p>
            <a:r>
              <a:rPr lang="ko-KR" altLang="en-US" dirty="0" smtClean="0">
                <a:effectLst/>
              </a:rPr>
              <a:t>슬라이드 첫 줄의 </a:t>
            </a:r>
            <a:r>
              <a:rPr lang="ko-KR" altLang="en-US" dirty="0" err="1" smtClean="0">
                <a:effectLst/>
              </a:rPr>
              <a:t>롯데백화점</a:t>
            </a:r>
            <a:r>
              <a:rPr lang="ko-KR" altLang="en-US" dirty="0" smtClean="0">
                <a:effectLst/>
              </a:rPr>
              <a:t> </a:t>
            </a:r>
            <a:r>
              <a:rPr lang="en-US" altLang="ko-KR" dirty="0" smtClean="0">
                <a:effectLst/>
              </a:rPr>
              <a:t>ESG </a:t>
            </a:r>
            <a:r>
              <a:rPr lang="ko-KR" altLang="en-US" dirty="0" smtClean="0">
                <a:effectLst/>
              </a:rPr>
              <a:t>캠페인은 </a:t>
            </a:r>
            <a:r>
              <a:rPr lang="en-US" altLang="ko-KR" dirty="0" smtClean="0">
                <a:effectLst/>
              </a:rPr>
              <a:t>6</a:t>
            </a:r>
            <a:r>
              <a:rPr lang="ko-KR" altLang="en-US" dirty="0" smtClean="0">
                <a:effectLst/>
              </a:rPr>
              <a:t>장</a:t>
            </a:r>
            <a:r>
              <a:rPr lang="en-US" altLang="ko-KR" dirty="0" smtClean="0">
                <a:effectLst/>
              </a:rPr>
              <a:t>·9</a:t>
            </a:r>
            <a:r>
              <a:rPr lang="ko-KR" altLang="en-US" dirty="0" smtClean="0">
                <a:effectLst/>
              </a:rPr>
              <a:t>장에서 자세히 나오므로 </a:t>
            </a:r>
            <a:r>
              <a:rPr lang="en-US" altLang="ko-KR" dirty="0" smtClean="0">
                <a:effectLst/>
              </a:rPr>
              <a:t>"</a:t>
            </a:r>
            <a:r>
              <a:rPr lang="ko-KR" altLang="en-US" dirty="0" smtClean="0">
                <a:effectLst/>
              </a:rPr>
              <a:t>뒤에서 자세히 볼게요</a:t>
            </a:r>
            <a:r>
              <a:rPr lang="en-US" altLang="ko-KR" dirty="0" smtClean="0">
                <a:effectLst/>
              </a:rPr>
              <a:t>"</a:t>
            </a:r>
            <a:r>
              <a:rPr lang="ko-KR" altLang="en-US" dirty="0" smtClean="0">
                <a:effectLst/>
              </a:rPr>
              <a:t>라고만 하면 됩니다</a:t>
            </a:r>
            <a:r>
              <a:rPr lang="en-US" altLang="ko-KR" dirty="0" smtClean="0">
                <a:effectLst/>
              </a:rPr>
              <a:t>.</a:t>
            </a:r>
          </a:p>
          <a:p>
            <a:r>
              <a:rPr lang="ko-KR" altLang="en-US" sz="1200" b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대본</a:t>
            </a:r>
          </a:p>
          <a:p>
            <a:r>
              <a:rPr lang="ko-KR" altLang="en-US" dirty="0" smtClean="0"/>
              <a:t>“</a:t>
            </a:r>
            <a:r>
              <a:rPr lang="ko-KR" altLang="en-US" dirty="0" err="1" smtClean="0"/>
              <a:t>스타벅스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프리퀀시</a:t>
            </a:r>
            <a:r>
              <a:rPr lang="ko-KR" altLang="en-US" dirty="0" smtClean="0"/>
              <a:t> 해 보신 분</a:t>
            </a:r>
            <a:r>
              <a:rPr lang="en-US" altLang="ko-KR" dirty="0" smtClean="0"/>
              <a:t>? </a:t>
            </a:r>
            <a:r>
              <a:rPr lang="ko-KR" altLang="en-US" dirty="0" err="1" smtClean="0"/>
              <a:t>굿즈</a:t>
            </a:r>
            <a:r>
              <a:rPr lang="ko-KR" altLang="en-US" dirty="0" smtClean="0"/>
              <a:t> 받으려고 한 잔 더 마신 적 있죠</a:t>
            </a:r>
            <a:r>
              <a:rPr lang="en-US" altLang="ko-KR" dirty="0" smtClean="0"/>
              <a:t>?”</a:t>
            </a:r>
            <a:r>
              <a:rPr lang="en-US" altLang="ko-KR" sz="120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(</a:t>
            </a:r>
            <a:r>
              <a:rPr lang="ko-KR" altLang="en-US" sz="120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손 들게 하기</a:t>
            </a:r>
            <a:r>
              <a:rPr lang="en-US" altLang="ko-KR" sz="1200" i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)</a:t>
            </a:r>
          </a:p>
          <a:p>
            <a:r>
              <a:rPr lang="ko-KR" altLang="en-US" dirty="0" smtClean="0"/>
              <a:t>“그게 캠페인이 고객 행동을 움직인 거예요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올영세일은</a:t>
            </a:r>
            <a:r>
              <a:rPr lang="ko-KR" altLang="en-US" dirty="0" smtClean="0"/>
              <a:t> 기간을 정해 놓아서 </a:t>
            </a:r>
            <a:r>
              <a:rPr lang="en-US" altLang="ko-KR" dirty="0" smtClean="0"/>
              <a:t>'</a:t>
            </a:r>
            <a:r>
              <a:rPr lang="ko-KR" altLang="en-US" dirty="0" smtClean="0"/>
              <a:t>지금 사야지</a:t>
            </a:r>
            <a:r>
              <a:rPr lang="en-US" altLang="ko-KR" dirty="0" smtClean="0"/>
              <a:t>' </a:t>
            </a:r>
            <a:r>
              <a:rPr lang="ko-KR" altLang="en-US" dirty="0" smtClean="0"/>
              <a:t>하게 만들고요</a:t>
            </a:r>
            <a:r>
              <a:rPr lang="en-US" altLang="ko-KR" dirty="0" smtClean="0"/>
              <a:t>.”“</a:t>
            </a:r>
            <a:r>
              <a:rPr lang="ko-KR" altLang="en-US" dirty="0" smtClean="0"/>
              <a:t>공통점은 하나예요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고객이 어떤 마음으로 움직이는지 정확히 알고 설계했다는 겁니다</a:t>
            </a:r>
            <a:r>
              <a:rPr lang="en-US" altLang="ko-KR" dirty="0" smtClean="0"/>
              <a:t>.”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넘어가는 한마디 이제 우리 업계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,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백화점 캠페인 다섯 개를 자세히 볼게요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847827-678D-44C3-90F5-D7FFBBDE4B57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07796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[질문] "스타벅스 프리퀀시 때문에 한 잔 더 마셔 본 사람?" (손 들기)</a:t>
            </a:r>
          </a:p>
          <a:p>
            <a:r>
              <a:t>[멘트] "왼쪽은 보상, 오른쪽은 기간 한정이라는 긴급함. 할인이 아니라 마음의 버튼을 누른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'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무엇을 했나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'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보다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'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고객을 어떤 순서로 움직였나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'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를 봅니다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r>
              <a:rPr lang="ko-KR" altLang="en-US" sz="1200" b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선생님이 먼저 알아 둘 것</a:t>
            </a:r>
          </a:p>
          <a:p>
            <a:r>
              <a:rPr lang="ko-KR" altLang="en-US" dirty="0" smtClean="0">
                <a:effectLst/>
              </a:rPr>
              <a:t>다섯 개가 거의 다 환경</a:t>
            </a:r>
            <a:r>
              <a:rPr lang="en-US" altLang="ko-KR" dirty="0" smtClean="0">
                <a:effectLst/>
              </a:rPr>
              <a:t>·</a:t>
            </a:r>
            <a:r>
              <a:rPr lang="ko-KR" altLang="en-US" dirty="0" smtClean="0">
                <a:effectLst/>
              </a:rPr>
              <a:t>마음건강 같은 </a:t>
            </a:r>
            <a:r>
              <a:rPr lang="en-US" altLang="ko-KR" dirty="0" smtClean="0">
                <a:effectLst/>
              </a:rPr>
              <a:t>'</a:t>
            </a:r>
            <a:r>
              <a:rPr lang="ko-KR" altLang="en-US" dirty="0" smtClean="0">
                <a:effectLst/>
              </a:rPr>
              <a:t>좋은 일</a:t>
            </a:r>
            <a:r>
              <a:rPr lang="en-US" altLang="ko-KR" dirty="0" smtClean="0">
                <a:effectLst/>
              </a:rPr>
              <a:t>' </a:t>
            </a:r>
            <a:r>
              <a:rPr lang="ko-KR" altLang="en-US" dirty="0" smtClean="0">
                <a:effectLst/>
              </a:rPr>
              <a:t>캠페인</a:t>
            </a:r>
            <a:r>
              <a:rPr lang="en-US" altLang="ko-KR" dirty="0" smtClean="0">
                <a:effectLst/>
              </a:rPr>
              <a:t>, </a:t>
            </a:r>
            <a:r>
              <a:rPr lang="ko-KR" altLang="en-US" dirty="0" smtClean="0">
                <a:effectLst/>
              </a:rPr>
              <a:t>즉 </a:t>
            </a:r>
            <a:r>
              <a:rPr lang="en-US" altLang="ko-KR" dirty="0" smtClean="0">
                <a:effectLst/>
              </a:rPr>
              <a:t>ESG </a:t>
            </a:r>
            <a:r>
              <a:rPr lang="ko-KR" altLang="en-US" dirty="0" smtClean="0">
                <a:effectLst/>
              </a:rPr>
              <a:t>캠페인입니다</a:t>
            </a:r>
            <a:r>
              <a:rPr lang="en-US" altLang="ko-KR" dirty="0" smtClean="0">
                <a:effectLst/>
              </a:rPr>
              <a:t>(ESG = </a:t>
            </a:r>
            <a:r>
              <a:rPr lang="ko-KR" altLang="en-US" dirty="0" smtClean="0">
                <a:effectLst/>
              </a:rPr>
              <a:t>환경</a:t>
            </a:r>
            <a:r>
              <a:rPr lang="en-US" altLang="ko-KR" dirty="0" smtClean="0">
                <a:effectLst/>
              </a:rPr>
              <a:t>·</a:t>
            </a:r>
            <a:r>
              <a:rPr lang="ko-KR" altLang="en-US" dirty="0" smtClean="0">
                <a:effectLst/>
              </a:rPr>
              <a:t>사회</a:t>
            </a:r>
            <a:r>
              <a:rPr lang="en-US" altLang="ko-KR" dirty="0" smtClean="0">
                <a:effectLst/>
              </a:rPr>
              <a:t>·</a:t>
            </a:r>
            <a:r>
              <a:rPr lang="ko-KR" altLang="en-US" dirty="0" smtClean="0">
                <a:effectLst/>
              </a:rPr>
              <a:t>지배구조</a:t>
            </a:r>
            <a:r>
              <a:rPr lang="en-US" altLang="ko-KR" dirty="0" smtClean="0">
                <a:effectLst/>
              </a:rPr>
              <a:t>). MD</a:t>
            </a:r>
            <a:r>
              <a:rPr lang="ko-KR" altLang="en-US" dirty="0" smtClean="0">
                <a:effectLst/>
              </a:rPr>
              <a:t>가 볼 것은 좋은 일 자체가 아니라</a:t>
            </a:r>
            <a:r>
              <a:rPr lang="en-US" altLang="ko-KR" dirty="0" smtClean="0">
                <a:effectLst/>
              </a:rPr>
              <a:t>, </a:t>
            </a:r>
            <a:r>
              <a:rPr lang="ko-KR" altLang="en-US" dirty="0" smtClean="0">
                <a:effectLst/>
              </a:rPr>
              <a:t>결국 고객을 매장과 상품으로 데려왔다는 점입니다</a:t>
            </a:r>
            <a:r>
              <a:rPr lang="en-US" altLang="ko-KR" dirty="0" smtClean="0">
                <a:effectLst/>
              </a:rPr>
              <a:t>.</a:t>
            </a:r>
          </a:p>
          <a:p>
            <a:r>
              <a:rPr lang="ko-KR" altLang="en-US" sz="1200" b="1" kern="1200" dirty="0" smtClean="0">
                <a:solidFill>
                  <a:schemeClr val="tx1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대본</a:t>
            </a:r>
          </a:p>
          <a:p>
            <a:r>
              <a:rPr lang="ko-KR" altLang="en-US" dirty="0" smtClean="0"/>
              <a:t>“다섯 개 사례예요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대부분 환경 같은 좋은 일 캠페인이죠</a:t>
            </a:r>
            <a:r>
              <a:rPr lang="en-US" altLang="ko-KR" dirty="0" smtClean="0"/>
              <a:t>.”“</a:t>
            </a:r>
            <a:r>
              <a:rPr lang="ko-KR" altLang="en-US" dirty="0" smtClean="0"/>
              <a:t>그런데 중요한 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좋은 일로 끝나지 않고 고객이 매장에 와서 상품을 만나게 했다는 거예요</a:t>
            </a:r>
            <a:r>
              <a:rPr lang="en-US" altLang="ko-KR" dirty="0" smtClean="0"/>
              <a:t>.”“</a:t>
            </a:r>
            <a:r>
              <a:rPr lang="ko-KR" altLang="en-US" dirty="0" smtClean="0"/>
              <a:t>사례를 볼 때 </a:t>
            </a:r>
            <a:r>
              <a:rPr lang="en-US" altLang="ko-KR" dirty="0" smtClean="0"/>
              <a:t>'</a:t>
            </a:r>
            <a:r>
              <a:rPr lang="ko-KR" altLang="en-US" dirty="0" smtClean="0"/>
              <a:t>뭘 했나</a:t>
            </a:r>
            <a:r>
              <a:rPr lang="en-US" altLang="ko-KR" dirty="0" smtClean="0"/>
              <a:t>'</a:t>
            </a:r>
            <a:r>
              <a:rPr lang="ko-KR" altLang="en-US" dirty="0" smtClean="0"/>
              <a:t>보다 </a:t>
            </a:r>
            <a:r>
              <a:rPr lang="en-US" altLang="ko-KR" dirty="0" smtClean="0"/>
              <a:t>'</a:t>
            </a:r>
            <a:r>
              <a:rPr lang="ko-KR" altLang="en-US" dirty="0" smtClean="0"/>
              <a:t>고객을 어떤 순서로 움직였나</a:t>
            </a:r>
            <a:r>
              <a:rPr lang="en-US" altLang="ko-KR" dirty="0" smtClean="0"/>
              <a:t>'</a:t>
            </a:r>
            <a:r>
              <a:rPr lang="ko-KR" altLang="en-US" dirty="0" smtClean="0"/>
              <a:t>를 보세요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 순서가 오늘 여러분 캠페인의 설계도가 됩니다</a:t>
            </a:r>
            <a:r>
              <a:rPr lang="en-US" altLang="ko-KR" dirty="0" smtClean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847827-678D-44C3-90F5-D7FFBBDE4B57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85108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[멘트] "문이 다섯 개 있죠. 다섯 가지 설계도입니다. 사례마다 뭘 했는지보다, 고객이 어떤 순서로 움직였는지를 보세요."</a:t>
            </a:r>
          </a:p>
          <a:p>
            <a:r>
              <a:t>[진행] 다음 5장은 그림 → 순서 → MD 포인트 → 적용 아이디어 순으로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[멘트] "그림을 왼쪽부터 보세요. 바닷가에서 쓰레기를 줍고, 부스에서 굿즈로 바꾸고, 매장에 들어와 상품을 봅니다. 고객이 스스로 걸어서 매장까지 온 거예요."</a:t>
            </a:r>
          </a:p>
          <a:p>
            <a:r>
              <a:t>[질문] "여러분 담당 MD라면 고객이 어떤 좋은 일을 하고 매장까지 오게 할 수 있을까요?"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[멘트] "할인이 아니라 보상. 보상은 "또 해야지" 하는 습관을 만듭니다."</a:t>
            </a:r>
          </a:p>
          <a:p>
            <a:r>
              <a:t>[그림 설명] 그림을 따라가며 순서를 짚어 주세요: 착한 행동 → 포인트 · 마일리지 보상 → 재방문과 구매 → 습관</a:t>
            </a:r>
          </a:p>
          <a:p>
            <a:r>
              <a:t>[질문] "여러분 담당 MD라면 이 순서를 어떻게 쓸까요?" → 적용 예시 [반려동물 MD]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[멘트] "한 번 하고 끝내지 않고, 오래 쌓아 백화점 고유의 이미지를 만듭니다."</a:t>
            </a:r>
          </a:p>
          <a:p>
            <a:r>
              <a:t>[그림 설명] 그림을 따라가며 순서를 짚어 주세요: 친환경 캐릭터 개발 → 쇼핑백 · 포스터 · 포장 → 브랜드 자산</a:t>
            </a:r>
          </a:p>
          <a:p>
            <a:r>
              <a:t>[질문] "여러분 담당 MD라면 이 순서를 어떻게 쓸까요?" → 적용 예시 [식품 MD]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[멘트] "상품이 아니라 "우리 고객이 뭘 힘들어하지?"에서 출발합니다."</a:t>
            </a:r>
          </a:p>
          <a:p>
            <a:r>
              <a:t>[그림 설명] 그림을 따라가며 순서를 짚어 주세요: 고객의 진짜 고민 → 상담 · 문화 프로그램 → 오프라인 공간 → 상품 · 서비스 제안</a:t>
            </a:r>
          </a:p>
          <a:p>
            <a:r>
              <a:t>[질문] "여러분 담당 MD라면 이 순서를 어떻게 쓸까요?" → 적용 예시 [리빙 MD]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[멘트] ""가져와요 플라스틱, 지켜가요 우리 바다" (2018년 시작, 참여 기업 계속 확대)"</a:t>
            </a:r>
          </a:p>
          <a:p>
            <a:r>
              <a:t>[그림 설명] 그림을 따라가며 순서를 짚어 주세요: 이마트 → 테라사이클 → 한국P&amp;G</a:t>
            </a:r>
          </a:p>
          <a:p>
            <a:r>
              <a:t>[질문] "여러분 담당 MD라면 이 순서를 어떻게 쓸까요?" → 적용 예시 [패션 MD]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[멘트] "다섯 가지를 한 장으로 보면, 유형마다 잘하는 목적이 다릅니다. 마지막 칸 '이런 목적에 추천'이 다음 장의 고르는 기준이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"어제 배운 다섯 걸음 기억나죠? 오늘은 그걸 조금 길게 늘인 거예요. 새로 붙은 건 세 가지뿐이에요. 캠페인은 프로모션보다 길기 때문이에요."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"①에서 고른 ‘기분’ 하나가 ⑫까지 이어지는 거 보이죠? 앞에서 안 정하면 다음 칸에서 막혀요. 그래서 이 순서예요."</a:t>
            </a:r>
          </a:p>
          <a:p>
            <a:r>
              <a:t>[강사용] 모든 실습에서 던질 질문은 하나: “왜 그렇게 정했어요? 앞 칸 어디서 가져왔어요?”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12:00~13:00 점심. 실습이 밀리면 ⑤·⑦을 5분씩 줄입니다.</a:t>
            </a:r>
          </a:p>
          <a:p>
            <a:r>
              <a:t>[참고] 워크시트 장의 시간 표시(40분 등)는 원본 그대로이고, 이 운영표는 4조 · 8시간 기준으로 줄인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"20대 대학생이랑 30대 직장인한테 같은 말을 하면 둘 다 안 들어요. 오늘은 누구 한 명을 정하는 시간이에요."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1~3번(목표)과 4~5번(타깃)을 나눠서 안내합니다. “오지 않는 이유” 칸을 가장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"매출이 제일 중요한 거 아니에요? 좋은 질문이에요. 캠페인은 이름값을 쌓는 일이라 매출이 바로 안 올라요. 그래서 오늘 과제의 주인공은 신규 회원이에요."</a:t>
            </a:r>
          </a:p>
          <a:p>
            <a:r>
              <a:t>[근거] 예시 답: 70쪽 / 목표 수치: 43쪽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"안 오는 이유를 그 사람 말투로 쓰세요. 이 한 줄이 다음 실습 인사이트의 씨앗이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"직장인이 온다는 숫자는 지점 안 자료라 공개가 안 돼요. 그래서 바깥 자료로 방향을 확인하고, 좁힌 부분은 가설로 적어요."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작성 중 조를 돌며 왼쪽 상황이 보이면 오른쪽 말을 그대로 해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"안 오는 이유 한 줄이 다음 실습 인사이트의 씨앗이에요."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"여러분 퇴근길에 어떤 기분이세요? 그 기분이 바로 인사이트의 재료예요."</a:t>
            </a:r>
          </a:p>
          <a:p>
            <a:r>
              <a:t>[진행] 2~3명에게 대답을 듣습니다. (피곤하다, 집에 가기 싫다, 보상받고 싶다)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형식을 칠판에 크게 적어 두세요: [상황]일 때 [행동]하는데 [이유] 때문에 [불만·욕구]를 느낀다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"들었을 때 그 사람이 머릿속에 그려지나요? 그려지면 인사이트예요."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[주의] 근거 숫자는 44쪽 교육용 가상 데이터입니다. 실제 자료로 바꿀 때는 다음 “자료 찾기” 장을 참고하세요.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"경쟁사는 인플루언서로 살 이유를 만들어요. 그런데 안 사도 와도 된다고 말해 준 곳은 없어요. 이게 경쟁사가 안 건드린 인사이트예요."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"고객이 실제로 한 말을 찾으면 인사이트가 흔들리지 않아요. 후기와 댓글이 제일 좋은 자료예요."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조를 돌며 왼쪽 상황이 보이면 오른쪽 말을 해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"이제 이 속마음을 한 문장으로 만들어 볼게요."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"나이키 하면? 애플 하면? 딱 한 문장이죠. 오늘 우리 캠페인에도 그 한 문장을 만들어요."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하나만 만드는 조가 많습니다. 반드시 세 개를 만들게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"최고의 상품을 만나보세요, 이건 우리 자랑이에요. 고객이 어떻게 달라지는지를 말해야 메시지예요."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"B안 좋아 보이죠? 그런데 선물이라고 하면 뭘 사야 할 것 같아요. 우리는 안 사도 와도 된다가 핵심이라 말이 부딪혀요."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"좋은 이름이 떠올랐으면 1분만 검색해 보세요. 이미 누가 쓰고 있으면 바꾸는 게 좋아요."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다 고르면 조원이 소리 내어 읽게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"이 한 문장, 오늘 끝까지 반복할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"사람은 숫자보다 이야기를 기억해요. 오늘 만든 걸 네 칸 이야기로 바꿔 볼게요."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"막막하죠? 새로 쓰는 거 아니에요. 문제는 실습 ③에서, 해결과 경험은 실습 ④ 세 줄에서 가져와요."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"제가 한번 쭉 읽어 볼게요." (네 칸을 이어서 읽기) "문제에서 시작해서 우리 백화점이 어떤 곳인지로 끝나죠?"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끝나면 한 조만 소리 내어 읽게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"이 네 칸이 발표의 뼈대가 됩니다. 이제 어디서 이 이야기를 들려줄지 정해요."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"우리 타깃, 27~34세 직장인은 하루에 어디를 제일 많이 볼까요?"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5번 계산을 반드시 시켜 보세요. 이 실습의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"앱 푸시는 누구한테 가요? 이미 회원인 사람이죠. 오늘 목표는 새 사람이에요. 그래서 앱 푸시는 작게."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"팔로워 12만이면 12만이 다 볼까요? 아니에요. 8%만 봐요. 1만 명. 나머지 9만은 돈을 써서 채워야 해요."</a:t>
            </a:r>
          </a:p>
          <a:p>
            <a:r>
              <a:t>[근거] 12만·8%는 43쪽 가상 데이터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"오프라인에 제일 많이 썼어요. 결국 매장에 와야 가입하니까요. 틱톡은 0%. 우리 타깃이 아니니까요."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"실제 지점 팔로워 수를 찾아서 12만 대신 넣어 보세요. 계산이 확 현실적이 돼요."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계산 점검 3분: 한 조씩 “도달 몇 명?”만 물어봅니다.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"이제 이 채널들을 한 줄로 이어 볼게요."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"22쪽에서 캠페인이 실패하는 신호가 뭐였죠? 채널마다 말이 달라서 기억이 안 나는 거. 오늘은 그걸 막아요."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4번 “넘기는 장치”가 가장 중요합니다. 빈칸이면 여정이 끊깁니다.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"인스타에서 보고 테스트하고, 링크로 앱에 가서 가입하면 쿠폰, 쿠폰 쓰러 매장에 오면 스탬프. 오른쪽 칸이 고객을 다음으로 넘기는 장치예요."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"일곱 단계 중에 말투가 확 바뀌는 곳이 있어요. 어디일까요? 라이브에서 갑자기 판매 말투가 되기 쉬워요."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끝나면 한 조의 일곱 단계를 소리 내어 읽게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"이제 이 길을 3주 달력에 올려 볼게요."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"3주 내내 똑같이 할 수는 없어요. 언제 제일 크게 할지 정하는 게 오늘의 핵심이에요."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결정마다 옆 칸에 “근거”를 쓰게 하세요. 근거는 실습 ①·⑥에서 가져옵니다.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"평일 저녁에 집중한 건 41% 때문, 스탬프로 층을 연결한 건 22% 때문. 결정 옆에 항상 숫자가 있어요."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"방문객 숫자를 보세요. 9천, 1만 5천, 1만 1천. 가운데가 제일 높죠? 이게 강약이에요."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"우리 지점 영업시간이 몇 시까지예요? 21시까지 행사를 할 수 있는지 먼저 확인해요."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조를 돌며 “왜?”를 계속 물어봅니다.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"이제 이걸 하려면 돈이 얼마나 드는지 볼게요."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"5억, 큰돈 같죠? 한 명 데려오는 데 얼마 쓰는지 계산해 보면 생각이 달라져요."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계산기를 쓰게 하세요. 합계 100%와 1인당 비용 두 개만 확인하면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"예비비 5%를 보세요. 처음부터 다 쓰지 않고 남겨 두는 것도 기획이에요."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"한 명 데려오는 데 지난번엔 21만 7천 원, 이번엔 10만 원. 반값으로 두 배를 데려와야 해요. 그래서 새로운 방식이 필요한 거예요."</a:t>
            </a:r>
          </a:p>
          <a:p>
            <a:r>
              <a:t>[주의] 1인당 비용은 총 캠페인 비용을 나눈 참고값입니다. 정확한 고객획득비용은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계산 점검 5분: 조마다 “합계?”, “1인당?” 두 질문만.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"이제 성공했는지 뭘로 확인할지 정해요."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"캠페인은 이름값을 쌓는 일이라 매출이 바로 안 올라요. 그래서 다른 숫자로도 봐야 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"알게 됐나, 반응했나, 왔나, 샀나, 다시 오나. 오늘 목표는 새 고객이니까 알게 됐나와 왔나가 주인공이에요."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"측정 방법 칸을 보세요. 누가 언제 어떤 기록을 보면 알 수 있는지까지 적어야 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"목표 못 채우면 뭐라고 할 거예요? 이 질문에 미리 답해 두면 발표가 흔들리지 않아요."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"가입자 수나 매출은 백화점 안의 데이터라 우리가 볼 수 없어요. 그래서 무엇으로 셀지만 정확히 적으면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조마다 “측정 방법?” 한 가지만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"이제 지금까지 쓴 걸 한 장에 모아요. 새로 쓸 건 없어요."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"오늘 제일 쉬운 실습이에요. 새로 쓰지 말고 옮기기만 하세요."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"위에서 아래로 읽어 보세요. ‘기분’이라는 말이 어디서도 안 빠지죠? 이게 한 장 기획안의 힘이에요."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"안 맞는 곳이 반드시 하나쯤 나와요. 그걸 찾는 게 오늘의 진짜 공부예요."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담당자 요청: 캔바 · AI PPT 사용 가능. 원페이퍼가 최종 산출물입니다.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"이 한 장이 곧 발표 대본이에요. 칸 순서대로 말하면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"발표 대본은 따로 없어요. 기획안 한 장을 위에서부터 짚으면서 말하면 돼요."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"네 부분, 2분씩. 기획안 두 칸씩 말하면 돼요."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"점수 옆 코멘트를 보세요. 칭찬 하나, 보완할 점 하나. 이렇게 써 주면 발표한 조가 고칠 수 있어요."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"처음 질문 기억나세요? 캠페인은 왜 할까. 할인이 없어도 올 이유를 만들려고요. 오늘 만든 게 바로 그 이유입니다. 수고하셨습니다."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"44쪽 표 펴 보세요. 트렌드가 여섯 개 있죠. 오늘은 이걸 외우는 게 아니라, 우리 고객한테 숫자로 진짜 보이는 걸 하나 고릅니다."</a:t>
            </a:r>
          </a:p>
          <a:p>
            <a:r>
              <a:t>[진행] 질문만 던지고 답은 받지 않습니다. 바로 다음 장 진행 순서로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"다섯 걸음만 따라가면 됩니다. 오른쪽에 적힌 원본 장을 펴 놓고 하세요."</a:t>
            </a:r>
          </a:p>
          <a:p>
            <a:r>
              <a:t>[진행] 1~2번은 강사가 필코노미 한 줄로 시범을 보여 줍니다. 3~5번은 조별로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"예시 답안이 어디서 나왔는지 궁금하죠? 41쪽 맨 아래 적용 예시 한 줄 보세요. 이 다섯 칸이 워크시트 칸이 됩니다."</a:t>
            </a:r>
          </a:p>
          <a:p>
            <a:r>
              <a:t>[진행] 다섯 칸을 왼쪽부터 손으로 짚으며 읽어 줍니다. 이후 장은 이 다섯 칸을 하나씩 채우는 순서입니다.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"필코노미 옆 숫자 보이죠? 38%, 41%. 이걸 사람 말로 바꾸면? 퇴근하고 기분 풀러 온다. 이게 고객 상황이에요."</a:t>
            </a:r>
          </a:p>
          <a:p>
            <a:r>
              <a:t>[주의] 38%와 41%가 같은 사람이라는 자료는 없습니다. 두 숫자가 같은 방향을 가리킨다는 것까지만 말합니다.</a:t>
            </a:r>
          </a:p>
          <a:p>
            <a:r>
              <a:t>[근거] 숫자: 44쪽 1·2·3·4·7행 / 필코노미 고객 상황: 41쪽 적용 예시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"강·중·약은 느낌으로 찍는 게 아니에요. 두 가지만 물어보세요. 숫자가 같은 이야기를 하나? 우리 목표랑 가까운가?"</a:t>
            </a:r>
          </a:p>
          <a:p>
            <a:r>
              <a:t>[학생 질문 대비] "픽셀 라이프도 숫자가 두 개인데 왜 중이에요?" → "짧게 머문다는 건 보여 주지만, 새 고객을 데려오는 이유는 약해요. 필코노미는 기분 풀러 온다는 방문 이유 자체라 신규 목표와 더 가까워요."</a:t>
            </a:r>
          </a:p>
          <a:p>
            <a:r>
              <a:t>[근거] 판정 기준 문장은 44쪽 하단 안내문. 강·중·약 판정 자체는 예시 팀의 판단입니다.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"여러 개 다 하고 싶죠? 다 하면 아무것도 기억 안 나요. 하나 고르고 나머지를 버리는 게 전략이에요."</a:t>
            </a:r>
          </a:p>
          <a:p>
            <a:r>
              <a:t>[진행] 조별로 고른 트렌드를 크게 말하게 합니다. 필코노미가 아니어도 됩니다. 1.5가구를 고른 조가 있으면 칭찬합니다.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"유형은 고민할 필요 없어요. 42쪽 표에서 필코노미 줄 끝을 보면 경험형이라고 적혀 있어요. 사례는 36쪽 리조이스. 상품이 아니라 고객의 고민에서 출발한 캠페인이죠."</a:t>
            </a:r>
          </a:p>
          <a:p>
            <a:r>
              <a:t>[주의] 리조이스의 실제 프로그램(상담·힐링)을 우리 향·티 체험이라고 옮기면 안 됩니다. 가져오는 건 “고민 → 공간 → 서비스” 순서입니다.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"형식은 58쪽 맨 아래에 있어요. 다섯 칸을 채우면 한 문장이 나옵니다. 칸마다 어디서 가져왔는지 오른쪽을 보세요."</a:t>
            </a:r>
          </a:p>
          <a:p>
            <a:r>
              <a:t>[완성 문장] 퇴근 후 기분이 가라앉은 20~30대 직장인이 평일 저녁 30분 만에 기분을 바꾸는 경험형 캠페인으로 신규 회원 5,000명을 확보한다.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"예시 답안에도 세 종류가 섞여 있어요. 숫자는 자료, 경험형은 PPT의 해석, 직장인이나 30분은 예시 팀이 정한 거예요. 그러니까 여러분 답이 달라도 괜찮아요."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[진행] 작성 시간 20분 동안 조를 돌면서 표의 왼쪽 상황이 보이면 오른쪽 말을 그대로 해 줍니다.</a:t>
            </a:r>
          </a:p>
          <a:p>
            <a:r>
              <a:t>[예시 답안 공개] 60쪽을 띄우고 "정답이 아니라 한 가지 예시예요. 여러분 조의 선택과 이유를 비교해 보세요."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"지금 쓴 한 문장, 지우지 마세요. 오늘 하루 끝까지 계속 씁니다. 다음은 이 문장 속 어떤 고객을 더 좁혀 볼게요."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"44쪽 숫자는 연습용 가상 데이터였죠. 실제로 찾으면 이런 숫자가 나와요. 오른쪽 파란 글씨를 누르면 원문이 열립니다."</a:t>
            </a:r>
          </a:p>
          <a:p>
            <a:r>
              <a:t>[진행] 조별로 한 트렌드씩 맡아 검색어를 그대로 쳐 보게 합니다. 5~10분이면 충분합니다.</a:t>
            </a:r>
          </a:p>
          <a:p>
            <a:r>
              <a:t>[주의] 숫자는 기사·조사 발표 시점 기준입니다. 수업 전에 링크가 열리는지 한 번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"찾은 건 출처를 붙이고, 우리가 생각한 건 (가설)이라고 붙이세요. 그러면 발표할 때 질문을 받아도 흔들리지 않아요."</a:t>
            </a:r>
          </a:p>
          <a:p>
            <a:r>
              <a:t>[예시 문장] "성인 92.7%가 한 달에 한 번 이상 감정 소비를 한다(픽플리, 2026.4). 그래서 20~30대 직장인은 퇴근길에 작은 보상으로 기분을 바꾸고 싶을 것이다(가설)."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[멘트] "처음엔 딱 10분만 찾으세요. 숫자 한두 개면 충분해요. 제목만 보고 쓰지 말고 본문에서 숫자를 확인하세요."</a:t>
            </a:r>
          </a:p>
          <a:p>
            <a:r>
              <a:t>[진행] 네이버 데이터랩은 검색어를 넣고 연령 20~39를 선택하면 1년 사이 관심 변화가 그래프로 나옵니다. 그래프 캡처와 날짜를 워크시트에 붙이게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11" r:id="rId3"/>
    <p:sldLayoutId id="214748371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pickply.com/blog/feelconomy-trend-and-emotional-consumption" TargetMode="External"/><Relationship Id="rId3" Type="http://schemas.openxmlformats.org/officeDocument/2006/relationships/hyperlink" Target="https://biz.heraldcorp.com/article/10770308" TargetMode="External"/><Relationship Id="rId4" Type="http://schemas.openxmlformats.org/officeDocument/2006/relationships/hyperlink" Target="https://dealsite.co.kr/articles/164791" TargetMode="External"/><Relationship Id="rId5" Type="http://schemas.openxmlformats.org/officeDocument/2006/relationships/hyperlink" Target="https://www.korea.kr/briefing/pressReleaseView.do?newsId=156734077" TargetMode="External"/><Relationship Id="rId6" Type="http://schemas.openxmlformats.org/officeDocument/2006/relationships/hyperlink" Target="https://www.dtoday.co.kr/news/articleView.html?idxno=716263" TargetMode="External"/><Relationship Id="rId7" Type="http://schemas.openxmlformats.org/officeDocument/2006/relationships/notesSlide" Target="../notesSlides/notesSlide11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ntoday.co.kr/news/articleView.html?idxno=119826" TargetMode="External"/><Relationship Id="rId3" Type="http://schemas.openxmlformats.org/officeDocument/2006/relationships/hyperlink" Target="https://pickply.com/blog/feelconomy-trend-and-emotional-consumption" TargetMode="External"/><Relationship Id="rId4" Type="http://schemas.openxmlformats.org/officeDocument/2006/relationships/hyperlink" Target="https://www.seoul.co.kr/news/economy/business-news/2026/05/21/20260521500016" TargetMode="External"/><Relationship Id="rId5" Type="http://schemas.openxmlformats.org/officeDocument/2006/relationships/notesSlide" Target="../notesSlides/notesSlide1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atalab.naver.com/" TargetMode="External"/><Relationship Id="rId3" Type="http://schemas.openxmlformats.org/officeDocument/2006/relationships/hyperlink" Target="https://kosis.kr/" TargetMode="External"/><Relationship Id="rId4" Type="http://schemas.openxmlformats.org/officeDocument/2006/relationships/hyperlink" Target="https://www.20slab.org/" TargetMode="External"/><Relationship Id="rId5" Type="http://schemas.openxmlformats.org/officeDocument/2006/relationships/hyperlink" Target="https://blog.opensurvey.co.kr/" TargetMode="External"/><Relationship Id="rId6" Type="http://schemas.openxmlformats.org/officeDocument/2006/relationships/hyperlink" Target="https://news.naver.com/" TargetMode="External"/><Relationship Id="rId7" Type="http://schemas.openxmlformats.org/officeDocument/2006/relationships/hyperlink" Target="https://www.lotteshoppingir.com/data/data_01.jsp" TargetMode="External"/><Relationship Id="rId8" Type="http://schemas.openxmlformats.org/officeDocument/2006/relationships/hyperlink" Target="https://dart.fss.or.kr/" TargetMode="External"/><Relationship Id="rId9" Type="http://schemas.openxmlformats.org/officeDocument/2006/relationships/hyperlink" Target="https://www.seoul.co.kr/news/economy/business-news/2026/05/21/20260521500016" TargetMode="External"/><Relationship Id="rId10" Type="http://schemas.openxmlformats.org/officeDocument/2006/relationships/notesSlide" Target="../notesSlides/notesSlide11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alsite.co.kr/articles/164791" TargetMode="External"/><Relationship Id="rId3" Type="http://schemas.openxmlformats.org/officeDocument/2006/relationships/hyperlink" Target="https://www.korea.kr/briefing/pressReleaseView.do?newsId=156734077" TargetMode="External"/><Relationship Id="rId4" Type="http://schemas.openxmlformats.org/officeDocument/2006/relationships/hyperlink" Target="https://sg.sbiz.or.kr/" TargetMode="External"/><Relationship Id="rId5" Type="http://schemas.openxmlformats.org/officeDocument/2006/relationships/hyperlink" Target="https://search.naver.com/search.naver?where=news&amp;query=%EB%A1%AF%EB%8D%B0%EB%B0%B1%ED%99%94%EC%A0%90%202030%20%EA%B3%A0%EA%B0%9D" TargetMode="External"/><Relationship Id="rId6" Type="http://schemas.openxmlformats.org/officeDocument/2006/relationships/notesSlide" Target="../notesSlides/notesSlide3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earch.naver.com/search.naver?where=blog&amp;query=%EB%B0%B1%ED%99%94%EC%A0%90%20%EA%B5%AC%EA%B2%BD%EB%A7%8C%20%EB%88%88%EC%B9%98" TargetMode="External"/><Relationship Id="rId3" Type="http://schemas.openxmlformats.org/officeDocument/2006/relationships/hyperlink" Target="https://search.naver.com/search.naver?where=blog&amp;query=%ED%87%B4%EA%B7%BC%20%ED%9B%84%20%EA%B8%B0%EB%B6%84%20%EC%A0%84%ED%99%98" TargetMode="External"/><Relationship Id="rId4" Type="http://schemas.openxmlformats.org/officeDocument/2006/relationships/hyperlink" Target="https://www.youtube.com/results?search_query=%EB%B0%B1%ED%99%94%EC%A0%90%20%ED%87%B4%EA%B7%BC%20%EB%B8%8C%EC%9D%B4%EB%A1%9C%EA%B7%B8" TargetMode="External"/><Relationship Id="rId5" Type="http://schemas.openxmlformats.org/officeDocument/2006/relationships/hyperlink" Target="https://pickply.com/blog/feelconomy-trend-and-emotional-consumption" TargetMode="External"/><Relationship Id="rId6" Type="http://schemas.openxmlformats.org/officeDocument/2006/relationships/notesSlide" Target="../notesSlides/notesSlide4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3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kipris.or.kr/" TargetMode="External"/><Relationship Id="rId3" Type="http://schemas.openxmlformats.org/officeDocument/2006/relationships/hyperlink" Target="https://search.naver.com/search.naver?where=nexearch&amp;query=MOOD%20SHIFT%20%EC%BA%A0%ED%8E%98%EC%9D%B8" TargetMode="External"/><Relationship Id="rId4" Type="http://schemas.openxmlformats.org/officeDocument/2006/relationships/hyperlink" Target="https://search.naver.com/search.naver?where=news&amp;query=%EB%B0%B1%ED%99%94%EC%A0%90%20%EC%BA%A0%ED%8E%98%EC%9D%B8%20%EC%8A%AC%EB%A1%9C%EA%B1%B4" TargetMode="External"/><Relationship Id="rId5" Type="http://schemas.openxmlformats.org/officeDocument/2006/relationships/notesSlide" Target="../notesSlides/notesSlide5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image" Target="../media/image48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4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gallup.co.kr/gallupdb/reportContent.asp?seqNo=1586" TargetMode="External"/><Relationship Id="rId3" Type="http://schemas.openxmlformats.org/officeDocument/2006/relationships/hyperlink" Target="https://ko-kr.facebook.com/business/help/4308719409201466" TargetMode="External"/><Relationship Id="rId4" Type="http://schemas.openxmlformats.org/officeDocument/2006/relationships/hyperlink" Target="https://search.naver.com/search.naver?where=nexearch&amp;query=%EB%A1%AF%EB%8D%B0%EB%B0%B1%ED%99%94%EC%A0%90%20%EA%B3%B5%EC%8B%9D%20%EC%9D%B8%EC%8A%A4%ED%83%80%EA%B7%B8%EB%9E%A8" TargetMode="External"/><Relationship Id="rId5" Type="http://schemas.openxmlformats.org/officeDocument/2006/relationships/hyperlink" Target="https://search.naver.com/search.naver?where=blog&amp;query=%EC%9D%B8%EC%8A%A4%ED%83%80%EA%B7%B8%EB%9E%A8%20%EC%B0%B8%EC%97%AC%EC%9C%A8%20%EA%B3%84%EC%82%B0" TargetMode="External"/><Relationship Id="rId6" Type="http://schemas.openxmlformats.org/officeDocument/2006/relationships/notesSlide" Target="../notesSlides/notesSlide6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59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lotteshopping.com/" TargetMode="External"/><Relationship Id="rId3" Type="http://schemas.openxmlformats.org/officeDocument/2006/relationships/hyperlink" Target="https://search.naver.com/search.naver?where=news&amp;query=%EB%A1%AF%EB%8D%B0%EB%B0%B1%ED%99%94%EC%A0%90%20%EC%95%84%ED%8A%B8%EB%A6%AC%EC%9B%80%20%ED%8C%9D%EC%97%85" TargetMode="External"/><Relationship Id="rId4" Type="http://schemas.openxmlformats.org/officeDocument/2006/relationships/hyperlink" Target="https://biz.heraldcorp.com/article/10770308" TargetMode="External"/><Relationship Id="rId5" Type="http://schemas.openxmlformats.org/officeDocument/2006/relationships/hyperlink" Target="https://search.naver.com/search.naver?where=news&amp;query=%EB%B0%B1%ED%99%94%EC%A0%90%20%ED%96%A5%20%EB%B8%8C%EB%9E%9C%EB%93%9C%20%ED%8C%9D%EC%97%85" TargetMode="External"/><Relationship Id="rId6" Type="http://schemas.openxmlformats.org/officeDocument/2006/relationships/notesSlide" Target="../notesSlides/notesSlide79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5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60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9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0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ko-kr.facebook.com/business/help/4308719409201466" TargetMode="External"/><Relationship Id="rId3" Type="http://schemas.openxmlformats.org/officeDocument/2006/relationships/hyperlink" Target="https://datalab.naver.com/" TargetMode="External"/><Relationship Id="rId4" Type="http://schemas.openxmlformats.org/officeDocument/2006/relationships/notesSlide" Target="../notesSlides/notesSlide9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3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8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9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0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F95665-D276-82A9-6A61-A34EFCA8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6B6E4E8B-8332-A4CC-6A31-1C13F74BA825}"/>
              </a:ext>
            </a:extLst>
          </p:cNvPr>
          <p:cNvSpPr/>
          <p:nvPr/>
        </p:nvSpPr>
        <p:spPr>
          <a:xfrm>
            <a:off x="1106496" y="2870210"/>
            <a:ext cx="4788000" cy="557076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60012"/>
                    </a:gs>
                    <a:gs pos="99000">
                      <a:srgbClr val="E60012"/>
                    </a:gs>
                  </a:gsLst>
                  <a:lin ang="5400000" scaled="1"/>
                </a:gra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맑은 고딕 Semilight" panose="020B0502040204020203" pitchFamily="50" charset="-127"/>
              </a:rPr>
              <a:t>상품 마케팅 </a:t>
            </a:r>
            <a:r>
              <a:rPr lang="ko-KR" altLang="en-US" sz="3000" dirty="0">
                <a:gradFill>
                  <a:gsLst>
                    <a:gs pos="0">
                      <a:srgbClr val="E60012"/>
                    </a:gs>
                    <a:gs pos="99000">
                      <a:srgbClr val="E60012"/>
                    </a:gs>
                  </a:gsLst>
                  <a:lin ang="5400000" scaled="1"/>
                </a:gra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맑은 고딕 Semilight" panose="020B0502040204020203" pitchFamily="50" charset="-127"/>
              </a:rPr>
              <a:t>이해</a:t>
            </a:r>
            <a:endParaRPr kumimoji="0" lang="ko-KR" altLang="en-US" sz="300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E60012"/>
                  </a:gs>
                  <a:gs pos="99000">
                    <a:srgbClr val="E60012"/>
                  </a:gs>
                </a:gsLst>
                <a:lin ang="5400000" scaled="1"/>
              </a:gradFill>
              <a:effectLst/>
              <a:uLnTx/>
              <a:uFillTx/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DE82E25-8E13-0DFB-52A7-660BB6086CDB}"/>
              </a:ext>
            </a:extLst>
          </p:cNvPr>
          <p:cNvSpPr txBox="1"/>
          <p:nvPr/>
        </p:nvSpPr>
        <p:spPr>
          <a:xfrm>
            <a:off x="981757" y="1693553"/>
            <a:ext cx="2895382" cy="1169551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60012"/>
                    </a:gs>
                    <a:gs pos="99000">
                      <a:srgbClr val="E60012"/>
                    </a:gs>
                  </a:gsLst>
                  <a:lin ang="5400000" scaled="1"/>
                </a:gradFill>
                <a:effectLst/>
                <a:uLnTx/>
                <a:uFillTx/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+mn-cs"/>
              </a:rPr>
              <a:t>03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AB99FD11-6CBD-70BB-3DB7-F5CB310086C1}"/>
              </a:ext>
            </a:extLst>
          </p:cNvPr>
          <p:cNvCxnSpPr>
            <a:cxnSpLocks/>
          </p:cNvCxnSpPr>
          <p:nvPr/>
        </p:nvCxnSpPr>
        <p:spPr>
          <a:xfrm>
            <a:off x="1117537" y="2832128"/>
            <a:ext cx="900000" cy="0"/>
          </a:xfrm>
          <a:prstGeom prst="line">
            <a:avLst/>
          </a:prstGeom>
          <a:noFill/>
          <a:ln w="25400">
            <a:solidFill>
              <a:srgbClr val="E600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ECD3685-C82F-6FBA-B0D0-33B9E555D8EF}"/>
              </a:ext>
            </a:extLst>
          </p:cNvPr>
          <p:cNvSpPr txBox="1"/>
          <p:nvPr/>
        </p:nvSpPr>
        <p:spPr>
          <a:xfrm>
            <a:off x="961340" y="1284686"/>
            <a:ext cx="2170105" cy="254813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유통</a:t>
            </a: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·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리테일 전문가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xmlns="" id="{7E05CF3E-64FA-A881-6401-6B772A92256A}"/>
              </a:ext>
            </a:extLst>
          </p:cNvPr>
          <p:cNvCxnSpPr>
            <a:cxnSpLocks/>
          </p:cNvCxnSpPr>
          <p:nvPr/>
        </p:nvCxnSpPr>
        <p:spPr>
          <a:xfrm>
            <a:off x="988553" y="1285719"/>
            <a:ext cx="1583197" cy="0"/>
          </a:xfrm>
          <a:prstGeom prst="line">
            <a:avLst/>
          </a:prstGeom>
          <a:ln w="3175">
            <a:solidFill>
              <a:srgbClr val="38278C">
                <a:alpha val="2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54279A2-67CB-9E0E-7B18-2570B557FC1A}"/>
              </a:ext>
            </a:extLst>
          </p:cNvPr>
          <p:cNvSpPr txBox="1"/>
          <p:nvPr/>
        </p:nvSpPr>
        <p:spPr>
          <a:xfrm>
            <a:off x="961340" y="845819"/>
            <a:ext cx="5204632" cy="42396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ko-KR"/>
            </a:defPPr>
            <a:lvl1pPr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250" normalizeH="0">
                <a:ln>
                  <a:noFill/>
                </a:ln>
                <a:gradFill>
                  <a:gsLst>
                    <a:gs pos="0">
                      <a:srgbClr val="FF5D00"/>
                    </a:gs>
                    <a:gs pos="100000">
                      <a:srgbClr val="FF5D00"/>
                    </a:gs>
                  </a:gsLst>
                  <a:lin ang="5400000" scaled="1"/>
                </a:gra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0" dirty="0">
                <a:ln w="3175">
                  <a:noFill/>
                </a:ln>
                <a:gradFill>
                  <a:gsLst>
                    <a:gs pos="0">
                      <a:srgbClr val="E60012"/>
                    </a:gs>
                    <a:gs pos="100000">
                      <a:srgbClr val="E60012"/>
                    </a:gs>
                  </a:gsLst>
                  <a:lin ang="5400000" scaled="1"/>
                </a:gra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맑은 고딕 Semilight" panose="020B0502040204020203" pitchFamily="50" charset="-127"/>
              </a:rPr>
              <a:t>Lift U &amp; Your Tomorrow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맑은 고딕 Semilight" panose="020B0502040204020203" pitchFamily="50" charset="-127"/>
              </a:rPr>
              <a:t>롯데 청년 직무 아카데미 </a:t>
            </a:r>
            <a:r>
              <a:rPr lang="en-US" altLang="ko-KR" sz="900" spc="0" dirty="0">
                <a:ln w="3175">
                  <a:noFill/>
                </a:ln>
                <a:gradFill>
                  <a:gsLst>
                    <a:gs pos="0">
                      <a:srgbClr val="E60012"/>
                    </a:gs>
                    <a:gs pos="100000">
                      <a:srgbClr val="E60012"/>
                    </a:gs>
                  </a:gsLst>
                  <a:lin ang="5400000" scaled="1"/>
                </a:gra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맑은 고딕 Semilight" panose="020B0502040204020203" pitchFamily="50" charset="-127"/>
              </a:rPr>
              <a:t>LOTTE LIFT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6D371BEC-217E-5CC2-7A61-E53EAA29CFFD}"/>
              </a:ext>
            </a:extLst>
          </p:cNvPr>
          <p:cNvGrpSpPr/>
          <p:nvPr/>
        </p:nvGrpSpPr>
        <p:grpSpPr>
          <a:xfrm>
            <a:off x="1106495" y="3601002"/>
            <a:ext cx="4788001" cy="216919"/>
            <a:chOff x="8385375" y="1924331"/>
            <a:chExt cx="4788001" cy="216919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xmlns="" id="{AB76C0AD-0844-6EF6-8F46-0B8D7A0ED25D}"/>
                </a:ext>
              </a:extLst>
            </p:cNvPr>
            <p:cNvSpPr/>
            <p:nvPr/>
          </p:nvSpPr>
          <p:spPr>
            <a:xfrm>
              <a:off x="8632042" y="1924331"/>
              <a:ext cx="4541334" cy="21691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맑은 고딕 Semilight" panose="020B0502040204020203" pitchFamily="50" charset="-127"/>
                </a:rPr>
                <a:t>캠페인 기획 실습</a:t>
              </a:r>
            </a:p>
          </p:txBody>
        </p:sp>
        <p:sp>
          <p:nvSpPr>
            <p:cNvPr id="16" name="모서리가 둥근 직사각형 14">
              <a:extLst>
                <a:ext uri="{FF2B5EF4-FFF2-40B4-BE49-F238E27FC236}">
                  <a16:creationId xmlns:a16="http://schemas.microsoft.com/office/drawing/2014/main" xmlns="" id="{27403758-6321-4443-C70B-1A9D728F0D3B}"/>
                </a:ext>
              </a:extLst>
            </p:cNvPr>
            <p:cNvSpPr/>
            <p:nvPr/>
          </p:nvSpPr>
          <p:spPr>
            <a:xfrm>
              <a:off x="8385375" y="1945058"/>
              <a:ext cx="181727" cy="181727"/>
            </a:xfrm>
            <a:prstGeom prst="roundRect">
              <a:avLst>
                <a:gd name="adj" fmla="val 9410"/>
              </a:avLst>
            </a:prstGeom>
            <a:solidFill>
              <a:srgbClr val="776C6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2</a:t>
              </a:r>
              <a:endParaRPr lang="ko-KR" altLang="en-US" sz="10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1"/>
                </a:gra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563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3-2 캠페인 기획 실습  ·  안내자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9/29(화) · 4조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8시간 운영표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1" cy="4206240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8257031"/>
                <a:gridCol w="137160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교시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진행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쪽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1  09:00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복습 퀴즈 · 워밍업 게임 · 캠페인 vs 프로모션 · 사례 5개 · 유형 5가지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3~38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2  10:00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설계 5단계 · 트렌드 · 케이스 15분 → 실습 ① 30분 → 공유 5분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39~61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3  11:00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설명 10분 → 실습 ② 20분 → 실습 ③ 20분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62~82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4  13:00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설명 15분 → 실습 ④ 20분 → 실습 ⑤ 15분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83~102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5  14:00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설명 15분 → 실습 ⑥ 20분 → 실습 ⑦ 15분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103~125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6  15:00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설명 5분 → 실습 ⑧ 20분 → 실습 ⑨ 20분 → 계산 점검 5분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126~143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7  16:00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설명 10분 → 실습 ⑩ 20분 → 실습 ⑪ 20분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144~162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8  17:00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실습 ⑫ 발표: 4조 × (발표 8분 + 질의 4분) = 48분 → 마무리 2분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163~168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안내자의 질문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“왜 그렇게 정했어요? 앞 칸 어디서 가져왔어요?” — 이 질문 하나로 12개 실습을 모두 운영합니다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어제 배운 것, 기억나세요?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31313"/>
                </a:solidFill>
                <a:latin typeface="a고딕17"/>
              </a:rPr>
              <a:t>어제 </a:t>
            </a:r>
            <a:r>
              <a:rPr sz="3000" b="1">
                <a:solidFill>
                  <a:srgbClr val="ED1C24"/>
                </a:solidFill>
                <a:latin typeface="a고딕17"/>
              </a:rPr>
              <a:t>3-1 백화점 프로모션 기획</a:t>
            </a:r>
            <a:r>
              <a:rPr sz="3000" b="1">
                <a:solidFill>
                  <a:srgbClr val="131313"/>
                </a:solidFill>
                <a:latin typeface="a고딕17"/>
              </a:rPr>
              <a:t>에서 배운 것 6문제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5176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a고딕14"/>
              </a:rPr>
              <a:t>손을 들거나 조별로 외쳐 주세요. 정답은 다음 장에 나옵니다.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66160"/>
            <a:ext cx="11091672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73152" cy="137160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56616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131313"/>
                </a:solidFill>
                <a:latin typeface="a고딕17"/>
              </a:rPr>
              <a:t>정답을 맞힌 분께 </a:t>
            </a:r>
            <a:r>
              <a:rPr sz="3400" b="1">
                <a:solidFill>
                  <a:srgbClr val="ED1C24"/>
                </a:solidFill>
                <a:latin typeface="a고딕17"/>
              </a:rPr>
              <a:t>작은 선물</a:t>
            </a:r>
            <a:r>
              <a:rPr sz="3400" b="1">
                <a:solidFill>
                  <a:srgbClr val="131313"/>
                </a:solidFill>
                <a:latin typeface="a고딕17"/>
              </a:rPr>
              <a:t>이 있어요!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6B6B6B"/>
                </a:solidFill>
                <a:latin typeface="a고딕14"/>
              </a:rPr>
              <a:t>1 마케팅이란  ·  2 4단계  ·  3 3C  ·  4 니즈  ·  5 고객 여정  ·  6 목표와 KPI</a:t>
            </a:r>
          </a:p>
        </p:txBody>
      </p:sp>
    </p:spTree>
    <p:extLst>
      <p:ext uri="{BB962C8B-B14F-4D97-AF65-F5344CB8AC3E}">
        <p14:creationId xmlns:p14="http://schemas.microsoft.com/office/powerpoint/2010/main" val="1781412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마케팅이란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 1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고딕17"/>
              </a:rPr>
              <a:t>피터 드러커: 마케팅의 목적은 ______을 불필요하게 만드는 것이다.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①  </a:t>
            </a:r>
            <a:r>
              <a:rPr sz="2000" b="1">
                <a:solidFill>
                  <a:srgbClr val="131313"/>
                </a:solidFill>
                <a:latin typeface="a고딕16"/>
              </a:rPr>
              <a:t>할인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②  </a:t>
            </a:r>
            <a:r>
              <a:rPr sz="2000" b="1">
                <a:solidFill>
                  <a:srgbClr val="131313"/>
                </a:solidFill>
                <a:latin typeface="a고딕16"/>
              </a:rPr>
              <a:t>세일즈(판매)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③  </a:t>
            </a:r>
            <a:r>
              <a:rPr sz="2000" b="1">
                <a:solidFill>
                  <a:srgbClr val="131313"/>
                </a:solidFill>
                <a:latin typeface="a고딕16"/>
              </a:rPr>
              <a:t>광고</a:t>
            </a:r>
          </a:p>
        </p:txBody>
      </p:sp>
    </p:spTree>
    <p:extLst>
      <p:ext uri="{BB962C8B-B14F-4D97-AF65-F5344CB8AC3E}">
        <p14:creationId xmlns:p14="http://schemas.microsoft.com/office/powerpoint/2010/main" val="839483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마케팅이란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 1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고딕17"/>
              </a:rPr>
              <a:t>피터 드러커: 마케팅의 목적은 ______을 불필요하게 만드는 것이다.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①  </a:t>
            </a:r>
            <a:r>
              <a:rPr sz="2000" b="1">
                <a:solidFill>
                  <a:srgbClr val="131313"/>
                </a:solidFill>
                <a:latin typeface="a고딕16"/>
              </a:rPr>
              <a:t>할인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고딕17"/>
              </a:rPr>
              <a:t>②  </a:t>
            </a:r>
            <a:r>
              <a:rPr sz="2000" b="1">
                <a:solidFill>
                  <a:srgbClr val="FFFFFF"/>
                </a:solidFill>
                <a:latin typeface="a고딕16"/>
              </a:rPr>
              <a:t>세일즈(판매)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③  </a:t>
            </a:r>
            <a:r>
              <a:rPr sz="2000" b="1">
                <a:solidFill>
                  <a:srgbClr val="131313"/>
                </a:solidFill>
                <a:latin typeface="a고딕16"/>
              </a:rPr>
              <a:t>광고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11091672" cy="548640"/>
          </a:xfrm>
          <a:prstGeom prst="rect">
            <a:avLst/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64008" cy="548640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1663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4"/>
              </a:rPr>
              <a:t>정답 </a:t>
            </a:r>
            <a:r>
              <a:rPr sz="1800" b="1">
                <a:solidFill>
                  <a:srgbClr val="1E9E5A"/>
                </a:solidFill>
                <a:latin typeface="a고딕17"/>
              </a:rPr>
              <a:t>세일즈</a:t>
            </a:r>
            <a:r>
              <a:rPr sz="1800" b="0">
                <a:solidFill>
                  <a:srgbClr val="131313"/>
                </a:solidFill>
                <a:latin typeface="a고딕14"/>
              </a:rPr>
              <a:t>. 고객을 잘 알면 </a:t>
            </a:r>
            <a:r>
              <a:rPr sz="1800" b="1">
                <a:solidFill>
                  <a:srgbClr val="1E9E5A"/>
                </a:solidFill>
                <a:latin typeface="a고딕17"/>
              </a:rPr>
              <a:t>팔지 않아도 팔리게</a:t>
            </a:r>
            <a:r>
              <a:rPr sz="1800" b="0">
                <a:solidFill>
                  <a:srgbClr val="131313"/>
                </a:solidFill>
                <a:latin typeface="a고딕14"/>
              </a:rPr>
              <a:t> 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</a:rPr>
              <a:t>오늘과 이어지는 점  </a:t>
            </a:r>
            <a:r>
              <a:rPr sz="1600" b="0">
                <a:solidFill>
                  <a:srgbClr val="6B6B6B"/>
                </a:solidFill>
                <a:latin typeface="a고딕14"/>
              </a:rPr>
              <a:t>"이거 사세요"라고 하지 않아도 머릿속에 떠오르게 만드는 것이 마케팅</a:t>
            </a:r>
          </a:p>
        </p:txBody>
      </p:sp>
    </p:spTree>
    <p:extLst>
      <p:ext uri="{BB962C8B-B14F-4D97-AF65-F5344CB8AC3E}">
        <p14:creationId xmlns:p14="http://schemas.microsoft.com/office/powerpoint/2010/main" val="122843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백화점 마케팅 4단계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 2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고딕17"/>
              </a:rPr>
              <a:t>고객 여정 4단계의 올바른 순서는?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①  </a:t>
            </a:r>
            <a:r>
              <a:rPr sz="2000" b="1">
                <a:solidFill>
                  <a:srgbClr val="131313"/>
                </a:solidFill>
                <a:latin typeface="a고딕16"/>
              </a:rPr>
              <a:t>사게 → 오게 → 머물게 → 다시 오게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②  </a:t>
            </a:r>
            <a:r>
              <a:rPr sz="2000" b="1">
                <a:solidFill>
                  <a:srgbClr val="131313"/>
                </a:solidFill>
                <a:latin typeface="a고딕16"/>
              </a:rPr>
              <a:t>오게 → 머물게 → 사게 → 다시 오게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③  </a:t>
            </a:r>
            <a:r>
              <a:rPr sz="2000" b="1">
                <a:solidFill>
                  <a:srgbClr val="131313"/>
                </a:solidFill>
                <a:latin typeface="a고딕16"/>
              </a:rPr>
              <a:t>오게 → 사게 → 다시 오게 → 머물게</a:t>
            </a:r>
          </a:p>
        </p:txBody>
      </p:sp>
    </p:spTree>
    <p:extLst>
      <p:ext uri="{BB962C8B-B14F-4D97-AF65-F5344CB8AC3E}">
        <p14:creationId xmlns:p14="http://schemas.microsoft.com/office/powerpoint/2010/main" val="126248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백화점 마케팅 4단계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 2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고딕17"/>
              </a:rPr>
              <a:t>고객 여정 4단계의 올바른 순서는?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①  </a:t>
            </a:r>
            <a:r>
              <a:rPr sz="2000" b="1">
                <a:solidFill>
                  <a:srgbClr val="131313"/>
                </a:solidFill>
                <a:latin typeface="a고딕16"/>
              </a:rPr>
              <a:t>사게 → 오게 → 머물게 → 다시 오게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고딕17"/>
              </a:rPr>
              <a:t>②  </a:t>
            </a:r>
            <a:r>
              <a:rPr sz="2000" b="1">
                <a:solidFill>
                  <a:srgbClr val="FFFFFF"/>
                </a:solidFill>
                <a:latin typeface="a고딕16"/>
              </a:rPr>
              <a:t>오게 → 머물게 → 사게 → 다시 오게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③  </a:t>
            </a:r>
            <a:r>
              <a:rPr sz="2000" b="1">
                <a:solidFill>
                  <a:srgbClr val="131313"/>
                </a:solidFill>
                <a:latin typeface="a고딕16"/>
              </a:rPr>
              <a:t>오게 → 사게 → 다시 오게 → 머물게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11091672" cy="548640"/>
          </a:xfrm>
          <a:prstGeom prst="rect">
            <a:avLst/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64008" cy="548640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1663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4"/>
              </a:rPr>
              <a:t>정답 </a:t>
            </a:r>
            <a:r>
              <a:rPr sz="1800" b="1">
                <a:solidFill>
                  <a:srgbClr val="1E9E5A"/>
                </a:solidFill>
                <a:latin typeface="a고딕17"/>
              </a:rPr>
              <a:t>유입 → 체류 → 전환 → 재방문</a:t>
            </a:r>
            <a:r>
              <a:rPr sz="1800" b="0">
                <a:solidFill>
                  <a:srgbClr val="131313"/>
                </a:solidFill>
                <a:latin typeface="a고딕14"/>
              </a:rPr>
              <a:t>. 단계마다 봐야 할 숫자(KPI)가 다릅니다.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</a:rPr>
              <a:t>오늘과 이어지는 점  </a:t>
            </a:r>
            <a:r>
              <a:rPr sz="1600" b="0">
                <a:solidFill>
                  <a:srgbClr val="6B6B6B"/>
                </a:solidFill>
                <a:latin typeface="a고딕14"/>
              </a:rPr>
              <a:t>오늘 캠페인 퍼널(인지 · 관심 · 행동 · 전환)도 같은 생각입니다</a:t>
            </a:r>
          </a:p>
        </p:txBody>
      </p:sp>
    </p:spTree>
    <p:extLst>
      <p:ext uri="{BB962C8B-B14F-4D97-AF65-F5344CB8AC3E}">
        <p14:creationId xmlns:p14="http://schemas.microsoft.com/office/powerpoint/2010/main" val="294800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3C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 3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고딕17"/>
              </a:rPr>
              <a:t>3C로 찾는 곳은 어디일까요?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①  </a:t>
            </a:r>
            <a:r>
              <a:rPr sz="2000" b="1">
                <a:solidFill>
                  <a:srgbClr val="131313"/>
                </a:solidFill>
                <a:latin typeface="a고딕16"/>
              </a:rPr>
              <a:t>고객이 원하는 모든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②  </a:t>
            </a:r>
            <a:r>
              <a:rPr sz="2000" b="1">
                <a:solidFill>
                  <a:srgbClr val="131313"/>
                </a:solidFill>
                <a:latin typeface="a고딕16"/>
              </a:rPr>
              <a:t>경쟁사가 잘하는 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③  </a:t>
            </a:r>
            <a:r>
              <a:rPr sz="2000" b="1">
                <a:solidFill>
                  <a:srgbClr val="131313"/>
                </a:solidFill>
                <a:latin typeface="a고딕16"/>
              </a:rPr>
              <a:t>고객이 원하고, 경쟁사가 안 하고, 우리가 할 수 있는 것</a:t>
            </a:r>
          </a:p>
        </p:txBody>
      </p:sp>
    </p:spTree>
    <p:extLst>
      <p:ext uri="{BB962C8B-B14F-4D97-AF65-F5344CB8AC3E}">
        <p14:creationId xmlns:p14="http://schemas.microsoft.com/office/powerpoint/2010/main" val="2666776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3C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 3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고딕17"/>
              </a:rPr>
              <a:t>3C로 찾는 곳은 어디일까요?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①  </a:t>
            </a:r>
            <a:r>
              <a:rPr sz="2000" b="1">
                <a:solidFill>
                  <a:srgbClr val="131313"/>
                </a:solidFill>
                <a:latin typeface="a고딕16"/>
              </a:rPr>
              <a:t>고객이 원하는 모든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②  </a:t>
            </a:r>
            <a:r>
              <a:rPr sz="2000" b="1">
                <a:solidFill>
                  <a:srgbClr val="131313"/>
                </a:solidFill>
                <a:latin typeface="a고딕16"/>
              </a:rPr>
              <a:t>경쟁사가 잘하는 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고딕17"/>
              </a:rPr>
              <a:t>③  </a:t>
            </a:r>
            <a:r>
              <a:rPr sz="2000" b="1">
                <a:solidFill>
                  <a:srgbClr val="FFFFFF"/>
                </a:solidFill>
                <a:latin typeface="a고딕16"/>
              </a:rPr>
              <a:t>고객이 원하고, 경쟁사가 안 하고, 우리가 할 수 있는 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11091672" cy="548640"/>
          </a:xfrm>
          <a:prstGeom prst="rect">
            <a:avLst/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64008" cy="548640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1663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4"/>
              </a:rPr>
              <a:t>정답 </a:t>
            </a:r>
            <a:r>
              <a:rPr sz="1800" b="1">
                <a:solidFill>
                  <a:srgbClr val="1E9E5A"/>
                </a:solidFill>
                <a:latin typeface="a고딕17"/>
              </a:rPr>
              <a:t>세 개가 겹치는 곳</a:t>
            </a:r>
            <a:r>
              <a:rPr sz="1800" b="0">
                <a:solidFill>
                  <a:srgbClr val="131313"/>
                </a:solidFill>
                <a:latin typeface="a고딕14"/>
              </a:rPr>
              <a:t>. 그리고 </a:t>
            </a:r>
            <a:r>
              <a:rPr sz="1800" b="1">
                <a:solidFill>
                  <a:srgbClr val="1E9E5A"/>
                </a:solidFill>
                <a:latin typeface="a고딕17"/>
              </a:rPr>
              <a:t>없는 것만 세지 말고, 있는 걸로 설계</a:t>
            </a:r>
            <a:r>
              <a:rPr sz="1800" b="0">
                <a:solidFill>
                  <a:srgbClr val="131313"/>
                </a:solidFill>
                <a:latin typeface="a고딕14"/>
              </a:rPr>
              <a:t>하기.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</a:rPr>
              <a:t>오늘과 이어지는 점  </a:t>
            </a:r>
            <a:r>
              <a:rPr sz="1600" b="0">
                <a:solidFill>
                  <a:srgbClr val="6B6B6B"/>
                </a:solidFill>
                <a:latin typeface="a고딕14"/>
              </a:rPr>
              <a:t>오늘 트렌드 분석도 "우리 고객에게 나타난 신호"에서 출발합니다</a:t>
            </a:r>
          </a:p>
        </p:txBody>
      </p:sp>
    </p:spTree>
    <p:extLst>
      <p:ext uri="{BB962C8B-B14F-4D97-AF65-F5344CB8AC3E}">
        <p14:creationId xmlns:p14="http://schemas.microsoft.com/office/powerpoint/2010/main" val="1328585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표현 니즈 vs 잠재 니즈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 4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고딕17"/>
              </a:rPr>
              <a:t>첫 PT를 앞둔 지은 씨가 자켓을 사는 진짜 이유(잠재 니즈)는?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①  </a:t>
            </a:r>
            <a:r>
              <a:rPr sz="2000" b="1">
                <a:solidFill>
                  <a:srgbClr val="131313"/>
                </a:solidFill>
                <a:latin typeface="a고딕16"/>
              </a:rPr>
              <a:t>할인을 받고 싶어서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②  </a:t>
            </a:r>
            <a:r>
              <a:rPr sz="2000" b="1">
                <a:solidFill>
                  <a:srgbClr val="131313"/>
                </a:solidFill>
                <a:latin typeface="a고딕16"/>
              </a:rPr>
              <a:t>출근용 옷이 필요해서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③  </a:t>
            </a:r>
            <a:r>
              <a:rPr sz="2000" b="1">
                <a:solidFill>
                  <a:srgbClr val="131313"/>
                </a:solidFill>
                <a:latin typeface="a고딕16"/>
              </a:rPr>
              <a:t>회의실에서 믿음직해 보이고 싶어서</a:t>
            </a:r>
          </a:p>
        </p:txBody>
      </p:sp>
    </p:spTree>
    <p:extLst>
      <p:ext uri="{BB962C8B-B14F-4D97-AF65-F5344CB8AC3E}">
        <p14:creationId xmlns:p14="http://schemas.microsoft.com/office/powerpoint/2010/main" val="1125715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표현 니즈 vs 잠재 니즈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 4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고딕17"/>
              </a:rPr>
              <a:t>첫 PT를 앞둔 지은 씨가 자켓을 사는 진짜 이유(잠재 니즈)는?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①  </a:t>
            </a:r>
            <a:r>
              <a:rPr sz="2000" b="1">
                <a:solidFill>
                  <a:srgbClr val="131313"/>
                </a:solidFill>
                <a:latin typeface="a고딕16"/>
              </a:rPr>
              <a:t>할인을 받고 싶어서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②  </a:t>
            </a:r>
            <a:r>
              <a:rPr sz="2000" b="1">
                <a:solidFill>
                  <a:srgbClr val="131313"/>
                </a:solidFill>
                <a:latin typeface="a고딕16"/>
              </a:rPr>
              <a:t>출근용 옷이 필요해서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고딕17"/>
              </a:rPr>
              <a:t>③  </a:t>
            </a:r>
            <a:r>
              <a:rPr sz="2000" b="1">
                <a:solidFill>
                  <a:srgbClr val="FFFFFF"/>
                </a:solidFill>
                <a:latin typeface="a고딕16"/>
              </a:rPr>
              <a:t>회의실에서 믿음직해 보이고 싶어서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11091672" cy="548640"/>
          </a:xfrm>
          <a:prstGeom prst="rect">
            <a:avLst/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64008" cy="548640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1663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4"/>
              </a:rPr>
              <a:t>정답 </a:t>
            </a:r>
            <a:r>
              <a:rPr sz="1800" b="1">
                <a:solidFill>
                  <a:srgbClr val="1E9E5A"/>
                </a:solidFill>
                <a:latin typeface="a고딕17"/>
              </a:rPr>
              <a:t>믿음직해 보이고 싶어서</a:t>
            </a:r>
            <a:r>
              <a:rPr sz="1800" b="0">
                <a:solidFill>
                  <a:srgbClr val="131313"/>
                </a:solidFill>
                <a:latin typeface="a고딕14"/>
              </a:rPr>
              <a:t>. 자켓이 아니라 </a:t>
            </a:r>
            <a:r>
              <a:rPr sz="1800" b="1">
                <a:solidFill>
                  <a:srgbClr val="1E9E5A"/>
                </a:solidFill>
                <a:latin typeface="a고딕17"/>
              </a:rPr>
              <a:t>자신감</a:t>
            </a:r>
            <a:r>
              <a:rPr sz="1800" b="0">
                <a:solidFill>
                  <a:srgbClr val="131313"/>
                </a:solidFill>
                <a:latin typeface="a고딕14"/>
              </a:rPr>
              <a:t>을 팝니다. 할인으로만 팔면 가격 싸움!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</a:rPr>
              <a:t>오늘과 이어지는 점  </a:t>
            </a:r>
            <a:r>
              <a:rPr sz="1600" b="0">
                <a:solidFill>
                  <a:srgbClr val="6B6B6B"/>
                </a:solidFill>
                <a:latin typeface="a고딕14"/>
              </a:rPr>
              <a:t>오늘 인사이트도 "좋아할 것이다"가 아니라 "이런 상황에 있다"로 씁니다</a:t>
            </a:r>
          </a:p>
        </p:txBody>
      </p:sp>
    </p:spTree>
    <p:extLst>
      <p:ext uri="{BB962C8B-B14F-4D97-AF65-F5344CB8AC3E}">
        <p14:creationId xmlns:p14="http://schemas.microsoft.com/office/powerpoint/2010/main" val="1553333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고객 여정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 5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고딕17"/>
              </a:rPr>
              <a:t>감정 곡선이 가장 낮은 곳은 무엇을 뜻할까요?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①  </a:t>
            </a:r>
            <a:r>
              <a:rPr sz="2000" b="1">
                <a:solidFill>
                  <a:srgbClr val="131313"/>
                </a:solidFill>
                <a:latin typeface="a고딕16"/>
              </a:rPr>
              <a:t>그 단계는 포기한다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②  </a:t>
            </a:r>
            <a:r>
              <a:rPr sz="2000" b="1">
                <a:solidFill>
                  <a:srgbClr val="131313"/>
                </a:solidFill>
                <a:latin typeface="a고딕16"/>
              </a:rPr>
              <a:t>프로모션이 들어갈 자리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③  </a:t>
            </a:r>
            <a:r>
              <a:rPr sz="2000" b="1">
                <a:solidFill>
                  <a:srgbClr val="131313"/>
                </a:solidFill>
                <a:latin typeface="a고딕16"/>
              </a:rPr>
              <a:t>고객이 가장 만족한 곳</a:t>
            </a:r>
          </a:p>
        </p:txBody>
      </p:sp>
    </p:spTree>
    <p:extLst>
      <p:ext uri="{BB962C8B-B14F-4D97-AF65-F5344CB8AC3E}">
        <p14:creationId xmlns:p14="http://schemas.microsoft.com/office/powerpoint/2010/main" val="1591062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고객 여정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 5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고딕17"/>
              </a:rPr>
              <a:t>감정 곡선이 가장 낮은 곳은 무엇을 뜻할까요?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①  </a:t>
            </a:r>
            <a:r>
              <a:rPr sz="2000" b="1">
                <a:solidFill>
                  <a:srgbClr val="131313"/>
                </a:solidFill>
                <a:latin typeface="a고딕16"/>
              </a:rPr>
              <a:t>그 단계는 포기한다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고딕17"/>
              </a:rPr>
              <a:t>②  </a:t>
            </a:r>
            <a:r>
              <a:rPr sz="2000" b="1">
                <a:solidFill>
                  <a:srgbClr val="FFFFFF"/>
                </a:solidFill>
                <a:latin typeface="a고딕16"/>
              </a:rPr>
              <a:t>프로모션이 들어갈 자리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③  </a:t>
            </a:r>
            <a:r>
              <a:rPr sz="2000" b="1">
                <a:solidFill>
                  <a:srgbClr val="131313"/>
                </a:solidFill>
                <a:latin typeface="a고딕16"/>
              </a:rPr>
              <a:t>고객이 가장 만족한 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11091672" cy="548640"/>
          </a:xfrm>
          <a:prstGeom prst="rect">
            <a:avLst/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64008" cy="548640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1663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4"/>
              </a:rPr>
              <a:t>정답 </a:t>
            </a:r>
            <a:r>
              <a:rPr sz="1800" b="1">
                <a:solidFill>
                  <a:srgbClr val="1E9E5A"/>
                </a:solidFill>
                <a:latin typeface="a고딕17"/>
              </a:rPr>
              <a:t>프로모션이 들어갈 자리</a:t>
            </a:r>
            <a:r>
              <a:rPr sz="1800" b="0">
                <a:solidFill>
                  <a:srgbClr val="131313"/>
                </a:solidFill>
                <a:latin typeface="a고딕14"/>
              </a:rPr>
              <a:t>. 백화점에서는 주로 </a:t>
            </a:r>
            <a:r>
              <a:rPr sz="1800" b="1">
                <a:solidFill>
                  <a:srgbClr val="1E9E5A"/>
                </a:solidFill>
                <a:latin typeface="a고딕17"/>
              </a:rPr>
              <a:t>주차와 계산 대기</a:t>
            </a:r>
            <a:r>
              <a:rPr sz="1800" b="0">
                <a:solidFill>
                  <a:srgbClr val="131313"/>
                </a:solidFill>
                <a:latin typeface="a고딕14"/>
              </a:rPr>
              <a:t>. 대기를 없애지 말고 체험으로!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</a:rPr>
              <a:t>오늘과 이어지는 점  </a:t>
            </a:r>
            <a:r>
              <a:rPr sz="1600" b="0">
                <a:solidFill>
                  <a:srgbClr val="6B6B6B"/>
                </a:solidFill>
                <a:latin typeface="a고딕14"/>
              </a:rPr>
              <a:t>오늘 IMC 고객 여정에서도 "어디서 끊기는가"를 찾습니다</a:t>
            </a:r>
          </a:p>
        </p:txBody>
      </p:sp>
    </p:spTree>
    <p:extLst>
      <p:ext uri="{BB962C8B-B14F-4D97-AF65-F5344CB8AC3E}">
        <p14:creationId xmlns:p14="http://schemas.microsoft.com/office/powerpoint/2010/main" val="1436370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목표와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 6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고딕17"/>
              </a:rPr>
              <a:t>사람을 오게 하려고 연 행사를 "오늘 매출"로 평가하면?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①  </a:t>
            </a:r>
            <a:r>
              <a:rPr sz="2000" b="1">
                <a:solidFill>
                  <a:srgbClr val="131313"/>
                </a:solidFill>
                <a:latin typeface="a고딕16"/>
              </a:rPr>
              <a:t>정확한 평가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②  </a:t>
            </a:r>
            <a:r>
              <a:rPr sz="2000" b="1">
                <a:solidFill>
                  <a:srgbClr val="131313"/>
                </a:solidFill>
                <a:latin typeface="a고딕16"/>
              </a:rPr>
              <a:t>억울한 실패로 기록된다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③  </a:t>
            </a:r>
            <a:r>
              <a:rPr sz="2000" b="1">
                <a:solidFill>
                  <a:srgbClr val="131313"/>
                </a:solidFill>
                <a:latin typeface="a고딕16"/>
              </a:rPr>
              <a:t>대성공으로 기록된다</a:t>
            </a:r>
          </a:p>
        </p:txBody>
      </p:sp>
    </p:spTree>
    <p:extLst>
      <p:ext uri="{BB962C8B-B14F-4D97-AF65-F5344CB8AC3E}">
        <p14:creationId xmlns:p14="http://schemas.microsoft.com/office/powerpoint/2010/main" val="1691190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목표와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복습 퀴즈 6 /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고딕17"/>
              </a:rPr>
              <a:t>사람을 오게 하려고 연 행사를 "오늘 매출"로 평가하면?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①  </a:t>
            </a:r>
            <a:r>
              <a:rPr sz="2000" b="1">
                <a:solidFill>
                  <a:srgbClr val="131313"/>
                </a:solidFill>
                <a:latin typeface="a고딕16"/>
              </a:rPr>
              <a:t>정확한 평가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고딕17"/>
              </a:rPr>
              <a:t>②  </a:t>
            </a:r>
            <a:r>
              <a:rPr sz="2000" b="1">
                <a:solidFill>
                  <a:srgbClr val="FFFFFF"/>
                </a:solidFill>
                <a:latin typeface="a고딕16"/>
              </a:rPr>
              <a:t>억울한 실패로 기록된다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③  </a:t>
            </a:r>
            <a:r>
              <a:rPr sz="2000" b="1">
                <a:solidFill>
                  <a:srgbClr val="131313"/>
                </a:solidFill>
                <a:latin typeface="a고딕16"/>
              </a:rPr>
              <a:t>대성공으로 기록된다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11091672" cy="548640"/>
          </a:xfrm>
          <a:prstGeom prst="rect">
            <a:avLst/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64008" cy="548640"/>
          </a:xfrm>
          <a:prstGeom prst="rect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1663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4"/>
              </a:rPr>
              <a:t>정답 </a:t>
            </a:r>
            <a:r>
              <a:rPr sz="1800" b="1">
                <a:solidFill>
                  <a:srgbClr val="1E9E5A"/>
                </a:solidFill>
                <a:latin typeface="a고딕17"/>
              </a:rPr>
              <a:t>억울한 실패</a:t>
            </a:r>
            <a:r>
              <a:rPr sz="1800" b="0">
                <a:solidFill>
                  <a:srgbClr val="131313"/>
                </a:solidFill>
                <a:latin typeface="a고딕14"/>
              </a:rPr>
              <a:t>. 주 목적 1개 + 부 목적 1개, 목표는 </a:t>
            </a:r>
            <a:r>
              <a:rPr sz="1800" b="1">
                <a:solidFill>
                  <a:srgbClr val="1E9E5A"/>
                </a:solidFill>
                <a:latin typeface="a고딕17"/>
              </a:rPr>
              <a:t>나중에 채점할 수 있게</a:t>
            </a:r>
            <a:r>
              <a:rPr sz="1800" b="0">
                <a:solidFill>
                  <a:srgbClr val="131313"/>
                </a:solidFill>
                <a:latin typeface="a고딕14"/>
              </a:rPr>
              <a:t>(SMART).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</a:rPr>
              <a:t>오늘과 이어지는 점  </a:t>
            </a:r>
            <a:r>
              <a:rPr sz="1600" b="0">
                <a:solidFill>
                  <a:srgbClr val="6B6B6B"/>
                </a:solidFill>
                <a:latin typeface="a고딕14"/>
              </a:rPr>
              <a:t>오늘 캠페인도 매출로만 재면 거의 항상 실패로 나옵니다</a:t>
            </a:r>
          </a:p>
        </p:txBody>
      </p:sp>
    </p:spTree>
    <p:extLst>
      <p:ext uri="{BB962C8B-B14F-4D97-AF65-F5344CB8AC3E}">
        <p14:creationId xmlns:p14="http://schemas.microsoft.com/office/powerpoint/2010/main" val="960025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어제의 인사이트, 오늘 이렇게 씁니다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어제 → 오늘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828800"/>
            <a:ext cx="5212080" cy="45720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28232" y="1828800"/>
            <a:ext cx="5212080" cy="45720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82880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고딕16"/>
              </a:rPr>
              <a:t>어제 · 프로모션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182880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고딕16"/>
              </a:rPr>
              <a:t>오늘 · 캠페인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377440"/>
            <a:ext cx="5029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6B6B6B"/>
                </a:solidFill>
                <a:latin typeface="a고딕14"/>
              </a:rPr>
              <a:t>고객이 말하는 것 말고 속마음(잠재 니즈)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377440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ED1C24"/>
                </a:solidFill>
                <a:latin typeface="a고딕14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377440"/>
            <a:ext cx="5029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</a:rPr>
              <a:t>인사이트: "[상황]일 때 [행동]하는데 [이유] 때문에 [불만·욕구]"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2980944"/>
            <a:ext cx="1109167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3017520"/>
            <a:ext cx="5029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6B6B6B"/>
                </a:solidFill>
                <a:latin typeface="a고딕14"/>
              </a:rPr>
              <a:t>"백화점은 살 게 있을 때만 가요"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017520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ED1C24"/>
                </a:solidFill>
                <a:latin typeface="a고딕14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017520"/>
            <a:ext cx="5029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</a:rPr>
              <a:t>"안 사도 와도 되는 곳"이라는 허락을 주는 캠페인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621024"/>
            <a:ext cx="1109167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3657600"/>
            <a:ext cx="5029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6B6B6B"/>
                </a:solidFill>
                <a:latin typeface="a고딕14"/>
              </a:rPr>
              <a:t>주 목적 1개 + 부 목적 1개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657600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ED1C24"/>
                </a:solidFill>
                <a:latin typeface="a고딕14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657600"/>
            <a:ext cx="5029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</a:rPr>
              <a:t>주 목표 1개 + 부 목표 1개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261104"/>
            <a:ext cx="1109167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4297680"/>
            <a:ext cx="5029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6B6B6B"/>
                </a:solidFill>
                <a:latin typeface="a고딕14"/>
              </a:rPr>
              <a:t>4단계별로 다른 KPI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297680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ED1C24"/>
                </a:solidFill>
                <a:latin typeface="a고딕14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297680"/>
            <a:ext cx="5029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</a:rPr>
              <a:t>퍼널(인지 · 관심 · 행동 · 전환)별 KPI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4901184"/>
            <a:ext cx="1109167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85800" y="4937760"/>
            <a:ext cx="5029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6B6B6B"/>
                </a:solidFill>
                <a:latin typeface="a고딕14"/>
              </a:rPr>
              <a:t>행사 하나 = 프로모션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4937760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ED1C24"/>
                </a:solidFill>
                <a:latin typeface="a고딕14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937760"/>
            <a:ext cx="5029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</a:rPr>
              <a:t>여러 프로모션을 품는 우산 = 캠페인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5541264"/>
            <a:ext cx="1109167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48640" y="5760720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5760720"/>
            <a:ext cx="73152" cy="64008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57607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131313"/>
                </a:solidFill>
                <a:latin typeface="a고딕17"/>
              </a:rPr>
              <a:t>케이스는 </a:t>
            </a:r>
            <a:r>
              <a:rPr sz="2200" b="1">
                <a:solidFill>
                  <a:srgbClr val="ED1C24"/>
                </a:solidFill>
                <a:latin typeface="a고딕17"/>
              </a:rPr>
              <a:t>새로</a:t>
            </a:r>
            <a:r>
              <a:rPr sz="2200" b="1">
                <a:solidFill>
                  <a:srgbClr val="131313"/>
                </a:solidFill>
                <a:latin typeface="a고딕17"/>
              </a:rPr>
              <a:t>, 생각하는 법은 </a:t>
            </a:r>
            <a:r>
              <a:rPr sz="2200" b="1">
                <a:solidFill>
                  <a:srgbClr val="ED1C24"/>
                </a:solidFill>
                <a:latin typeface="a고딕17"/>
              </a:rPr>
              <a:t>그대로</a:t>
            </a:r>
            <a:r>
              <a:rPr sz="2200" b="1">
                <a:solidFill>
                  <a:srgbClr val="131313"/>
                </a:solidFill>
                <a:latin typeface="a고딕17"/>
              </a:rPr>
              <a:t>. 오늘은 새 케이스로 캠페인을 만듭니다.</a:t>
            </a:r>
          </a:p>
        </p:txBody>
      </p:sp>
    </p:spTree>
    <p:extLst>
      <p:ext uri="{BB962C8B-B14F-4D97-AF65-F5344CB8AC3E}">
        <p14:creationId xmlns:p14="http://schemas.microsoft.com/office/powerpoint/2010/main" val="1723571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3-2 캠페인 기획 실습  ·  안내자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시작 전에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3-2는 새 과목이 아니라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3-1 다섯 걸음을 길게 늘인 것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입니다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3840480"/>
                <a:gridCol w="42336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3-1 다섯 걸음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3-2 실습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3-2에서 새로 붙은 이유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(없음)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① 트렌드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캠페인은 몇 달 가니까, 요즘 사람들이 어디로 움직이는지 먼저 본다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걸음 1 목표 · 걸음 2 손님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② 목표 · 타깃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같음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걸음 3 살펴보기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③ 인사이트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손님의 “속마음”까지 한 칸 더 들어간다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걸음 4 컨셉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④ 캠페인명·슬로건 · ⑤ 스토리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오래 가니까 기억에 남을 이름과 이야기가 필요하다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걸음 5 계획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⑥ 채널 · ⑦ 고객 여정 · ⑧ 운영 · ⑨ 예산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계획을 네 칸으로 잘게 나눈다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걸음 5 성적표 · 6교시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⑩ KPI · ⑪ 기획안 1장 · ⑫ 발표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같음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한 줄로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3-2 = 3-1 다섯 걸음 + 트렌드 · 이름과 이야기 · 잘게 나눈 계획. 이유는 “캠페인은 프로모션보다 길다” 하나입니다.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851505"/>
            <a:ext cx="86868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 err="1">
                <a:solidFill>
                  <a:srgbClr val="131313"/>
                </a:solidFill>
                <a:latin typeface="a타이틀고딕3"/>
                <a:ea typeface="a타이틀고딕3"/>
              </a:rPr>
              <a:t>캠페인일까</a:t>
            </a:r>
            <a:r>
              <a:rPr sz="2600" b="1" dirty="0">
                <a:solidFill>
                  <a:srgbClr val="131313"/>
                </a:solidFill>
                <a:latin typeface="a타이틀고딕3"/>
                <a:ea typeface="a타이틀고딕3"/>
              </a:rPr>
              <a:t>, </a:t>
            </a:r>
            <a:r>
              <a:rPr sz="2600" b="1" dirty="0" err="1" smtClean="0">
                <a:solidFill>
                  <a:srgbClr val="131313"/>
                </a:solidFill>
                <a:latin typeface="a타이틀고딕3"/>
                <a:ea typeface="a타이틀고딕3"/>
              </a:rPr>
              <a:t>프로모션일까</a:t>
            </a:r>
            <a:r>
              <a:rPr lang="en-US" sz="2600" b="1" dirty="0" smtClean="0">
                <a:solidFill>
                  <a:srgbClr val="131313"/>
                </a:solidFill>
                <a:latin typeface="a타이틀고딕3"/>
                <a:ea typeface="a타이틀고딕3"/>
              </a:rPr>
              <a:t>?</a:t>
            </a:r>
            <a:endParaRPr sz="2600" b="1" dirty="0">
              <a:solidFill>
                <a:srgbClr val="131313"/>
              </a:solidFill>
              <a:latin typeface="a타이틀고딕3"/>
              <a:ea typeface="a타이틀고딕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열 가지 활동을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캠페인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과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프로모션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으로 나눠 보세요.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11091672" cy="36576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1874519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1874519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dirty="0">
                <a:solidFill>
                  <a:srgbClr val="131313"/>
                </a:solidFill>
                <a:latin typeface="a고딕16"/>
                <a:ea typeface="a고딕16"/>
              </a:rPr>
              <a:t>3개월 </a:t>
            </a:r>
            <a:r>
              <a:rPr sz="1700" b="1" dirty="0" err="1">
                <a:solidFill>
                  <a:srgbClr val="131313"/>
                </a:solidFill>
                <a:latin typeface="a고딕16"/>
                <a:ea typeface="a고딕16"/>
              </a:rPr>
              <a:t>동안</a:t>
            </a:r>
            <a:r>
              <a:rPr sz="1700" b="1" dirty="0">
                <a:solidFill>
                  <a:srgbClr val="131313"/>
                </a:solidFill>
                <a:latin typeface="a고딕16"/>
                <a:ea typeface="a고딕16"/>
              </a:rPr>
              <a:t> </a:t>
            </a:r>
            <a:r>
              <a:rPr sz="1700" b="1" dirty="0" err="1">
                <a:solidFill>
                  <a:srgbClr val="131313"/>
                </a:solidFill>
                <a:latin typeface="a고딕16"/>
                <a:ea typeface="a고딕16"/>
              </a:rPr>
              <a:t>같은</a:t>
            </a:r>
            <a:r>
              <a:rPr sz="1700" b="1" dirty="0">
                <a:solidFill>
                  <a:srgbClr val="131313"/>
                </a:solidFill>
                <a:latin typeface="a고딕16"/>
                <a:ea typeface="a고딕16"/>
              </a:rPr>
              <a:t> </a:t>
            </a:r>
            <a:r>
              <a:rPr sz="1700" b="1" dirty="0" err="1">
                <a:solidFill>
                  <a:srgbClr val="131313"/>
                </a:solidFill>
                <a:latin typeface="a고딕16"/>
                <a:ea typeface="a고딕16"/>
              </a:rPr>
              <a:t>메시지로</a:t>
            </a:r>
            <a:r>
              <a:rPr sz="1700" b="1" dirty="0">
                <a:solidFill>
                  <a:srgbClr val="131313"/>
                </a:solidFill>
                <a:latin typeface="a고딕16"/>
                <a:ea typeface="a고딕16"/>
              </a:rPr>
              <a:t> </a:t>
            </a:r>
            <a:r>
              <a:rPr sz="1700" b="1" dirty="0" err="1">
                <a:solidFill>
                  <a:srgbClr val="131313"/>
                </a:solidFill>
                <a:latin typeface="a고딕16"/>
                <a:ea typeface="a고딕16"/>
              </a:rPr>
              <a:t>백화점</a:t>
            </a:r>
            <a:r>
              <a:rPr sz="1700" b="1" dirty="0">
                <a:solidFill>
                  <a:srgbClr val="131313"/>
                </a:solidFill>
                <a:latin typeface="a고딕16"/>
                <a:ea typeface="a고딕16"/>
              </a:rPr>
              <a:t> </a:t>
            </a:r>
            <a:r>
              <a:rPr sz="1700" b="1" dirty="0" err="1">
                <a:solidFill>
                  <a:srgbClr val="131313"/>
                </a:solidFill>
                <a:latin typeface="a고딕16"/>
                <a:ea typeface="a고딕16"/>
              </a:rPr>
              <a:t>이미지를</a:t>
            </a:r>
            <a:r>
              <a:rPr sz="1700" b="1" dirty="0">
                <a:solidFill>
                  <a:srgbClr val="131313"/>
                </a:solidFill>
                <a:latin typeface="a고딕16"/>
                <a:ea typeface="a고딕16"/>
              </a:rPr>
              <a:t> </a:t>
            </a:r>
            <a:r>
              <a:rPr sz="1700" b="1" dirty="0" err="1">
                <a:solidFill>
                  <a:srgbClr val="131313"/>
                </a:solidFill>
                <a:latin typeface="a고딕16"/>
                <a:ea typeface="a고딕16"/>
              </a:rPr>
              <a:t>바꾸는</a:t>
            </a:r>
            <a:r>
              <a:rPr sz="1700" b="1" dirty="0">
                <a:solidFill>
                  <a:srgbClr val="131313"/>
                </a:solidFill>
                <a:latin typeface="a고딕16"/>
                <a:ea typeface="a고딕16"/>
              </a:rPr>
              <a:t> </a:t>
            </a:r>
            <a:r>
              <a:rPr sz="1700" b="1" dirty="0" err="1">
                <a:solidFill>
                  <a:srgbClr val="131313"/>
                </a:solidFill>
                <a:latin typeface="a고딕16"/>
                <a:ea typeface="a고딕16"/>
              </a:rPr>
              <a:t>활동</a:t>
            </a:r>
            <a:endParaRPr sz="1700" b="1" dirty="0">
              <a:solidFill>
                <a:srgbClr val="131313"/>
              </a:solidFill>
              <a:latin typeface="a고딕16"/>
              <a:ea typeface="a고딕16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89720" y="1911095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1911095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295144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229514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295144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이번 주말 한정 전 품목 30% 할인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23317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23317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715768"/>
            <a:ext cx="11091672" cy="36576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271576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2715768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친환경 행동에 포인트를 주는 활동을 1년 넘게 운영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275234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60" y="275234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36391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3136391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3136391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신규 매장 오픈 기념 쿠폰 증정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20" y="31729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24160" y="31729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557015"/>
            <a:ext cx="11091672" cy="36576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355701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3557015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캐릭터를 만들어 장바구니·광고·포장에 몇 년째 사용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9720" y="3593591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24160" y="3593591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97763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3977639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3977639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시즌 끝 재고를 정리하는 클리어런스 세일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89720" y="4014215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424160" y="4014215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398264"/>
            <a:ext cx="11091672" cy="36576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39826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4398264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성과를 인지도·참여·재방문으로 측정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89720" y="44348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424160" y="44348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818888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48188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20" y="4818888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성과를 매출·객단가·구매 전환율로 측정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89720" y="485546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424160" y="485546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239512"/>
            <a:ext cx="11091672" cy="36576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20" y="523951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88720" y="5239512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여러 행사와 콘텐츠를 하나로 묶는 상위 활동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89720" y="527608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424160" y="527608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660136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31520" y="566013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88720" y="566013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1+1 행사로 이번 주 매출 올리기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189720" y="5696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24160" y="5696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31313"/>
                </a:solidFill>
                <a:latin typeface="a고딕16"/>
                <a:ea typeface="a고딕16"/>
              </a:rPr>
              <a:t>프로모션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48640" y="6172200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판단 기준  </a:t>
            </a:r>
            <a:r>
              <a:rPr sz="1500" b="0">
                <a:solidFill>
                  <a:srgbClr val="6B6B6B"/>
                </a:solidFill>
                <a:latin typeface="a고딕16"/>
                <a:ea typeface="a고딕16"/>
              </a:rPr>
              <a:t>기간은 길까, 짧을까  ·  목적은 이미지일까, 매출일까  ·  무엇으로 잴까</a:t>
            </a:r>
          </a:p>
        </p:txBody>
      </p:sp>
      <p:sp>
        <p:nvSpPr>
          <p:cNvPr id="73" name="Rounded Rectangle 24"/>
          <p:cNvSpPr/>
          <p:nvPr/>
        </p:nvSpPr>
        <p:spPr>
          <a:xfrm>
            <a:off x="9189720" y="1911095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a고딕16"/>
                <a:ea typeface="a고딕16"/>
              </a:rPr>
              <a:t>캠페인</a:t>
            </a:r>
            <a:endParaRPr sz="1400" b="1" dirty="0">
              <a:solidFill>
                <a:srgbClr val="FFFFFF"/>
              </a:solidFill>
              <a:latin typeface="a고딕16"/>
              <a:ea typeface="a고딕16"/>
            </a:endParaRPr>
          </a:p>
        </p:txBody>
      </p:sp>
      <p:sp>
        <p:nvSpPr>
          <p:cNvPr id="74" name="Rounded Rectangle 31"/>
          <p:cNvSpPr/>
          <p:nvPr/>
        </p:nvSpPr>
        <p:spPr>
          <a:xfrm>
            <a:off x="10424160" y="23317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a고딕16"/>
                <a:ea typeface="a고딕16"/>
              </a:rPr>
              <a:t>프로모션</a:t>
            </a:r>
            <a:endParaRPr sz="1400" b="1" dirty="0">
              <a:solidFill>
                <a:srgbClr val="FFFFFF"/>
              </a:solidFill>
              <a:latin typeface="a고딕16"/>
              <a:ea typeface="a고딕16"/>
            </a:endParaRPr>
          </a:p>
        </p:txBody>
      </p:sp>
      <p:sp>
        <p:nvSpPr>
          <p:cNvPr id="77" name="Rounded Rectangle 24"/>
          <p:cNvSpPr/>
          <p:nvPr/>
        </p:nvSpPr>
        <p:spPr>
          <a:xfrm>
            <a:off x="9205655" y="275234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a고딕16"/>
                <a:ea typeface="a고딕16"/>
              </a:rPr>
              <a:t>캠페인</a:t>
            </a:r>
            <a:endParaRPr sz="1400" b="1" dirty="0">
              <a:solidFill>
                <a:srgbClr val="FFFFFF"/>
              </a:solidFill>
              <a:latin typeface="a고딕16"/>
              <a:ea typeface="a고딕16"/>
            </a:endParaRPr>
          </a:p>
        </p:txBody>
      </p:sp>
      <p:sp>
        <p:nvSpPr>
          <p:cNvPr id="80" name="Rounded Rectangle 31"/>
          <p:cNvSpPr/>
          <p:nvPr/>
        </p:nvSpPr>
        <p:spPr>
          <a:xfrm>
            <a:off x="10424160" y="3184433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a고딕16"/>
                <a:ea typeface="a고딕16"/>
              </a:rPr>
              <a:t>프로모션</a:t>
            </a:r>
            <a:endParaRPr sz="1400" b="1" dirty="0">
              <a:solidFill>
                <a:srgbClr val="FFFFFF"/>
              </a:solidFill>
              <a:latin typeface="a고딕16"/>
              <a:ea typeface="a고딕16"/>
            </a:endParaRPr>
          </a:p>
        </p:txBody>
      </p:sp>
      <p:sp>
        <p:nvSpPr>
          <p:cNvPr id="82" name="Rounded Rectangle 31"/>
          <p:cNvSpPr/>
          <p:nvPr/>
        </p:nvSpPr>
        <p:spPr>
          <a:xfrm>
            <a:off x="10424160" y="400391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a고딕16"/>
                <a:ea typeface="a고딕16"/>
              </a:rPr>
              <a:t>프로모션</a:t>
            </a:r>
            <a:endParaRPr sz="1400" b="1" dirty="0">
              <a:solidFill>
                <a:srgbClr val="FFFFFF"/>
              </a:solidFill>
              <a:latin typeface="a고딕16"/>
              <a:ea typeface="a고딕16"/>
            </a:endParaRPr>
          </a:p>
        </p:txBody>
      </p:sp>
      <p:sp>
        <p:nvSpPr>
          <p:cNvPr id="83" name="Rounded Rectangle 31"/>
          <p:cNvSpPr/>
          <p:nvPr/>
        </p:nvSpPr>
        <p:spPr>
          <a:xfrm>
            <a:off x="10431080" y="5679629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a고딕16"/>
                <a:ea typeface="a고딕16"/>
              </a:rPr>
              <a:t>프로모션</a:t>
            </a:r>
            <a:endParaRPr sz="1400" b="1" dirty="0">
              <a:solidFill>
                <a:srgbClr val="FFFFFF"/>
              </a:solidFill>
              <a:latin typeface="a고딕16"/>
              <a:ea typeface="a고딕16"/>
            </a:endParaRPr>
          </a:p>
        </p:txBody>
      </p:sp>
      <p:sp>
        <p:nvSpPr>
          <p:cNvPr id="84" name="Rounded Rectangle 31"/>
          <p:cNvSpPr/>
          <p:nvPr/>
        </p:nvSpPr>
        <p:spPr>
          <a:xfrm>
            <a:off x="10424160" y="4855753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a고딕16"/>
                <a:ea typeface="a고딕16"/>
              </a:rPr>
              <a:t>프로모션</a:t>
            </a:r>
            <a:endParaRPr sz="1400" b="1" dirty="0">
              <a:solidFill>
                <a:srgbClr val="FFFFFF"/>
              </a:solidFill>
              <a:latin typeface="a고딕16"/>
              <a:ea typeface="a고딕16"/>
            </a:endParaRPr>
          </a:p>
        </p:txBody>
      </p:sp>
      <p:sp>
        <p:nvSpPr>
          <p:cNvPr id="85" name="Rounded Rectangle 24"/>
          <p:cNvSpPr/>
          <p:nvPr/>
        </p:nvSpPr>
        <p:spPr>
          <a:xfrm>
            <a:off x="9205655" y="3593591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a고딕16"/>
                <a:ea typeface="a고딕16"/>
              </a:rPr>
              <a:t>캠페인</a:t>
            </a:r>
            <a:endParaRPr sz="1400" b="1" dirty="0">
              <a:solidFill>
                <a:srgbClr val="FFFFFF"/>
              </a:solidFill>
              <a:latin typeface="a고딕16"/>
              <a:ea typeface="a고딕16"/>
            </a:endParaRPr>
          </a:p>
        </p:txBody>
      </p:sp>
      <p:sp>
        <p:nvSpPr>
          <p:cNvPr id="86" name="Rounded Rectangle 24"/>
          <p:cNvSpPr/>
          <p:nvPr/>
        </p:nvSpPr>
        <p:spPr>
          <a:xfrm>
            <a:off x="9205655" y="44348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a고딕16"/>
                <a:ea typeface="a고딕16"/>
              </a:rPr>
              <a:t>캠페인</a:t>
            </a:r>
            <a:endParaRPr sz="1400" b="1" dirty="0">
              <a:solidFill>
                <a:srgbClr val="FFFFFF"/>
              </a:solidFill>
              <a:latin typeface="a고딕16"/>
              <a:ea typeface="a고딕16"/>
            </a:endParaRPr>
          </a:p>
        </p:txBody>
      </p:sp>
      <p:sp>
        <p:nvSpPr>
          <p:cNvPr id="87" name="Rounded Rectangle 24"/>
          <p:cNvSpPr/>
          <p:nvPr/>
        </p:nvSpPr>
        <p:spPr>
          <a:xfrm>
            <a:off x="9191422" y="527608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a고딕16"/>
                <a:ea typeface="a고딕16"/>
              </a:rPr>
              <a:t>캠페인</a:t>
            </a:r>
            <a:endParaRPr sz="1400" b="1" dirty="0">
              <a:solidFill>
                <a:srgbClr val="FFFFFF"/>
              </a:solidFill>
              <a:latin typeface="a고딕16"/>
              <a:ea typeface="a고딕16"/>
            </a:endParaRPr>
          </a:p>
        </p:txBody>
      </p:sp>
    </p:spTree>
    <p:extLst>
      <p:ext uri="{BB962C8B-B14F-4D97-AF65-F5344CB8AC3E}">
        <p14:creationId xmlns:p14="http://schemas.microsoft.com/office/powerpoint/2010/main" val="35990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77" grpId="0" animBg="1"/>
      <p:bldP spid="80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캠페인일까, 프로모션일까  ·  정답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783080"/>
            <a:ext cx="11091672" cy="411480"/>
          </a:xfrm>
          <a:prstGeom prst="roundRect">
            <a:avLst>
              <a:gd name="adj" fmla="val 12000"/>
            </a:avLst>
          </a:prstGeom>
          <a:solidFill>
            <a:srgbClr val="E3EFE6"/>
          </a:solidFill>
          <a:ln w="12700">
            <a:solidFill>
              <a:srgbClr val="9FC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17830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181051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131313"/>
                </a:solidFill>
                <a:latin typeface="a고딕16"/>
                <a:ea typeface="a고딕16"/>
              </a:rPr>
              <a:t>3개월 </a:t>
            </a:r>
            <a:r>
              <a:rPr sz="1500" b="1" dirty="0" err="1">
                <a:solidFill>
                  <a:srgbClr val="131313"/>
                </a:solidFill>
                <a:latin typeface="a고딕16"/>
                <a:ea typeface="a고딕16"/>
              </a:rPr>
              <a:t>동안</a:t>
            </a:r>
            <a:r>
              <a:rPr sz="1500" b="1" dirty="0">
                <a:solidFill>
                  <a:srgbClr val="131313"/>
                </a:solidFill>
                <a:latin typeface="a고딕16"/>
                <a:ea typeface="a고딕16"/>
              </a:rPr>
              <a:t> </a:t>
            </a:r>
            <a:r>
              <a:rPr sz="1500" b="1" dirty="0" err="1">
                <a:solidFill>
                  <a:srgbClr val="131313"/>
                </a:solidFill>
                <a:latin typeface="a고딕16"/>
                <a:ea typeface="a고딕16"/>
              </a:rPr>
              <a:t>같은</a:t>
            </a:r>
            <a:r>
              <a:rPr sz="1500" b="1" dirty="0">
                <a:solidFill>
                  <a:srgbClr val="131313"/>
                </a:solidFill>
                <a:latin typeface="a고딕16"/>
                <a:ea typeface="a고딕16"/>
              </a:rPr>
              <a:t> </a:t>
            </a:r>
            <a:r>
              <a:rPr sz="1500" b="1" dirty="0" err="1">
                <a:solidFill>
                  <a:srgbClr val="131313"/>
                </a:solidFill>
                <a:latin typeface="a고딕16"/>
                <a:ea typeface="a고딕16"/>
              </a:rPr>
              <a:t>메시지로</a:t>
            </a:r>
            <a:r>
              <a:rPr sz="1500" b="1" dirty="0">
                <a:solidFill>
                  <a:srgbClr val="131313"/>
                </a:solidFill>
                <a:latin typeface="a고딕16"/>
                <a:ea typeface="a고딕16"/>
              </a:rPr>
              <a:t> </a:t>
            </a:r>
            <a:r>
              <a:rPr sz="1500" b="1" dirty="0" err="1">
                <a:solidFill>
                  <a:srgbClr val="131313"/>
                </a:solidFill>
                <a:latin typeface="a고딕16"/>
                <a:ea typeface="a고딕16"/>
              </a:rPr>
              <a:t>백화점</a:t>
            </a:r>
            <a:r>
              <a:rPr sz="1500" b="1" dirty="0">
                <a:solidFill>
                  <a:srgbClr val="131313"/>
                </a:solidFill>
                <a:latin typeface="a고딕16"/>
                <a:ea typeface="a고딕16"/>
              </a:rPr>
              <a:t> </a:t>
            </a:r>
            <a:r>
              <a:rPr sz="1500" b="1" dirty="0" err="1">
                <a:solidFill>
                  <a:srgbClr val="131313"/>
                </a:solidFill>
                <a:latin typeface="a고딕16"/>
                <a:ea typeface="a고딕16"/>
              </a:rPr>
              <a:t>이미지를</a:t>
            </a:r>
            <a:r>
              <a:rPr sz="1500" b="1" dirty="0">
                <a:solidFill>
                  <a:srgbClr val="131313"/>
                </a:solidFill>
                <a:latin typeface="a고딕16"/>
                <a:ea typeface="a고딕16"/>
              </a:rPr>
              <a:t> </a:t>
            </a:r>
            <a:r>
              <a:rPr sz="1500" b="1" dirty="0" err="1">
                <a:solidFill>
                  <a:srgbClr val="131313"/>
                </a:solidFill>
                <a:latin typeface="a고딕16"/>
                <a:ea typeface="a고딕16"/>
              </a:rPr>
              <a:t>바꾸는</a:t>
            </a:r>
            <a:r>
              <a:rPr sz="1500" b="1" dirty="0">
                <a:solidFill>
                  <a:srgbClr val="131313"/>
                </a:solidFill>
                <a:latin typeface="a고딕16"/>
                <a:ea typeface="a고딕16"/>
              </a:rPr>
              <a:t> </a:t>
            </a:r>
            <a:r>
              <a:rPr sz="1500" b="1" dirty="0" err="1">
                <a:solidFill>
                  <a:srgbClr val="131313"/>
                </a:solidFill>
                <a:latin typeface="a고딕16"/>
                <a:ea typeface="a고딕16"/>
              </a:rPr>
              <a:t>활동</a:t>
            </a:r>
            <a:endParaRPr sz="1500" b="1" dirty="0">
              <a:solidFill>
                <a:srgbClr val="131313"/>
              </a:solidFill>
              <a:latin typeface="a고딕16"/>
              <a:ea typeface="a고딕16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8720" y="2029967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고딕16"/>
                <a:ea typeface="a고딕16"/>
              </a:rPr>
              <a:t>✓ 정답 — 기간이 길고 목표가 이미지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1837943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24160" y="1837943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A6A6A6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231136"/>
            <a:ext cx="11091672" cy="411480"/>
          </a:xfrm>
          <a:prstGeom prst="roundRect">
            <a:avLst>
              <a:gd name="adj" fmla="val 12000"/>
            </a:avLst>
          </a:prstGeom>
          <a:solidFill>
            <a:srgbClr val="E3EFE6"/>
          </a:solidFill>
          <a:ln w="12700">
            <a:solidFill>
              <a:srgbClr val="9FC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2231136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2258568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31313"/>
                </a:solidFill>
                <a:latin typeface="a고딕16"/>
                <a:ea typeface="a고딕16"/>
              </a:rPr>
              <a:t>이번 주말 한정 전 품목 30% 할인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2478024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고딕16"/>
                <a:ea typeface="a고딕16"/>
              </a:rPr>
              <a:t>✓ 정답 — 단기간, 즉각적 매출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228600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A6A6A6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24160" y="228600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679191"/>
            <a:ext cx="11091672" cy="411480"/>
          </a:xfrm>
          <a:prstGeom prst="roundRect">
            <a:avLst>
              <a:gd name="adj" fmla="val 12000"/>
            </a:avLst>
          </a:prstGeom>
          <a:solidFill>
            <a:srgbClr val="E3EFE6"/>
          </a:solidFill>
          <a:ln w="12700">
            <a:solidFill>
              <a:srgbClr val="9FC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2679191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2706623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31313"/>
                </a:solidFill>
                <a:latin typeface="a고딕16"/>
                <a:ea typeface="a고딕16"/>
              </a:rPr>
              <a:t>친환경 행동에 포인트를 주는 활동을 1년 넘게 운영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2926079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고딕16"/>
                <a:ea typeface="a고딕16"/>
              </a:rPr>
              <a:t>✓ 정답 — 오래 이어지며 관계를 만듦 (Green Friends)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273405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24160" y="273405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A6A6A6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127248"/>
            <a:ext cx="11091672" cy="411480"/>
          </a:xfrm>
          <a:prstGeom prst="roundRect">
            <a:avLst>
              <a:gd name="adj" fmla="val 12000"/>
            </a:avLst>
          </a:prstGeom>
          <a:solidFill>
            <a:srgbClr val="E3EFE6"/>
          </a:solidFill>
          <a:ln w="12700">
            <a:solidFill>
              <a:srgbClr val="9FC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312724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3154679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31313"/>
                </a:solidFill>
                <a:latin typeface="a고딕16"/>
                <a:ea typeface="a고딕16"/>
              </a:rPr>
              <a:t>신규 매장 오픈 기념 쿠폰 증정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3374136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고딕16"/>
                <a:ea typeface="a고딕16"/>
              </a:rPr>
              <a:t>✓ 정답 — 캠페인 우산 아래의 개별 행사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20" y="31821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A6A6A6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24160" y="31821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a고딕16"/>
                <a:ea typeface="a고딕16"/>
              </a:rPr>
              <a:t>프로모션</a:t>
            </a:r>
            <a:endParaRPr sz="1400" b="1" dirty="0">
              <a:solidFill>
                <a:srgbClr val="FFFFFF"/>
              </a:solidFill>
              <a:latin typeface="a고딕16"/>
              <a:ea typeface="a고딕16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48640" y="3575304"/>
            <a:ext cx="11091672" cy="411480"/>
          </a:xfrm>
          <a:prstGeom prst="roundRect">
            <a:avLst>
              <a:gd name="adj" fmla="val 12000"/>
            </a:avLst>
          </a:prstGeom>
          <a:solidFill>
            <a:srgbClr val="E3EFE6"/>
          </a:solidFill>
          <a:ln w="12700">
            <a:solidFill>
              <a:srgbClr val="9FC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3575304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3602736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31313"/>
                </a:solidFill>
                <a:latin typeface="a고딕16"/>
                <a:ea typeface="a고딕16"/>
              </a:rPr>
              <a:t>캐릭터를 만들어 장바구니·광고·포장에 몇 년째 사용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3822191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고딕16"/>
                <a:ea typeface="a고딕16"/>
              </a:rPr>
              <a:t>✓ 정답 — 브랜드 자산을 쌓음 (신세계)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89720" y="36301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424160" y="36301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A6A6A6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023360"/>
            <a:ext cx="11091672" cy="411480"/>
          </a:xfrm>
          <a:prstGeom prst="roundRect">
            <a:avLst>
              <a:gd name="adj" fmla="val 12000"/>
            </a:avLst>
          </a:prstGeom>
          <a:solidFill>
            <a:srgbClr val="E3EFE6"/>
          </a:solidFill>
          <a:ln w="12700">
            <a:solidFill>
              <a:srgbClr val="9FC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02336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405079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31313"/>
                </a:solidFill>
                <a:latin typeface="a고딕16"/>
                <a:ea typeface="a고딕16"/>
              </a:rPr>
              <a:t>시즌 끝 재고를 정리하는 클리어런스 세일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4270248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고딕16"/>
                <a:ea typeface="a고딕16"/>
              </a:rPr>
              <a:t>✓ 정답 — 재고 정리를 위한 단기 할인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89720" y="407822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A6A6A6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24160" y="407822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4471416"/>
            <a:ext cx="11091672" cy="411480"/>
          </a:xfrm>
          <a:prstGeom prst="roundRect">
            <a:avLst>
              <a:gd name="adj" fmla="val 12000"/>
            </a:avLst>
          </a:prstGeom>
          <a:solidFill>
            <a:srgbClr val="E3EFE6"/>
          </a:solidFill>
          <a:ln w="12700">
            <a:solidFill>
              <a:srgbClr val="9FC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1520" y="4471416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" y="4498848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31313"/>
                </a:solidFill>
                <a:latin typeface="a고딕16"/>
                <a:ea typeface="a고딕16"/>
              </a:rPr>
              <a:t>성과를 인지도·참여·재방문으로 측정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" y="4718304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고딕16"/>
                <a:ea typeface="a고딕16"/>
              </a:rPr>
              <a:t>✓ 정답 — 브랜드 지표로 먼저 잼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89720" y="4526279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24160" y="4526279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A6A6A6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4919472"/>
            <a:ext cx="11091672" cy="411480"/>
          </a:xfrm>
          <a:prstGeom prst="roundRect">
            <a:avLst>
              <a:gd name="adj" fmla="val 12000"/>
            </a:avLst>
          </a:prstGeom>
          <a:solidFill>
            <a:srgbClr val="E3EFE6"/>
          </a:solidFill>
          <a:ln w="12700">
            <a:solidFill>
              <a:srgbClr val="9FC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491947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88720" y="4946904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31313"/>
                </a:solidFill>
                <a:latin typeface="a고딕16"/>
                <a:ea typeface="a고딕16"/>
              </a:rPr>
              <a:t>성과를 매출·객단가·구매 전환율로 측정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88720" y="516636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고딕16"/>
                <a:ea typeface="a고딕16"/>
              </a:rPr>
              <a:t>✓ 정답 — 즉각적 판매 지표로 잼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89720" y="497433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A6A6A6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424160" y="497433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8640" y="5367528"/>
            <a:ext cx="11091672" cy="411480"/>
          </a:xfrm>
          <a:prstGeom prst="roundRect">
            <a:avLst>
              <a:gd name="adj" fmla="val 12000"/>
            </a:avLst>
          </a:prstGeom>
          <a:solidFill>
            <a:srgbClr val="E3EFE6"/>
          </a:solidFill>
          <a:ln w="12700">
            <a:solidFill>
              <a:srgbClr val="9FC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1520" y="536752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88720" y="5394960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31313"/>
                </a:solidFill>
                <a:latin typeface="a고딕16"/>
                <a:ea typeface="a고딕16"/>
              </a:rPr>
              <a:t>여러 행사와 콘텐츠를 하나로 묶는 상위 활동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88720" y="5614416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고딕16"/>
                <a:ea typeface="a고딕16"/>
              </a:rPr>
              <a:t>✓ 정답 — 캠페인은 우산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189720" y="542239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424160" y="542239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A6A6A6"/>
                </a:solidFill>
                <a:latin typeface="a고딕16"/>
                <a:ea typeface="a고딕16"/>
              </a:rPr>
              <a:t>프로모션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" y="5815584"/>
            <a:ext cx="11091672" cy="411480"/>
          </a:xfrm>
          <a:prstGeom prst="roundRect">
            <a:avLst>
              <a:gd name="adj" fmla="val 12000"/>
            </a:avLst>
          </a:prstGeom>
          <a:solidFill>
            <a:srgbClr val="E3EFE6"/>
          </a:solidFill>
          <a:ln w="12700">
            <a:solidFill>
              <a:srgbClr val="9FC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1520" y="5815584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  <a:ea typeface="a고딕17"/>
              </a:rPr>
              <a:t>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88720" y="5843016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31313"/>
                </a:solidFill>
                <a:latin typeface="a고딕16"/>
                <a:ea typeface="a고딕16"/>
              </a:rPr>
              <a:t>1+1 행사로 이번 주 매출 올리기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88720" y="6062472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고딕16"/>
                <a:ea typeface="a고딕16"/>
              </a:rPr>
              <a:t>✓ 정답 — 직접 혜택으로 단기 매출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189720" y="587044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A6A6A6"/>
                </a:solidFill>
                <a:latin typeface="a고딕16"/>
                <a:ea typeface="a고딕16"/>
              </a:rPr>
              <a:t>캠페인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424160" y="587044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고딕16"/>
                <a:ea typeface="a고딕16"/>
              </a:rPr>
              <a:t>프로모션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48640" y="6309360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48640" y="6373368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정리  </a:t>
            </a:r>
            <a:r>
              <a:rPr sz="1500" b="0">
                <a:solidFill>
                  <a:srgbClr val="6B6B6B"/>
                </a:solidFill>
                <a:latin typeface="a고딕16"/>
                <a:ea typeface="a고딕16"/>
              </a:rPr>
              <a:t>캠페인은 우산(길게, 이미지·관계), 프로모션은 그 아래 행사(짧게, 매출)</a:t>
            </a:r>
          </a:p>
        </p:txBody>
      </p:sp>
    </p:spTree>
    <p:extLst>
      <p:ext uri="{BB962C8B-B14F-4D97-AF65-F5344CB8AC3E}">
        <p14:creationId xmlns:p14="http://schemas.microsoft.com/office/powerpoint/2010/main" val="21382555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704850" y="323850"/>
            <a:ext cx="1981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8" name="TextBox 8"/>
          <p:cNvSpPr txBox="1"/>
          <p:nvPr/>
        </p:nvSpPr>
        <p:spPr>
          <a:xfrm>
            <a:off x="958579" y="1076325"/>
            <a:ext cx="56324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캠페인의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정의와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특징</a:t>
            </a:r>
            <a:endParaRPr lang="en-US" sz="2000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" y="2921000"/>
            <a:ext cx="4298950" cy="34988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0" y="2381250"/>
            <a:ext cx="4298950" cy="533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689100" y="2425700"/>
            <a:ext cx="3067050" cy="317500"/>
          </a:xfrm>
          <a:prstGeom prst="rect">
            <a:avLst/>
          </a:prstGeom>
        </p:spPr>
        <p:txBody>
          <a:bodyPr lIns="0" tIns="20574" rIns="0" bIns="20574" rtlCol="0" anchor="ctr"/>
          <a:lstStyle/>
          <a:p>
            <a:pPr lvl="0" algn="ctr">
              <a:lnSpc>
                <a:spcPct val="101259"/>
              </a:lnSpc>
            </a:pPr>
            <a:r>
              <a:rPr lang="en-US" dirty="0" err="1">
                <a:solidFill>
                  <a:srgbClr val="222323">
                    <a:alpha val="80000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프로모션</a:t>
            </a:r>
            <a:endParaRPr lang="en-US" dirty="0">
              <a:solidFill>
                <a:srgbClr val="222323">
                  <a:alpha val="80000"/>
                </a:srgbClr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100" y="2921000"/>
            <a:ext cx="4298950" cy="34988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100" y="2381250"/>
            <a:ext cx="4298950" cy="533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7645400" y="2425700"/>
            <a:ext cx="3067050" cy="317500"/>
          </a:xfrm>
          <a:prstGeom prst="rect">
            <a:avLst/>
          </a:prstGeom>
        </p:spPr>
        <p:txBody>
          <a:bodyPr lIns="0" tIns="20574" rIns="0" bIns="20574" rtlCol="0" anchor="ctr"/>
          <a:lstStyle/>
          <a:p>
            <a:pPr lvl="0" algn="ctr">
              <a:lnSpc>
                <a:spcPct val="101259"/>
              </a:lnSpc>
            </a:pPr>
            <a:r>
              <a:rPr lang="en-US" dirty="0" err="1">
                <a:solidFill>
                  <a:srgbClr val="222323">
                    <a:alpha val="80000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endParaRPr lang="en-US" dirty="0">
              <a:solidFill>
                <a:srgbClr val="222323">
                  <a:alpha val="80000"/>
                </a:srgbClr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0" y="4095750"/>
            <a:ext cx="1841500" cy="2311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7264400" y="3238500"/>
            <a:ext cx="3879850" cy="1428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장기적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목표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추구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인지도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및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이미지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구축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참여와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관계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형성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통합적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마케팅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활동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08100" y="3238500"/>
            <a:ext cx="3879850" cy="1428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즉각적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판매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촉진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중심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단기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매출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증대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목표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할인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쿠폰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등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직접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혜택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일회성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또는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단기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실행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5015992B-9449-4B84-545D-41A458005273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오늘의 매출 vs 내일의 이름값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937593"/>
            <a:ext cx="231343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 dirty="0" err="1">
                <a:solidFill>
                  <a:srgbClr val="ED1C24"/>
                </a:solidFill>
                <a:latin typeface="a고딕16"/>
              </a:rPr>
              <a:t>무엇이</a:t>
            </a:r>
            <a:r>
              <a:rPr sz="1600" b="1" dirty="0">
                <a:solidFill>
                  <a:srgbClr val="ED1C24"/>
                </a:solidFill>
                <a:latin typeface="a고딕16"/>
              </a:rPr>
              <a:t> </a:t>
            </a:r>
            <a:r>
              <a:rPr sz="1600" b="1" dirty="0" err="1" smtClean="0">
                <a:solidFill>
                  <a:srgbClr val="ED1C24"/>
                </a:solidFill>
                <a:latin typeface="a고딕16"/>
              </a:rPr>
              <a:t>다른가</a:t>
            </a:r>
            <a:r>
              <a:rPr lang="en-US" sz="1600" b="1" dirty="0" smtClean="0">
                <a:solidFill>
                  <a:srgbClr val="ED1C24"/>
                </a:solidFill>
                <a:latin typeface="a고딕16"/>
              </a:rPr>
              <a:t>?</a:t>
            </a:r>
            <a:endParaRPr sz="1600" b="1" dirty="0">
              <a:solidFill>
                <a:srgbClr val="ED1C24"/>
              </a:solidFill>
              <a:latin typeface="a고딕16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1325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고딕14"/>
              </a:rPr>
              <a:t>프로모션과 캠페인은 목표도, 기간도, 남기는 것도 다릅니다.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783080"/>
            <a:ext cx="5394960" cy="45720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고딕17"/>
              </a:rPr>
              <a:t>프로모션   </a:t>
            </a:r>
            <a:r>
              <a:rPr sz="1700" b="1">
                <a:solidFill>
                  <a:srgbClr val="FFFFFF"/>
                </a:solidFill>
                <a:latin typeface="a고딕17"/>
              </a:rPr>
              <a:t>지금 사게 하는 것</a:t>
            </a:r>
          </a:p>
        </p:txBody>
      </p:sp>
      <p:pic>
        <p:nvPicPr>
          <p:cNvPr id="21" name="Picture 20" descr="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524" y="2331720"/>
            <a:ext cx="2923190" cy="178308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548640" y="416052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latin typeface="a고딕14"/>
              </a:rPr>
              <a:t>휴대폰에서 쿠폰이 튀어나오듯, 지금 바로 사게 만듭니다.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7"/>
              </a:rPr>
              <a:t>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57200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할인 · 쿠폰 · 짧은 기간으로 지금 사게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38928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7"/>
              </a:rPr>
              <a:t>한계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13892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할인이 끝나면 고객도 떠납니다. 싼 가격만 좇는 고객이 모입니다.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783080"/>
            <a:ext cx="5394960" cy="45720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17830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고딕17"/>
              </a:rPr>
              <a:t>캠페인   </a:t>
            </a:r>
            <a:r>
              <a:rPr sz="1700" b="1">
                <a:solidFill>
                  <a:srgbClr val="FFFFFF"/>
                </a:solidFill>
                <a:latin typeface="a고딕17"/>
              </a:rPr>
              <a:t>다시 오게 하는 것</a:t>
            </a:r>
          </a:p>
        </p:txBody>
      </p:sp>
      <p:pic>
        <p:nvPicPr>
          <p:cNvPr id="29" name="Picture 28" descr="c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817" y="2331720"/>
            <a:ext cx="3026029" cy="178308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6245352" y="416052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latin typeface="a고딕14"/>
              </a:rPr>
              <a:t>뿌리 깊은 나무와 악수처럼, 고객과의 관계가 자랍니다.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457200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7"/>
              </a:rPr>
              <a:t>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2" y="457200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이미지 · 관계 · 긴 기간으로 기억하고, 좋아하고, 다시 오게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5138928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7"/>
              </a:rPr>
              <a:t>핵심 가치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4072" y="513892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할인이 없어도 매장에 올 분명한 이유를 만듭니다.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806440"/>
            <a:ext cx="11091672" cy="6858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73152" cy="68580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80644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ED1C24"/>
                </a:solidFill>
                <a:latin typeface="a고딕17"/>
              </a:rPr>
              <a:t>핵심   </a:t>
            </a:r>
            <a:r>
              <a:rPr sz="1800" b="1">
                <a:solidFill>
                  <a:srgbClr val="131313"/>
                </a:solidFill>
                <a:latin typeface="a고딕16"/>
              </a:rPr>
              <a:t>프로모션은 오늘의 매출, 캠페인은 내일의 이름값을 만듭니다.</a:t>
            </a:r>
          </a:p>
        </p:txBody>
      </p:sp>
    </p:spTree>
    <p:extLst>
      <p:ext uri="{BB962C8B-B14F-4D97-AF65-F5344CB8AC3E}">
        <p14:creationId xmlns:p14="http://schemas.microsoft.com/office/powerpoint/2010/main" val="146048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캠페인과 프로모션의 관계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둘은 대립하는 개념이 아닙니다. 캠페인이라는 우산 아래 프로모션이 들어갑니다.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94560" y="1783080"/>
            <a:ext cx="7772400" cy="566928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783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 페 인   ( 3개월 · 브랜드 목표 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94560" y="2514600"/>
            <a:ext cx="1828800" cy="685800"/>
          </a:xfrm>
          <a:prstGeom prst="rect">
            <a:avLst/>
          </a:prstGeom>
          <a:solidFill>
            <a:srgbClr val="FBEDE9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프로모션 A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오픈 할인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60520" y="2514600"/>
            <a:ext cx="1828800" cy="685800"/>
          </a:xfrm>
          <a:prstGeom prst="rect">
            <a:avLst/>
          </a:prstGeom>
          <a:solidFill>
            <a:srgbClr val="FBEDE9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프로모션 B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포토존 이벤트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1828800" cy="685800"/>
          </a:xfrm>
          <a:prstGeom prst="rect">
            <a:avLst/>
          </a:prstGeom>
          <a:solidFill>
            <a:srgbClr val="FBEDE9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프로모션 C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멤버십 적립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2514600"/>
            <a:ext cx="1828800" cy="685800"/>
          </a:xfrm>
          <a:prstGeom prst="rect">
            <a:avLst/>
          </a:prstGeom>
          <a:solidFill>
            <a:srgbClr val="FBEDE9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프로모션 D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클리어런스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91672" cy="2743200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프로모션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3개월 ~ 1년 이상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1주 ~ 1개월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브랜드 인지도 · 이미지 · 관계 형성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즉각적 판매 촉진 · 단기 매출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성과 측정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인지도 · 참여 · 재방문 · 브랜드 선호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· 객단가 · 구매 전환율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여러 프로모션과 콘텐츠를 묶은 상위 활동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캠페인을 구성하는 개별 실행 단위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실패의 신호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메시지가 채널마다 달라 기억되지 않음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할인은 했는데 이익이 남지 않음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462F1DD2-1D72-4FAD-1319-5CFD40243526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685800" y="323850"/>
            <a:ext cx="1600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8" name="TextBox 8"/>
          <p:cNvSpPr txBox="1"/>
          <p:nvPr/>
        </p:nvSpPr>
        <p:spPr>
          <a:xfrm>
            <a:off x="701929" y="1155700"/>
            <a:ext cx="56070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cap="all" dirty="0">
                <a:solidFill>
                  <a:srgbClr val="000000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실제</a:t>
            </a:r>
            <a:r>
              <a:rPr lang="en-US" cap="all" dirty="0">
                <a:solidFill>
                  <a:srgbClr val="000000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캠페인</a:t>
            </a:r>
            <a:r>
              <a:rPr lang="en-US" cap="all" dirty="0">
                <a:solidFill>
                  <a:srgbClr val="000000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사례</a:t>
            </a:r>
            <a:r>
              <a:rPr lang="en-US" cap="all" dirty="0">
                <a:solidFill>
                  <a:srgbClr val="000000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분석</a:t>
            </a:r>
            <a:endParaRPr lang="en-US" cap="all" dirty="0">
              <a:solidFill>
                <a:srgbClr val="000000"/>
              </a:solidFill>
              <a:latin typeface="a고딕12" pitchFamily="18" charset="-127"/>
              <a:ea typeface="a고딕12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28" y="2154810"/>
            <a:ext cx="3676650" cy="39941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285042" y="3115618"/>
            <a:ext cx="5892800" cy="210312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558" dirty="0" err="1">
                <a:solidFill>
                  <a:srgbClr val="434464"/>
                </a:solidFill>
                <a:latin typeface="a고딕12" pitchFamily="18" charset="-127"/>
                <a:ea typeface="a고딕12" pitchFamily="18" charset="-127"/>
                <a:cs typeface="Geologica Roman Regular"/>
              </a:rPr>
              <a:t>롯데백화점 ESG 캠페인은 사회적 가치와 브랜드 이미지를 결합했고, </a:t>
            </a:r>
          </a:p>
          <a:p>
            <a:pPr lvl="0" algn="l">
              <a:lnSpc>
                <a:spcPct val="124499"/>
              </a:lnSpc>
            </a:pPr>
            <a:r>
              <a:rPr lang="en-US" sz="1558" dirty="0" err="1">
                <a:solidFill>
                  <a:srgbClr val="434464"/>
                </a:solidFill>
                <a:latin typeface="a고딕12" pitchFamily="18" charset="-127"/>
                <a:ea typeface="a고딕12" pitchFamily="18" charset="-127"/>
                <a:cs typeface="Geologica Roman Regular"/>
              </a:rPr>
              <a:t>스타벅스 프리퀀시는 멤버십을 통해 고객 충성도를 강화했습니다. </a:t>
            </a:r>
          </a:p>
          <a:p>
            <a:pPr lvl="0" algn="l">
              <a:lnSpc>
                <a:spcPct val="124499"/>
              </a:lnSpc>
            </a:pPr>
            <a:r>
              <a:rPr lang="en-US" sz="1558" dirty="0" err="1">
                <a:solidFill>
                  <a:srgbClr val="434464"/>
                </a:solidFill>
                <a:latin typeface="a고딕12" pitchFamily="18" charset="-127"/>
                <a:ea typeface="a고딕12" pitchFamily="18" charset="-127"/>
                <a:cs typeface="Geologica Roman Regular"/>
              </a:rPr>
              <a:t>올리브영 올영세일은 한정 기간 할인으로 긴급 구매를 유도했으며, </a:t>
            </a:r>
          </a:p>
          <a:p>
            <a:pPr lvl="0" algn="l">
              <a:lnSpc>
                <a:spcPct val="124499"/>
              </a:lnSpc>
            </a:pPr>
            <a:r>
              <a:rPr lang="en-US" sz="1558" dirty="0" err="1">
                <a:solidFill>
                  <a:srgbClr val="434464"/>
                </a:solidFill>
                <a:latin typeface="a고딕12" pitchFamily="18" charset="-127"/>
                <a:ea typeface="a고딕12" pitchFamily="18" charset="-127"/>
                <a:cs typeface="Geologica Roman Regular"/>
              </a:rPr>
              <a:t>무신사 블랙프라이데이는 글로벌 쇼핑 문화를 성공적으로 도입했습니다. </a:t>
            </a:r>
          </a:p>
          <a:p>
            <a:pPr lvl="0" algn="l">
              <a:lnSpc>
                <a:spcPct val="124499"/>
              </a:lnSpc>
            </a:pPr>
            <a:endParaRPr lang="en-US" sz="1558" dirty="0" err="1">
              <a:solidFill>
                <a:srgbClr val="434464"/>
              </a:solidFill>
              <a:latin typeface="a고딕12" pitchFamily="18" charset="-127"/>
              <a:ea typeface="a고딕12" pitchFamily="18" charset="-127"/>
              <a:cs typeface="Geologica Roman Regular"/>
            </a:endParaRPr>
          </a:p>
          <a:p>
            <a:pPr lvl="0" algn="l">
              <a:lnSpc>
                <a:spcPct val="124499"/>
              </a:lnSpc>
            </a:pPr>
            <a:r>
              <a:rPr lang="en-US" sz="1558" dirty="0" err="1">
                <a:solidFill>
                  <a:srgbClr val="434464"/>
                </a:solidFill>
                <a:latin typeface="a고딕12" pitchFamily="18" charset="-127"/>
                <a:ea typeface="a고딕12" pitchFamily="18" charset="-127"/>
                <a:cs typeface="Geologica Roman Regular"/>
              </a:rPr>
              <a:t>이들 캠페인은 모두 특정 고객층의 심리와 구매 행동을 정확히 파악하고 자극한 전략적 설계의 결과입니다.</a:t>
            </a:r>
          </a:p>
          <a:p>
            <a:pPr lvl="0" algn="l">
              <a:lnSpc>
                <a:spcPct val="124499"/>
              </a:lnSpc>
            </a:pPr>
            <a:endParaRPr lang="en-US" sz="1558" dirty="0" err="1">
              <a:solidFill>
                <a:srgbClr val="434464"/>
              </a:solidFill>
              <a:latin typeface="a고딕12" pitchFamily="18" charset="-127"/>
              <a:ea typeface="a고딕12" pitchFamily="18" charset="-127"/>
              <a:cs typeface="Geologica Roman Regular"/>
            </a:endParaRPr>
          </a:p>
          <a:p>
            <a:pPr lvl="0" algn="l">
              <a:lnSpc>
                <a:spcPct val="124499"/>
              </a:lnSpc>
            </a:pPr>
            <a:r>
              <a:rPr lang="en-US" sz="1558" dirty="0" err="1">
                <a:solidFill>
                  <a:srgbClr val="434464"/>
                </a:solidFill>
                <a:latin typeface="a고딕12" pitchFamily="18" charset="-127"/>
                <a:ea typeface="a고딕12" pitchFamily="18" charset="-127"/>
                <a:cs typeface="Geologica Roman Regular"/>
              </a:rPr>
              <a:t>다음 장부터는 국내 대표 리테일 캠페인 5가지를 MD 관점에서 자세히 살펴봅니다.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85042" y="2156768"/>
            <a:ext cx="591185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00" dirty="0" err="1">
                <a:solidFill>
                  <a:srgbClr val="434464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성공</a:t>
            </a:r>
            <a:r>
              <a:rPr lang="en-US" sz="2200" dirty="0">
                <a:solidFill>
                  <a:srgbClr val="434464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 </a:t>
            </a:r>
            <a:r>
              <a:rPr lang="en-US" sz="2200" dirty="0" err="1">
                <a:solidFill>
                  <a:srgbClr val="434464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캠페인의</a:t>
            </a:r>
            <a:r>
              <a:rPr lang="en-US" sz="2200" dirty="0">
                <a:solidFill>
                  <a:srgbClr val="434464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 </a:t>
            </a:r>
            <a:r>
              <a:rPr lang="en-US" sz="2200" dirty="0" err="1">
                <a:solidFill>
                  <a:srgbClr val="434464"/>
                </a:solidFill>
                <a:latin typeface="a고딕12" pitchFamily="18" charset="-127"/>
                <a:ea typeface="a고딕12" pitchFamily="18" charset="-127"/>
                <a:cs typeface="high1 Wonchuri Title M"/>
              </a:rPr>
              <a:t>공통점</a:t>
            </a:r>
            <a:endParaRPr lang="en-US" sz="2200" dirty="0">
              <a:solidFill>
                <a:srgbClr val="434464"/>
              </a:solidFill>
              <a:latin typeface="a고딕12" pitchFamily="18" charset="-127"/>
              <a:ea typeface="a고딕12" pitchFamily="18" charset="-127"/>
              <a:cs typeface="high1 Wonchuri Title M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994CCB39-D6C1-E931-E374-A0D789AF95B4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심리를 설계한다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고객은 왜 움직이는가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325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고딕14"/>
              </a:rPr>
              <a:t>잘된 캠페인은 고객이 어떤 마음으로 움직이는지 알고 만들었습니다.</a:t>
            </a:r>
          </a:p>
        </p:txBody>
      </p:sp>
      <p:pic>
        <p:nvPicPr>
          <p:cNvPr id="19" name="Picture 18" descr="c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836" y="1783080"/>
            <a:ext cx="4134566" cy="214884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48640" y="40233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</a:rPr>
              <a:t>마음의 버튼 · 보상   </a:t>
            </a:r>
            <a:r>
              <a:rPr sz="2200" b="1">
                <a:solidFill>
                  <a:srgbClr val="131313"/>
                </a:solidFill>
                <a:latin typeface="a타이틀고딕3"/>
              </a:rPr>
              <a:t>스타벅스 프리퀀시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굿즈를 받으려고 한 잔 더 마신 적 있죠? 도장판이 거의 차면 "조금만 더" 하는 마음이 생깁니다.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53949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ED1C24"/>
                </a:solidFill>
                <a:latin typeface="a고딕16"/>
              </a:rPr>
              <a:t>→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굿즈라는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보상이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잔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수를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채우는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행동을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만듭니다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endParaRPr lang="en-US" sz="1600" b="1" dirty="0" smtClean="0">
              <a:solidFill>
                <a:srgbClr val="131313"/>
              </a:solidFill>
              <a:latin typeface="a고딕16"/>
            </a:endParaRPr>
          </a:p>
          <a:p>
            <a:pPr algn="l"/>
            <a:r>
              <a:rPr sz="1600" b="1" dirty="0" smtClean="0">
                <a:solidFill>
                  <a:srgbClr val="131313"/>
                </a:solidFill>
                <a:latin typeface="a고딕16"/>
              </a:rPr>
              <a:t>→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리워드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설계</a:t>
            </a:r>
            <a:endParaRPr sz="1600" b="1" dirty="0">
              <a:solidFill>
                <a:srgbClr val="131313"/>
              </a:solidFill>
              <a:latin typeface="a고딕16"/>
            </a:endParaRPr>
          </a:p>
        </p:txBody>
      </p:sp>
      <p:pic>
        <p:nvPicPr>
          <p:cNvPr id="23" name="Picture 22" descr="c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103" y="1783080"/>
            <a:ext cx="3785456" cy="214884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6245352" y="40233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</a:rPr>
              <a:t>마음의 버튼 · 긴급성   </a:t>
            </a:r>
            <a:r>
              <a:rPr sz="2200" b="1">
                <a:solidFill>
                  <a:srgbClr val="131313"/>
                </a:solidFill>
                <a:latin typeface="a타이틀고딕3"/>
              </a:rPr>
              <a:t>올영세일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4480560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달력에 기간이 표시되면 "이번에 안 사면 손해"라는 마음이 듭니다.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5120640"/>
            <a:ext cx="53949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ED1C24"/>
                </a:solidFill>
                <a:latin typeface="a고딕16"/>
              </a:rPr>
              <a:t>→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기간을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정해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두는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것만으로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"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지금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사야지"가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됩니다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endParaRPr lang="en-US" sz="1600" b="1" dirty="0" smtClean="0">
              <a:solidFill>
                <a:srgbClr val="131313"/>
              </a:solidFill>
              <a:latin typeface="a고딕16"/>
            </a:endParaRPr>
          </a:p>
          <a:p>
            <a:pPr algn="l"/>
            <a:r>
              <a:rPr sz="1600" b="1" dirty="0" smtClean="0">
                <a:solidFill>
                  <a:srgbClr val="131313"/>
                </a:solidFill>
                <a:latin typeface="a고딕16"/>
              </a:rPr>
              <a:t>→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희소성</a:t>
            </a:r>
            <a:r>
              <a:rPr sz="1600" b="1" dirty="0">
                <a:solidFill>
                  <a:srgbClr val="131313"/>
                </a:solidFill>
                <a:latin typeface="a고딕16"/>
              </a:rPr>
              <a:t> </a:t>
            </a:r>
            <a:r>
              <a:rPr sz="1600" b="1" dirty="0" err="1">
                <a:solidFill>
                  <a:srgbClr val="131313"/>
                </a:solidFill>
                <a:latin typeface="a고딕16"/>
              </a:rPr>
              <a:t>설계</a:t>
            </a:r>
            <a:endParaRPr sz="1600" b="1" dirty="0">
              <a:solidFill>
                <a:srgbClr val="131313"/>
              </a:solidFill>
              <a:latin typeface="a고딕16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5806440"/>
            <a:ext cx="11091672" cy="6858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73152" cy="68580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80644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ED1C24"/>
                </a:solidFill>
                <a:latin typeface="a고딕17"/>
              </a:rPr>
              <a:t>공통점   </a:t>
            </a:r>
            <a:r>
              <a:rPr sz="1800" b="1">
                <a:solidFill>
                  <a:srgbClr val="131313"/>
                </a:solidFill>
                <a:latin typeface="a고딕16"/>
              </a:rPr>
              <a:t>고객이 어떤 마음으로 움직이는지 정확히 알고, 그 행동을 설계했다는 것.</a:t>
            </a:r>
          </a:p>
        </p:txBody>
      </p:sp>
    </p:spTree>
    <p:extLst>
      <p:ext uri="{BB962C8B-B14F-4D97-AF65-F5344CB8AC3E}">
        <p14:creationId xmlns:p14="http://schemas.microsoft.com/office/powerpoint/2010/main" val="3759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국내 대표 리테일 캠페인 5가지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ESG·사회공헌 캠페인도 결국 고객 경험과 상품으로 이어질 때 MD의 무기가 됩니다.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054096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xmlns="" val="3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xmlns="" val="3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xmlns="" val="3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xmlns="" val="30003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xmlns="" val="3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기업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핵심 방식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유형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MD 관점의 포인트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롯데백화점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RE:EARTH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친환경 · 업사이클링 · 플로깅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고객 참여형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 → 체험 → 상품 판매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현대백화점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Green Friends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친환경 행동 → 마일리지 · 포인트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리워드형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 행동을 구매 혜택과 연결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신세계백화점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SHINSEGAE LOVES THE EARTH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친환경 상품 · 캐릭터 · 패키지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브랜드 브랜딩형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ESG를 브랜드 자산으로 구축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롯데백화점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RE:JOICE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마음건강 · 상담 · 문화 프로그램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경험형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사회적 이슈를 고객 경험으로 전환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이마트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가플지우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플라스틱 수거 · 업사이클링 · 해양보호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기업 연합형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여러 기업이 함께 만드는 참여형 캠페인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11091672" cy="12344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5120640"/>
            <a:ext cx="1042416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ko-KR" sz="11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사례를 읽는 방법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ko-KR" sz="11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다섯 캠페인 모두 '좋은 일'에서 멈추지 않고 고객 행동 → 경험 → 상품 · 혜택으로 이어지는 구조를 가지고 있습니다.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ko-KR" sz="11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사례를 볼 때는 '무엇을 했나'보다 '고객을 어떤 순서로 움직였나'를 보십시오. 그 순서가 우리 캠페인의 설계도가 됩니다.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 err="1" smtClean="0">
                <a:solidFill>
                  <a:srgbClr val="131313"/>
                </a:solidFill>
                <a:latin typeface="a타이틀고딕3"/>
              </a:rPr>
              <a:t>다섯</a:t>
            </a:r>
            <a:r>
              <a:rPr sz="2600" b="1" dirty="0" smtClean="0">
                <a:solidFill>
                  <a:srgbClr val="131313"/>
                </a:solidFill>
                <a:latin typeface="a타이틀고딕3"/>
              </a:rPr>
              <a:t> </a:t>
            </a:r>
            <a:r>
              <a:rPr sz="2600" b="1" dirty="0" err="1">
                <a:solidFill>
                  <a:srgbClr val="131313"/>
                </a:solidFill>
                <a:latin typeface="a타이틀고딕3"/>
              </a:rPr>
              <a:t>가지</a:t>
            </a:r>
            <a:r>
              <a:rPr sz="2600" b="1" dirty="0">
                <a:solidFill>
                  <a:srgbClr val="131313"/>
                </a:solidFill>
                <a:latin typeface="a타이틀고딕3"/>
              </a:rPr>
              <a:t> </a:t>
            </a:r>
            <a:r>
              <a:rPr sz="2600" b="1" dirty="0" err="1">
                <a:solidFill>
                  <a:srgbClr val="131313"/>
                </a:solidFill>
                <a:latin typeface="a타이틀고딕3"/>
              </a:rPr>
              <a:t>방법</a:t>
            </a:r>
            <a:endParaRPr sz="2600" b="1" dirty="0">
              <a:solidFill>
                <a:srgbClr val="131313"/>
              </a:solidFill>
              <a:latin typeface="a타이틀고딕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리테일 캠페인 5대 설계도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325880"/>
            <a:ext cx="10881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rgbClr val="6B6B6B"/>
                </a:solidFill>
                <a:latin typeface="a고딕14"/>
              </a:rPr>
              <a:t>국내</a:t>
            </a:r>
            <a:r>
              <a:rPr sz="1800" b="0" dirty="0">
                <a:solidFill>
                  <a:srgbClr val="6B6B6B"/>
                </a:solidFill>
                <a:latin typeface="a고딕14"/>
              </a:rPr>
              <a:t> </a:t>
            </a:r>
            <a:r>
              <a:rPr sz="1800" b="0" dirty="0" err="1">
                <a:solidFill>
                  <a:srgbClr val="6B6B6B"/>
                </a:solidFill>
                <a:latin typeface="a고딕14"/>
              </a:rPr>
              <a:t>대표</a:t>
            </a:r>
            <a:r>
              <a:rPr sz="1800" b="0" dirty="0">
                <a:solidFill>
                  <a:srgbClr val="6B6B6B"/>
                </a:solidFill>
                <a:latin typeface="a고딕14"/>
              </a:rPr>
              <a:t> </a:t>
            </a:r>
            <a:r>
              <a:rPr sz="1800" b="0" dirty="0" err="1">
                <a:solidFill>
                  <a:srgbClr val="6B6B6B"/>
                </a:solidFill>
                <a:latin typeface="a고딕14"/>
              </a:rPr>
              <a:t>리테일</a:t>
            </a:r>
            <a:r>
              <a:rPr sz="1800" b="0" dirty="0">
                <a:solidFill>
                  <a:srgbClr val="6B6B6B"/>
                </a:solidFill>
                <a:latin typeface="a고딕14"/>
              </a:rPr>
              <a:t> </a:t>
            </a:r>
            <a:r>
              <a:rPr sz="1800" b="0" dirty="0" err="1">
                <a:solidFill>
                  <a:srgbClr val="6B6B6B"/>
                </a:solidFill>
                <a:latin typeface="a고딕14"/>
              </a:rPr>
              <a:t>캠페인</a:t>
            </a:r>
            <a:r>
              <a:rPr sz="1800" b="0" dirty="0">
                <a:solidFill>
                  <a:srgbClr val="6B6B6B"/>
                </a:solidFill>
                <a:latin typeface="a고딕14"/>
              </a:rPr>
              <a:t> 5가지. </a:t>
            </a:r>
            <a:r>
              <a:rPr sz="1800" b="0" dirty="0" err="1">
                <a:solidFill>
                  <a:srgbClr val="6B6B6B"/>
                </a:solidFill>
                <a:latin typeface="a고딕14"/>
              </a:rPr>
              <a:t>대부분</a:t>
            </a:r>
            <a:r>
              <a:rPr sz="1800" b="0" dirty="0">
                <a:solidFill>
                  <a:srgbClr val="6B6B6B"/>
                </a:solidFill>
                <a:latin typeface="a고딕14"/>
              </a:rPr>
              <a:t> </a:t>
            </a:r>
            <a:r>
              <a:rPr sz="1800" b="0" dirty="0" err="1">
                <a:solidFill>
                  <a:srgbClr val="6B6B6B"/>
                </a:solidFill>
                <a:latin typeface="a고딕14"/>
              </a:rPr>
              <a:t>환경</a:t>
            </a:r>
            <a:r>
              <a:rPr sz="1800" b="0" dirty="0">
                <a:solidFill>
                  <a:srgbClr val="6B6B6B"/>
                </a:solidFill>
                <a:latin typeface="a고딕14"/>
              </a:rPr>
              <a:t>, </a:t>
            </a:r>
            <a:r>
              <a:rPr sz="1800" b="0" dirty="0" err="1">
                <a:solidFill>
                  <a:srgbClr val="6B6B6B"/>
                </a:solidFill>
                <a:latin typeface="a고딕14"/>
              </a:rPr>
              <a:t>마음</a:t>
            </a:r>
            <a:r>
              <a:rPr sz="1800" b="0" dirty="0">
                <a:solidFill>
                  <a:srgbClr val="6B6B6B"/>
                </a:solidFill>
                <a:latin typeface="a고딕14"/>
              </a:rPr>
              <a:t> </a:t>
            </a:r>
            <a:r>
              <a:rPr sz="1800" b="0" dirty="0" err="1">
                <a:solidFill>
                  <a:srgbClr val="6B6B6B"/>
                </a:solidFill>
                <a:latin typeface="a고딕14"/>
              </a:rPr>
              <a:t>건강</a:t>
            </a:r>
            <a:r>
              <a:rPr sz="1800" b="0" dirty="0">
                <a:solidFill>
                  <a:srgbClr val="6B6B6B"/>
                </a:solidFill>
                <a:latin typeface="a고딕14"/>
              </a:rPr>
              <a:t> </a:t>
            </a:r>
            <a:r>
              <a:rPr sz="1800" b="0" dirty="0" err="1">
                <a:solidFill>
                  <a:srgbClr val="6B6B6B"/>
                </a:solidFill>
                <a:latin typeface="a고딕14"/>
              </a:rPr>
              <a:t>같은</a:t>
            </a:r>
            <a:r>
              <a:rPr sz="1800" b="0" dirty="0">
                <a:solidFill>
                  <a:srgbClr val="6B6B6B"/>
                </a:solidFill>
                <a:latin typeface="a고딕14"/>
              </a:rPr>
              <a:t> ESG </a:t>
            </a:r>
            <a:r>
              <a:rPr sz="1800" b="0" dirty="0" err="1" smtClean="0">
                <a:solidFill>
                  <a:srgbClr val="6B6B6B"/>
                </a:solidFill>
                <a:latin typeface="a고딕14"/>
              </a:rPr>
              <a:t>캠페인</a:t>
            </a:r>
            <a:r>
              <a:rPr sz="1800" b="0" dirty="0" smtClean="0">
                <a:solidFill>
                  <a:srgbClr val="6B6B6B"/>
                </a:solidFill>
                <a:latin typeface="a고딕14"/>
              </a:rPr>
              <a:t>.</a:t>
            </a:r>
            <a:endParaRPr sz="1800" b="0" dirty="0">
              <a:solidFill>
                <a:srgbClr val="6B6B6B"/>
              </a:solidFill>
              <a:latin typeface="a고딕14"/>
            </a:endParaRPr>
          </a:p>
        </p:txBody>
      </p:sp>
      <p:pic>
        <p:nvPicPr>
          <p:cNvPr id="19" name="Picture 18" descr="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492240" cy="2332683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48640" y="4251960"/>
            <a:ext cx="6492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 err="1">
                <a:solidFill>
                  <a:srgbClr val="3A3A3A"/>
                </a:solidFill>
                <a:latin typeface="a고딕14"/>
              </a:rPr>
              <a:t>문이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다섯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개인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것처럼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,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고객을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매장으로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들이는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방법도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다섯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 smtClean="0">
                <a:solidFill>
                  <a:srgbClr val="3A3A3A"/>
                </a:solidFill>
                <a:latin typeface="a고딕14"/>
              </a:rPr>
              <a:t>가지</a:t>
            </a:r>
            <a:r>
              <a:rPr sz="1600" b="0" dirty="0" smtClean="0">
                <a:solidFill>
                  <a:srgbClr val="3A3A3A"/>
                </a:solidFill>
                <a:latin typeface="a고딕14"/>
              </a:rPr>
              <a:t>. </a:t>
            </a:r>
            <a:endParaRPr lang="en-US" sz="1600" b="0" dirty="0" smtClean="0">
              <a:solidFill>
                <a:srgbClr val="3A3A3A"/>
              </a:solidFill>
              <a:latin typeface="a고딕14"/>
            </a:endParaRPr>
          </a:p>
          <a:p>
            <a:pPr algn="l"/>
            <a:r>
              <a:rPr sz="1600" b="0" dirty="0" err="1" smtClean="0">
                <a:solidFill>
                  <a:srgbClr val="3A3A3A"/>
                </a:solidFill>
                <a:latin typeface="a고딕14"/>
              </a:rPr>
              <a:t>문마다</a:t>
            </a:r>
            <a:r>
              <a:rPr sz="1600" b="0" dirty="0" smtClean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들어가는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방식이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다르니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,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우리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고객에게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맞는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문을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sz="1600" b="0" dirty="0" err="1">
                <a:solidFill>
                  <a:srgbClr val="3A3A3A"/>
                </a:solidFill>
                <a:latin typeface="a고딕14"/>
              </a:rPr>
              <a:t>고르면</a:t>
            </a:r>
            <a:r>
              <a:rPr sz="1600" b="0" dirty="0">
                <a:solidFill>
                  <a:srgbClr val="3A3A3A"/>
                </a:solidFill>
                <a:latin typeface="a고딕14"/>
              </a:rPr>
              <a:t> </a:t>
            </a:r>
            <a:r>
              <a:rPr lang="ko-KR" altLang="en-US" sz="1600" b="0" dirty="0" smtClean="0">
                <a:solidFill>
                  <a:srgbClr val="3A3A3A"/>
                </a:solidFill>
                <a:latin typeface="a고딕14"/>
              </a:rPr>
              <a:t>됨</a:t>
            </a:r>
            <a:r>
              <a:rPr sz="1600" b="0" dirty="0" smtClean="0">
                <a:solidFill>
                  <a:srgbClr val="3A3A3A"/>
                </a:solidFill>
                <a:latin typeface="a고딕14"/>
              </a:rPr>
              <a:t>.</a:t>
            </a:r>
            <a:endParaRPr sz="1600" b="0" dirty="0">
              <a:solidFill>
                <a:srgbClr val="3A3A3A"/>
              </a:solidFill>
              <a:latin typeface="a고딕1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0" y="17830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타이틀고딕3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783080"/>
            <a:ext cx="37764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7"/>
              </a:rPr>
              <a:t>고객 참여형  </a:t>
            </a:r>
            <a:r>
              <a:rPr sz="1500" b="0">
                <a:solidFill>
                  <a:srgbClr val="6B6B6B"/>
                </a:solidFill>
                <a:latin typeface="a고딕14"/>
              </a:rPr>
              <a:t>롯데백화점 RE:EARTH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0" y="2331720"/>
            <a:ext cx="432511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0" y="24414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타이틀고딕3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441448"/>
            <a:ext cx="37764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7"/>
              </a:rPr>
              <a:t>리워드형  </a:t>
            </a:r>
            <a:r>
              <a:rPr sz="1500" b="0">
                <a:solidFill>
                  <a:srgbClr val="6B6B6B"/>
                </a:solidFill>
                <a:latin typeface="a고딕14"/>
              </a:rPr>
              <a:t>현대백화점 Green Friends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0" y="2990088"/>
            <a:ext cx="432511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0" y="3099815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타이틀고딕3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182221"/>
            <a:ext cx="4208824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dirty="0" err="1">
                <a:solidFill>
                  <a:srgbClr val="131313"/>
                </a:solidFill>
                <a:latin typeface="a고딕17"/>
              </a:rPr>
              <a:t>브랜딩형</a:t>
            </a:r>
            <a:r>
              <a:rPr sz="1900" b="1" dirty="0">
                <a:solidFill>
                  <a:srgbClr val="131313"/>
                </a:solidFill>
                <a:latin typeface="a고딕17"/>
              </a:rPr>
              <a:t>  </a:t>
            </a:r>
            <a:r>
              <a:rPr sz="1500" b="0" dirty="0" err="1">
                <a:solidFill>
                  <a:srgbClr val="6B6B6B"/>
                </a:solidFill>
                <a:latin typeface="a고딕14"/>
              </a:rPr>
              <a:t>신세계백화점</a:t>
            </a:r>
            <a:r>
              <a:rPr sz="1500" b="0" dirty="0">
                <a:solidFill>
                  <a:srgbClr val="6B6B6B"/>
                </a:solidFill>
                <a:latin typeface="a고딕14"/>
              </a:rPr>
              <a:t> LOVES THE EARTH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0" y="3648456"/>
            <a:ext cx="432511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0" y="3758183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타이틀고딕3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758183"/>
            <a:ext cx="37764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7"/>
              </a:rPr>
              <a:t>경험형  </a:t>
            </a:r>
            <a:r>
              <a:rPr sz="1500" b="0">
                <a:solidFill>
                  <a:srgbClr val="6B6B6B"/>
                </a:solidFill>
                <a:latin typeface="a고딕14"/>
              </a:rPr>
              <a:t>롯데백화점 RE:JOICE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15200" y="4306823"/>
            <a:ext cx="432511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15200" y="4416551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타이틀고딕3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416551"/>
            <a:ext cx="37764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7"/>
              </a:rPr>
              <a:t>기업 연합형  </a:t>
            </a:r>
            <a:r>
              <a:rPr sz="1500" b="0">
                <a:solidFill>
                  <a:srgbClr val="6B6B6B"/>
                </a:solidFill>
                <a:latin typeface="a고딕14"/>
              </a:rPr>
              <a:t>이마트 가플지우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0" y="4965191"/>
            <a:ext cx="432511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5257800"/>
            <a:ext cx="11091672" cy="10972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5257800"/>
            <a:ext cx="73152" cy="109728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25780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7"/>
              </a:rPr>
              <a:t>MD의 눈   </a:t>
            </a:r>
            <a:r>
              <a:rPr sz="1700" b="1">
                <a:solidFill>
                  <a:srgbClr val="131313"/>
                </a:solidFill>
                <a:latin typeface="a고딕16"/>
              </a:rPr>
              <a:t>좋은 일 자체가 아니라, 고객을 어떤 순서로 움직였나를 보세요. 그 순서가 오늘 여러분 캠페인의 설계도가 됩니다.</a:t>
            </a:r>
          </a:p>
        </p:txBody>
      </p:sp>
    </p:spTree>
    <p:extLst>
      <p:ext uri="{BB962C8B-B14F-4D97-AF65-F5344CB8AC3E}">
        <p14:creationId xmlns:p14="http://schemas.microsoft.com/office/powerpoint/2010/main" val="403538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고객 참여형 · 롯데백화점 RE:EARTH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설계도 01 /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325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고딕14"/>
              </a:rPr>
              <a:t>좋은 일 하러 왔다가, 매장을 보고, 상품을 만나게 합니다.</a:t>
            </a:r>
          </a:p>
        </p:txBody>
      </p:sp>
      <p:pic>
        <p:nvPicPr>
          <p:cNvPr id="19" name="Picture 18" descr="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60" y="1783080"/>
            <a:ext cx="2946159" cy="233172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48640" y="41148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7"/>
              </a:rPr>
              <a:t>STEP 1  </a:t>
            </a:r>
            <a:r>
              <a:rPr sz="1900" b="1">
                <a:solidFill>
                  <a:srgbClr val="131313"/>
                </a:solidFill>
                <a:latin typeface="a고딕17"/>
              </a:rPr>
              <a:t>플로깅 · 비치코밍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해변에서 직접 쓰레기를 줍는 활동에 참여합니다.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2697480"/>
            <a:ext cx="4023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ED1C24"/>
                </a:solidFill>
                <a:latin typeface="a고딕17"/>
              </a:rPr>
              <a:t>▶</a:t>
            </a:r>
          </a:p>
        </p:txBody>
      </p:sp>
      <p:pic>
        <p:nvPicPr>
          <p:cNvPr id="23" name="Picture 22" descr="c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457" y="1783080"/>
            <a:ext cx="2954037" cy="233172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4379976" y="41148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7"/>
              </a:rPr>
              <a:t>STEP 2  </a:t>
            </a:r>
            <a:r>
              <a:rPr sz="1900" b="1">
                <a:solidFill>
                  <a:srgbClr val="131313"/>
                </a:solidFill>
                <a:latin typeface="a고딕17"/>
              </a:rPr>
              <a:t>업사이클링 굿즈 교환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448056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주운 쓰레기를 팝업 부스로 가져와 굿즈로 바꿉니다.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5" y="2697480"/>
            <a:ext cx="4023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ED1C24"/>
                </a:solidFill>
                <a:latin typeface="a고딕17"/>
              </a:rPr>
              <a:t>▶</a:t>
            </a:r>
          </a:p>
        </p:txBody>
      </p:sp>
      <p:pic>
        <p:nvPicPr>
          <p:cNvPr id="27" name="Picture 26" descr="c6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038" y="1783080"/>
            <a:ext cx="2985546" cy="233172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8211312" y="411480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7"/>
              </a:rPr>
              <a:t>STEP 3  </a:t>
            </a:r>
            <a:r>
              <a:rPr sz="1900" b="1">
                <a:solidFill>
                  <a:srgbClr val="131313"/>
                </a:solidFill>
                <a:latin typeface="a고딕17"/>
              </a:rPr>
              <a:t>매장과 상품 경험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448056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굿즈를 받으러 온 김에 매장을 둘러보고 친환경 상품을 만납니다.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86400"/>
            <a:ext cx="5394960" cy="105156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5486400"/>
            <a:ext cx="73152" cy="10515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596128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MD 포인트</a:t>
            </a:r>
          </a:p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친환경 상품을 파는 게 아니라, 고객이 직접 움직이게 만듭니다. "좋은 일 → 매장 → 상품" 순서가 핵심입니다.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548640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5596128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이렇게 적용해 보면  </a:t>
            </a:r>
            <a:r>
              <a:rPr sz="1600" b="1">
                <a:solidFill>
                  <a:srgbClr val="131313"/>
                </a:solidFill>
                <a:latin typeface="a고딕17"/>
              </a:rPr>
              <a:t>[뷰티 MD]</a:t>
            </a:r>
          </a:p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공병을 가져오면 포인트 지급 → 친환경 뷰티 팝업 방문으로 연결</a:t>
            </a:r>
          </a:p>
        </p:txBody>
      </p:sp>
    </p:spTree>
    <p:extLst>
      <p:ext uri="{BB962C8B-B14F-4D97-AF65-F5344CB8AC3E}">
        <p14:creationId xmlns:p14="http://schemas.microsoft.com/office/powerpoint/2010/main" val="2940210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리워드형 · 현대백화점 Green Friends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설계도 02 /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325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고딕14"/>
              </a:rPr>
              <a:t>할인이 아니라 보상. 보상은 "또 해야지" 하는 습관을 만듭니다.</a:t>
            </a:r>
          </a:p>
        </p:txBody>
      </p:sp>
      <p:pic>
        <p:nvPicPr>
          <p:cNvPr id="19" name="Picture 18" descr="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3482902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6583680" y="1783080"/>
            <a:ext cx="54864" cy="6217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1783080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A  </a:t>
            </a:r>
            <a:r>
              <a:rPr sz="1900" b="1">
                <a:solidFill>
                  <a:srgbClr val="131313"/>
                </a:solidFill>
                <a:latin typeface="a고딕17"/>
              </a:rPr>
              <a:t>착한 행동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167128"/>
            <a:ext cx="482803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다회용기를 사용하는 등 좋은 행동을 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660904"/>
            <a:ext cx="54864" cy="6217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2660904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B  </a:t>
            </a:r>
            <a:r>
              <a:rPr sz="1900" b="1">
                <a:solidFill>
                  <a:srgbClr val="131313"/>
                </a:solidFill>
                <a:latin typeface="a고딕17"/>
              </a:rPr>
              <a:t>포인트 · 마일리지 보상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044952"/>
            <a:ext cx="482803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행동을 하면 보상이 쌓입니다.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538728"/>
            <a:ext cx="54864" cy="6217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3538728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C  </a:t>
            </a:r>
            <a:r>
              <a:rPr sz="1900" b="1">
                <a:solidFill>
                  <a:srgbClr val="131313"/>
                </a:solidFill>
                <a:latin typeface="a고딕17"/>
              </a:rPr>
              <a:t>재방문과 구매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922776"/>
            <a:ext cx="482803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포인트를 쓰러 백화점에 다시 옵니다.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416552"/>
            <a:ext cx="54864" cy="6217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12280" y="4416552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↻  </a:t>
            </a:r>
            <a:r>
              <a:rPr sz="1900" b="1">
                <a:solidFill>
                  <a:srgbClr val="131313"/>
                </a:solidFill>
                <a:latin typeface="a고딕17"/>
              </a:rPr>
              <a:t>습관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800600"/>
            <a:ext cx="482803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C가 다시 A로 이어지며 고리(HABIT LOOP)가 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86400"/>
            <a:ext cx="5394960" cy="105156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486400"/>
            <a:ext cx="73152" cy="10515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596128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MD 포인트</a:t>
            </a:r>
          </a:p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할인은 가격 싸움이 되지만, 보상은 반복을 만듭니다. 끊기지 않는 순환 고리가 핵심입니다.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548640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3952" y="5596128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이렇게 적용해 보면  </a:t>
            </a:r>
            <a:r>
              <a:rPr sz="1600" b="1">
                <a:solidFill>
                  <a:srgbClr val="131313"/>
                </a:solidFill>
                <a:latin typeface="a고딕17"/>
              </a:rPr>
              <a:t>[반려동물 MD]</a:t>
            </a:r>
          </a:p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펫 용품 기부 → 리워드 포인트 지급 → 프리미엄 펫페어 방문</a:t>
            </a:r>
          </a:p>
        </p:txBody>
      </p:sp>
    </p:spTree>
    <p:extLst>
      <p:ext uri="{BB962C8B-B14F-4D97-AF65-F5344CB8AC3E}">
        <p14:creationId xmlns:p14="http://schemas.microsoft.com/office/powerpoint/2010/main" val="299471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브랜딩형 · 신세계백화점 LOVES THE EARTH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설계도 03 /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325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고딕14"/>
              </a:rPr>
              <a:t>한 번 하고 끝내지 않고, 오래 쌓아 백화점 고유의 이미지를 만듭니다.</a:t>
            </a:r>
          </a:p>
        </p:txBody>
      </p:sp>
      <p:pic>
        <p:nvPicPr>
          <p:cNvPr id="19" name="Picture 18" descr="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2997602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6583680" y="1783080"/>
            <a:ext cx="54864" cy="8229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1783080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무엇을  </a:t>
            </a:r>
            <a:r>
              <a:rPr sz="1900" b="1">
                <a:solidFill>
                  <a:srgbClr val="131313"/>
                </a:solidFill>
                <a:latin typeface="a고딕17"/>
              </a:rPr>
              <a:t>친환경 캐릭터 개발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167128"/>
            <a:ext cx="48280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캠페인만의 캐릭터를 만들었습니다.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926080"/>
            <a:ext cx="54864" cy="8229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2926080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어디에  </a:t>
            </a:r>
            <a:r>
              <a:rPr sz="1900" b="1">
                <a:solidFill>
                  <a:srgbClr val="131313"/>
                </a:solidFill>
                <a:latin typeface="a고딕17"/>
              </a:rPr>
              <a:t>쇼핑백 · 포스터 · 포장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310128"/>
            <a:ext cx="48280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고객이 만나는 모든 곳에 같은 얼굴을 반복했습니다.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069080"/>
            <a:ext cx="54864" cy="8229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4069080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결과  </a:t>
            </a:r>
            <a:r>
              <a:rPr sz="1900" b="1">
                <a:solidFill>
                  <a:srgbClr val="131313"/>
                </a:solidFill>
                <a:latin typeface="a고딕17"/>
              </a:rPr>
              <a:t>브랜드 자산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453128"/>
            <a:ext cx="48280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"보기만 해도 신세계". 2021 iF 디자인 어워드 수상으로 인정받았습니다.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86400"/>
            <a:ext cx="5394960" cy="105156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486400"/>
            <a:ext cx="73152" cy="10515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596128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MD 포인트</a:t>
            </a:r>
          </a:p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캠페인을 한 번에 끝내지 않고 오래 쌓으면, 그 자체가 백화점의 얼굴(브랜드 자산)이 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548640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5596128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이렇게 적용해 보면  </a:t>
            </a:r>
            <a:r>
              <a:rPr sz="1600" b="1">
                <a:solidFill>
                  <a:srgbClr val="131313"/>
                </a:solidFill>
                <a:latin typeface="a고딕17"/>
              </a:rPr>
              <a:t>[식품 MD]</a:t>
            </a:r>
          </a:p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자체 캠페인 캐릭터를 활용한 명절 친환경 포장 선물 세트</a:t>
            </a:r>
          </a:p>
        </p:txBody>
      </p:sp>
    </p:spTree>
    <p:extLst>
      <p:ext uri="{BB962C8B-B14F-4D97-AF65-F5344CB8AC3E}">
        <p14:creationId xmlns:p14="http://schemas.microsoft.com/office/powerpoint/2010/main" val="428227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경험형 · 롯데백화점 RE:JOICE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설계도 04 /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325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고딕14"/>
              </a:rPr>
              <a:t>상품이 아니라 "우리 고객이 뭘 힘들어하지?"에서 출발합니다.</a:t>
            </a:r>
          </a:p>
        </p:txBody>
      </p:sp>
      <p:pic>
        <p:nvPicPr>
          <p:cNvPr id="19" name="Picture 18" descr="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694617" cy="352044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6583680" y="1783080"/>
            <a:ext cx="54864" cy="6217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1783080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1  </a:t>
            </a:r>
            <a:r>
              <a:rPr sz="1900" b="1">
                <a:solidFill>
                  <a:srgbClr val="131313"/>
                </a:solidFill>
                <a:latin typeface="a고딕17"/>
              </a:rPr>
              <a:t>고객의 진짜 고민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167128"/>
            <a:ext cx="482803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마음 건강. 깔때기의 넓은 입구입니다.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660904"/>
            <a:ext cx="54864" cy="6217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2660904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2  </a:t>
            </a:r>
            <a:r>
              <a:rPr sz="1900" b="1">
                <a:solidFill>
                  <a:srgbClr val="131313"/>
                </a:solidFill>
                <a:latin typeface="a고딕17"/>
              </a:rPr>
              <a:t>상담 · 문화 프로그램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044952"/>
            <a:ext cx="482803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고민을 함께 다루는 자리를 만듭니다.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538728"/>
            <a:ext cx="54864" cy="6217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3538728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3  </a:t>
            </a:r>
            <a:r>
              <a:rPr sz="1900" b="1">
                <a:solidFill>
                  <a:srgbClr val="131313"/>
                </a:solidFill>
                <a:latin typeface="a고딕17"/>
              </a:rPr>
              <a:t>오프라인 공간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922776"/>
            <a:ext cx="482803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리조이스 카페처럼 머물 공간으로 이어집니다.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416552"/>
            <a:ext cx="54864" cy="6217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12280" y="4416552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4  </a:t>
            </a:r>
            <a:r>
              <a:rPr sz="1900" b="1">
                <a:solidFill>
                  <a:srgbClr val="131313"/>
                </a:solidFill>
                <a:latin typeface="a고딕17"/>
              </a:rPr>
              <a:t>상품 · 서비스 제안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800600"/>
            <a:ext cx="482803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고민에 맞는 상품을 자연스럽게 제안합니다.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86400"/>
            <a:ext cx="5394960" cy="105156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486400"/>
            <a:ext cx="73152" cy="10515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596128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MD 포인트</a:t>
            </a:r>
          </a:p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사회적 이슈를 고객 경험(공간)으로 바꾸는 가장 강력한 방법입니다. 고민 → 공간 → 상품 순서로 좁혀 갑니다.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548640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3952" y="5596128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이렇게 적용해 보면  </a:t>
            </a:r>
            <a:r>
              <a:rPr sz="1600" b="1">
                <a:solidFill>
                  <a:srgbClr val="131313"/>
                </a:solidFill>
                <a:latin typeface="a고딕17"/>
              </a:rPr>
              <a:t>[리빙 MD]</a:t>
            </a:r>
          </a:p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수면 고민 분석 → 수면 클래스 → 슬립 라운지 체험 → 프리미엄 침구 제안</a:t>
            </a:r>
          </a:p>
        </p:txBody>
      </p:sp>
    </p:spTree>
    <p:extLst>
      <p:ext uri="{BB962C8B-B14F-4D97-AF65-F5344CB8AC3E}">
        <p14:creationId xmlns:p14="http://schemas.microsoft.com/office/powerpoint/2010/main" val="124080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기업 연합형 · 이마트 가플지우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설계도 05 /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325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고딕14"/>
              </a:rPr>
              <a:t>"가져와요 플라스틱, 지켜가요 우리 바다" (2018년 시작, 참여 기업 계속 확대)</a:t>
            </a:r>
          </a:p>
        </p:txBody>
      </p:sp>
      <p:pic>
        <p:nvPicPr>
          <p:cNvPr id="19" name="Picture 18" descr="c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316121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6583680" y="1783080"/>
            <a:ext cx="54864" cy="8229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1783080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조각 1  </a:t>
            </a:r>
            <a:r>
              <a:rPr sz="1900" b="1">
                <a:solidFill>
                  <a:srgbClr val="131313"/>
                </a:solidFill>
                <a:latin typeface="a고딕17"/>
              </a:rPr>
              <a:t>이마트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167128"/>
            <a:ext cx="48280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매장을 플라스틱 수거 거점으로. 고객을 만나는 자리를 맡습니다.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926080"/>
            <a:ext cx="54864" cy="8229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2926080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조각 2  </a:t>
            </a:r>
            <a:r>
              <a:rPr sz="1900" b="1">
                <a:solidFill>
                  <a:srgbClr val="131313"/>
                </a:solidFill>
                <a:latin typeface="a고딕17"/>
              </a:rPr>
              <a:t>테라사이클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310128"/>
            <a:ext cx="48280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모은 플라스틱을 재활용 · 업사이클합니다.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069080"/>
            <a:ext cx="54864" cy="8229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4069080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조각 3  </a:t>
            </a:r>
            <a:r>
              <a:rPr sz="1900" b="1">
                <a:solidFill>
                  <a:srgbClr val="131313"/>
                </a:solidFill>
                <a:latin typeface="a고딕17"/>
              </a:rPr>
              <a:t>한국P&amp;G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453128"/>
            <a:ext cx="48280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A3A3A"/>
                </a:solidFill>
                <a:latin typeface="a고딕14"/>
              </a:rPr>
              <a:t>비용과 콘텐츠를 함께 나눠 맡습니다.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86400"/>
            <a:ext cx="5394960" cy="105156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486400"/>
            <a:ext cx="73152" cy="105156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596128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MD 포인트</a:t>
            </a:r>
          </a:p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퍼즐처럼 각자 잘하는 조각을 맞춥니다. 혼자면 비싸고 금방 끝나지만, 함께하면 크게 오래 갑니다.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548640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5596128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7"/>
              </a:rPr>
              <a:t>이렇게 적용해 보면  </a:t>
            </a:r>
            <a:r>
              <a:rPr sz="1600" b="1">
                <a:solidFill>
                  <a:srgbClr val="131313"/>
                </a:solidFill>
                <a:latin typeface="a고딕17"/>
              </a:rPr>
              <a:t>[패션 MD]</a:t>
            </a:r>
          </a:p>
          <a:p>
            <a:pPr algn="l"/>
            <a:r>
              <a:rPr sz="1600" b="0">
                <a:solidFill>
                  <a:srgbClr val="131313"/>
                </a:solidFill>
                <a:latin typeface="a고딕16"/>
              </a:rPr>
              <a:t>다른 브랜드와 헌 옷 수거 캠페인 공동 주최 → 대규모 업사이클 굿즈전</a:t>
            </a:r>
          </a:p>
        </p:txBody>
      </p:sp>
    </p:spTree>
    <p:extLst>
      <p:ext uri="{BB962C8B-B14F-4D97-AF65-F5344CB8AC3E}">
        <p14:creationId xmlns:p14="http://schemas.microsoft.com/office/powerpoint/2010/main" val="183154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</a:rPr>
              <a:t>캠페인 5가지 설계도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868680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</a:rPr>
              <a:t>한눈에 정리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600200"/>
            <a:ext cx="2514600" cy="54864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16002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고딕17"/>
              </a:rPr>
              <a:t>유형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1600200"/>
            <a:ext cx="2651760" cy="54864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46120" y="160020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고딕17"/>
              </a:rPr>
              <a:t>핵심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1600200"/>
            <a:ext cx="2971800" cy="54864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97880" y="16002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고딕17"/>
              </a:rPr>
              <a:t>MD 관점의 포인트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1600200"/>
            <a:ext cx="2953512" cy="54864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0" y="1600200"/>
            <a:ext cx="26791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고딕17"/>
              </a:rPr>
              <a:t>이런 목적에 추천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148840"/>
            <a:ext cx="11091672" cy="84124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22402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참여형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60604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고딕14"/>
              </a:rPr>
              <a:t>롯데 RE:EARTH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148840"/>
            <a:ext cx="23774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6"/>
              </a:rPr>
              <a:t>친환경 · 업사이클링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148840"/>
            <a:ext cx="2697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6"/>
              </a:rPr>
              <a:t>캠페인 → 체험 → 상품 판매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148840"/>
            <a:ext cx="267919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</a:rPr>
              <a:t>고객이 직접 행동하게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08152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리워드형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44728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고딕14"/>
              </a:rPr>
              <a:t>현대 Green Friends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2990088"/>
            <a:ext cx="23774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6"/>
              </a:rPr>
              <a:t>친환경 행동 → 포인트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2990088"/>
            <a:ext cx="2697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6"/>
              </a:rPr>
              <a:t>행동을 구매 혜택과 연결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990088"/>
            <a:ext cx="267919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</a:rPr>
              <a:t>반복 방문과 습관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831336"/>
            <a:ext cx="11091672" cy="84124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3922776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브랜딩형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88536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고딕14"/>
              </a:rPr>
              <a:t>신세계 LOVES THE EARTH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3831336"/>
            <a:ext cx="23774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6"/>
              </a:rPr>
              <a:t>친환경 캐릭터 · 패키지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3831336"/>
            <a:ext cx="2697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6"/>
              </a:rPr>
              <a:t>ESG를 브랜드 자산으로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831336"/>
            <a:ext cx="267919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</a:rPr>
              <a:t>고유한 이미지 쌓기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76402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경험형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129784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고딕14"/>
              </a:rPr>
              <a:t>롯데 RE:JOICE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4672584"/>
            <a:ext cx="23774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6"/>
              </a:rPr>
              <a:t>마음 건강 · 문화 프로그램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4672584"/>
            <a:ext cx="2697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6"/>
              </a:rPr>
              <a:t>사회적 이슈를 경험으로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4672584"/>
            <a:ext cx="267919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</a:rPr>
              <a:t>고민 해결, 깊은 관계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513832"/>
            <a:ext cx="11091672" cy="84124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560527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</a:rPr>
              <a:t>연합형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97103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고딕14"/>
              </a:rPr>
              <a:t>이마트 가플지우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6120" y="5513832"/>
            <a:ext cx="23774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6"/>
              </a:rPr>
              <a:t>플라스틱 수거 · 해양 보호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5513832"/>
            <a:ext cx="2697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31313"/>
                </a:solidFill>
                <a:latin typeface="a고딕16"/>
              </a:rPr>
              <a:t>여러 기업이 함께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513832"/>
            <a:ext cx="267919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</a:rPr>
              <a:t>비용 분담, 큰 규모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871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사례 ①  롯데백화점 「RE:EARTH」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친환경 상품을 파는 캠페인이 아니라, 고객이 직접 환경 활동에 참여하도록 만든 캠페인입니다.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2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참여형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78308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환경문제 인식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8257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9153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참여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8771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9667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체험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79284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0180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업사이클링 상품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59798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70694" y="2331720"/>
            <a:ext cx="1969617" cy="566928"/>
          </a:xfrm>
          <a:prstGeom prst="rect">
            <a:avLst/>
          </a:prstGeom>
          <a:solidFill>
            <a:srgbClr val="E05A38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구매 · 기부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개요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시티 플로깅 · 비치코밍을 진행하고, 수거한 쓰레기를 RE:EARTH 부스에서 제로웨이스트 · 업사이클링 상품으로 교환하도록 운영했습니다.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2023년 롯데월드몰에 RE:EARTH 체험관을 열어 업사이클링 상품 판매, 친환경 아트워크, 이벤트를 결합했습니다.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백화점 VMD에 사용했던 플라스틱을 재활용해 고객 휴게공간을 만들었습니다.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73952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MD가 배울 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ESG 캠페인이라고 ESG 이야기만 하지 않고, 참여 → 체험 → 상품으로 연결했습니다.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고객의 '행동'이 매장 방문과 상품 접점으로 이어지도록 동선을 설계한 것이 핵심입니다.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11091672" cy="1005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539496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sz="105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적용 예시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ko-KR" sz="12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뷰티 MD라면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606040" y="5650992"/>
            <a:ext cx="1995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공병 가져오기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01718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038" y="5650992"/>
            <a:ext cx="1995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포인트 지급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71716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46036" y="5650992"/>
            <a:ext cx="1995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친환경 뷰티 브랜드 팝업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1714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6034" y="5650992"/>
            <a:ext cx="1995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상품 구매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사례 ②  현대백화점 「Green Friends」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고객의 친환경 행동을 마일리지와 쇼핑 혜택으로 연결한 고객 참여형 프로그램입니다.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2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리워드형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78308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행동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8257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9153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친환경 활동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8771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9667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마일리지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79284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0180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쇼핑 혜택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59798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70694" y="2331720"/>
            <a:ext cx="1969617" cy="566928"/>
          </a:xfrm>
          <a:prstGeom prst="rect">
            <a:avLst/>
          </a:prstGeom>
          <a:solidFill>
            <a:srgbClr val="E05A38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반복 참여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개요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장바구니 사용, 카페H 텀블러 사용, 식품관 다회용기 사용, 휴대폰 리사이클 등을 대상 활동으로 운영하고 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고객의 친환경 활동을 H.Point 등 고객 혜택과 연결해 운영해 왔습니다.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'착한 행동을 하면 쇼핑 혜택을 준다'는 단순한 구조가 반복 참여를 만듭니다.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73952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MD가 배울 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행동 → 포인트 → 재방문 → 구매로 이어지는 순환 구조는 어느 카테고리에도 옮겨 쓸 수 있는 모델입니다.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혜택이 '할인'이 아니라 '행동의 보상'이어서 가격 경쟁 없이도 참여 동기를 만듭니다.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11091672" cy="1005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539496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sz="105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적용 예시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ko-KR" sz="12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반려동물 MD라면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606040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반려동물 용품 기부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47718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2038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포인트 지급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63716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8036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펫 브랜드 할인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9715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54035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펫페어 참여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95713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0033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구매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사례 ③  신세계백화점 「SHINSEGAE LOVES THE EARTH」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캠페인을 일회성 행사가 아니라 백화점의 브랜드 자산으로 쌓아 올린 사례입니다.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2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브랜드 브랜딩형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78308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589532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이름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8172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9068" y="2331720"/>
            <a:ext cx="1589532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캐릭터 · 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8599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9495" y="2331720"/>
            <a:ext cx="1589532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패키지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39027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9923" y="2331720"/>
            <a:ext cx="1589532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상품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9455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0351" y="2331720"/>
            <a:ext cx="1589532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매장 VMD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39883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0779" y="2331720"/>
            <a:ext cx="1589532" cy="566928"/>
          </a:xfrm>
          <a:prstGeom prst="rect">
            <a:avLst/>
          </a:prstGeom>
          <a:solidFill>
            <a:srgbClr val="E05A38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경험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개요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'신초록'과 '이푸름' 캐릭터를 개발해 재활용 소재 장바구니와 광고물 등에 활용했습니다.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이 캠페인으로 2021 iF 디자인 어워드를 수상했습니다.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친환경 쇼핑백, 에코 패키지 등 실제 상품 · 포장 영역까지 캠페인을 확장했습니다.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73952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MD가 배울 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3952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RE:EARTH가 고객 참여형에 가깝다면, 신세계는 캠페인 자체를 백화점의 브랜드 자산으로 만드는 방식입니다.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하나의 캠페인이 여러 MD 카테고리를 관통하므로, 카테고리별 기획이 같은 언어로 말하게 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94960"/>
            <a:ext cx="11091672" cy="1005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539496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sz="105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적용 예시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ko-KR" sz="12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식품 MD라면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606040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캐릭터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7718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22038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에코 패키지 기프트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63716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8036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식품관 VMD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9715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4035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SNS 인증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95713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0033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재구매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사례 ④  롯데백화점 「RE:JOICE」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환경이 아니라 고객의 마음을 소재로, 사회적 이슈를 고객 경험으로 바꾼 캠페인입니다.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2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경험형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78308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고객의 문제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8257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9153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콘텐츠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8771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9667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공간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79284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0180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서비스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59798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70694" y="2331720"/>
            <a:ext cx="1969617" cy="566928"/>
          </a:xfrm>
          <a:prstGeom prst="rect">
            <a:avLst/>
          </a:prstGeom>
          <a:solidFill>
            <a:srgbClr val="E05A38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관계 형성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개요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2017년 여성의 우울증에 대한 인식 개선에서 시작해 상담, 힐링 프로그램, 문화 프로그램으로 확장했습니다.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리조이스 카페처럼 실제 공간을 만들고 상담 서비스를 제공했습니다.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최근에도 사회공헌 캠페인으로 지속 운영하고 있습니다.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73952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MD가 배울 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'상품 → 고객'이 아니라 '고객의 문제 → 콘텐츠 → 공간 → 서비스'의 순서로 설계했습니다.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웰니스, 마음건강, 수면, 여성 라이프스타일, 시니어, 육아, 반려동물도 같은 방식으로 캠페인화할 수 있습니다.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11091672" cy="1005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539496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sz="105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적용 예시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ko-KR" sz="12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리빙 MD라면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606040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수면 고민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47718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2038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수면 클래스 · 상담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63716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8036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슬립 라운지 체험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9715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54035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침구 · 수면용품 제안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95713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0033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멤버십 연결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사례 ⑤  이마트 「가플지우」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'가져와요 플라스틱, 지켜가요 우리 바다' — 여러 기업이 함께 만드는 참여형 플랫폼 캠페인입니다.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2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기업 연합형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78308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3282696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유통사 · 제조사 · 환경기업 · 공공기관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1336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2232" y="2331720"/>
            <a:ext cx="1641348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공동 캠페인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83580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2331720"/>
            <a:ext cx="1641348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플라스틱 수거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35824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331720"/>
            <a:ext cx="1641348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업사이클링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88068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98964" y="2331720"/>
            <a:ext cx="1641348" cy="566928"/>
          </a:xfrm>
          <a:prstGeom prst="rect">
            <a:avLst/>
          </a:prstGeom>
          <a:solidFill>
            <a:srgbClr val="E05A38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해양보호 교육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개요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2018년 이마트 · 테라사이클 · 한국P&amp;G가 함께 시작했습니다.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2026년에는 참여 기업이 19개사로 확대됐습니다.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플라스틱 수거, 업사이클링, 해안 정화, 해양보호 교육 등을 진행하고 있습니다.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73952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MD가 배울 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유통사 혼자가 아니라 유통사 + 제조사 + 환경기업 + 공공기관을 묶어 '캠페인 = 기업 공동 플랫폼'으로 만들었습니다.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협력 기업이 비용과 콘텐츠를 나눠 맡기 때문에 캠페인의 규모와 지속성이 커집니다.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11091672" cy="1005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539496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sz="105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적용 예시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ko-KR" sz="12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패션 MD라면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606040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헌 옷 수거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47718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2038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협력 브랜드 리사이클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63716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8036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업사이클 굿즈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9715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54035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참여 브랜드 공동 프로모션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95713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0033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구매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유형 5가지로 다시 읽기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사례를 유형으로 읽으면, 우리 캠페인을 설계할 때 고를 수 있는 선택지가 됩니다.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07203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1783080"/>
            <a:ext cx="2072030" cy="96012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189280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167128"/>
            <a:ext cx="179771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참여형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88036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대표 사례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108960"/>
            <a:ext cx="179771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롯데 RE:EARTH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65760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설계 공식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886200"/>
            <a:ext cx="179771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참여 → 리워드 → 상품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52628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이럴 때 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754880"/>
            <a:ext cx="179771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고객이 직접 움직이게 해 방문과 체험을 늘리고 싶을 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3550" y="1783080"/>
            <a:ext cx="207203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03550" y="1783080"/>
            <a:ext cx="2072030" cy="96012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68142" y="189280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68142" y="2167128"/>
            <a:ext cx="179771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리워드형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68142" y="288036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대표 사례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68142" y="3108960"/>
            <a:ext cx="179771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현대 Green Friends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68142" y="365760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설계 공식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68142" y="3886200"/>
            <a:ext cx="179771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행동 → 포인트 → 재방문 → 구매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68142" y="452628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이럴 때 쓴다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68142" y="4754880"/>
            <a:ext cx="179771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반복 방문과 회원 활동을 키우고 싶을 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58460" y="1783080"/>
            <a:ext cx="207203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58460" y="1783080"/>
            <a:ext cx="2072030" cy="96012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223052" y="189280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23052" y="2167128"/>
            <a:ext cx="179771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브랜드 브랜딩형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23052" y="288036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대표 사례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23052" y="3108960"/>
            <a:ext cx="179771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신세계 SHINSEGAE LOVES THE EARTH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23052" y="365760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설계 공식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23052" y="3886200"/>
            <a:ext cx="179771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→ 캐릭터 → 상품 → VMD → 브랜드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23052" y="452628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이럴 때 쓴다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23052" y="4754880"/>
            <a:ext cx="179771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백화점의 이미지를 장기적으로 쌓고 싶을 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3371" y="1783080"/>
            <a:ext cx="207203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313371" y="1783080"/>
            <a:ext cx="2072030" cy="96012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477963" y="189280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04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77963" y="2167128"/>
            <a:ext cx="179771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경험형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7963" y="288036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대표 사례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7963" y="3108960"/>
            <a:ext cx="179771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롯데 RE:JOICE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77963" y="365760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설계 공식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77963" y="3886200"/>
            <a:ext cx="179771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문제 → 공간 → 체험 → 관계 형성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77963" y="452628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이럴 때 쓴다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77963" y="4754880"/>
            <a:ext cx="179771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고객의 고민을 해결하며 관계를 만들고 싶을 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68281" y="1783080"/>
            <a:ext cx="207203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568281" y="1783080"/>
            <a:ext cx="2072030" cy="96012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32873" y="189280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32873" y="2167128"/>
            <a:ext cx="179771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기업 연합형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32873" y="288036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대표 사례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32873" y="3108960"/>
            <a:ext cx="179771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이마트 가플지우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32873" y="365760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설계 공식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32873" y="3886200"/>
            <a:ext cx="179771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유통사 + 브랜드 + 공공기관 → 공동 캠페인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32873" y="452628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이럴 때 쓴다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32873" y="4754880"/>
            <a:ext cx="179771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규모와 지속성, 협력 브랜드의 참여가 필요할 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532120"/>
            <a:ext cx="11091672" cy="86868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ko-KR" sz="11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다음 단계에서는 고객 트렌드를 분석해 이 다섯 유형 중 하나를 고릅니다.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트렌드가 고객이 처한 상황을 알려 준다면, 캠페인 유형은 그 상황에 어떻게 응답할지를 알려 줍니다.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695450" y="3841750"/>
            <a:ext cx="4946650" cy="63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92150" y="323850"/>
            <a:ext cx="17145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9" name="TextBox 9"/>
          <p:cNvSpPr txBox="1"/>
          <p:nvPr/>
        </p:nvSpPr>
        <p:spPr>
          <a:xfrm>
            <a:off x="659396" y="2603501"/>
            <a:ext cx="324485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233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고객 트렌드 분석에서 출발하는 5단계 프로세스로 캠페인을 설계하고 실행합니다. </a:t>
            </a:r>
          </a:p>
          <a:p>
            <a:pPr lvl="0" algn="l">
              <a:lnSpc>
                <a:spcPct val="141100"/>
              </a:lnSpc>
            </a:pPr>
            <a:r>
              <a:rPr lang="en-US" sz="1233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각 단계는 트렌드 신호 확인부터 성과 측정까지 유기적으로 연결됩니다.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949" y="1797050"/>
            <a:ext cx="3606799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설계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프로세스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개요</a:t>
            </a:r>
            <a:endParaRPr lang="en-US" sz="2000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1587500"/>
            <a:ext cx="336550" cy="3365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2546350"/>
            <a:ext cx="336550" cy="3365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4464050"/>
            <a:ext cx="336550" cy="3365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3505200"/>
            <a:ext cx="336550" cy="33655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5422900"/>
            <a:ext cx="336550" cy="33655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127750" y="19621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소비 트렌드와 우리 고객 데이터에서 변화의 신호 확인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40450" y="1587500"/>
            <a:ext cx="20320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STEP 1: 트렌드 분석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27750" y="292100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신규회원 · 인지도 · 매출 목표와 신호가 강한 고객층 선정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40450" y="2546350"/>
            <a:ext cx="36068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STEP 2: 목표 설정 · 타깃 정의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27750" y="38798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트렌드가 만든 고객의 상황 · 불만 · 욕구를 문장으로 정리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140450" y="3505200"/>
            <a:ext cx="45974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STEP 3: 고객 Insight 도출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27750" y="483870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5가지 캠페인 유형 중 전략을 고르고 경험과 핵심 메시지 수립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140450" y="4464050"/>
            <a:ext cx="38862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STEP 4: 캠페인 유형 · 컨셉 개발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27750" y="57975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캠페인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성공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측정을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위한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정량·정성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지표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결정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140450" y="5422900"/>
            <a:ext cx="40640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STEP 5: KPI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설정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461000" y="160655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61000" y="256540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61000" y="448310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61000" y="352425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73700" y="5441950"/>
            <a:ext cx="20320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5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A38643E3-FEFF-AAFD-0091-A34B688751C2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695450" y="3841750"/>
            <a:ext cx="4946650" cy="63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92150" y="323850"/>
            <a:ext cx="17145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9" name="TextBox 9"/>
          <p:cNvSpPr txBox="1"/>
          <p:nvPr/>
        </p:nvSpPr>
        <p:spPr>
          <a:xfrm>
            <a:off x="615950" y="3124200"/>
            <a:ext cx="3168650" cy="717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학습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이론을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실제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상황에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적용하는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종합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실습입니다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.</a:t>
            </a:r>
          </a:p>
          <a:p>
            <a:pPr lvl="0" algn="l">
              <a:lnSpc>
                <a:spcPct val="141100"/>
              </a:lnSpc>
            </a:pP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롯데백화점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20~30대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신규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고객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확보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캠페인을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기획합니다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950" y="1797050"/>
            <a:ext cx="340995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프로젝트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개요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및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과제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16200000">
            <a:off x="7480300" y="-1066800"/>
            <a:ext cx="1441450" cy="6413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16200000">
            <a:off x="7480300" y="-1066800"/>
            <a:ext cx="1441450" cy="6413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5400000">
            <a:off x="6864350" y="2139950"/>
            <a:ext cx="546100" cy="63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16200000">
            <a:off x="7480300" y="615950"/>
            <a:ext cx="1441450" cy="6413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16200000">
            <a:off x="7480300" y="615950"/>
            <a:ext cx="1441450" cy="641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5400000">
            <a:off x="6864350" y="3822700"/>
            <a:ext cx="546100" cy="635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16200000">
            <a:off x="7480300" y="2324100"/>
            <a:ext cx="1441450" cy="6413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16200000">
            <a:off x="7480300" y="2324100"/>
            <a:ext cx="1441450" cy="6413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5400000">
            <a:off x="6864350" y="5530850"/>
            <a:ext cx="546100" cy="635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alphaModFix amt="65000"/>
          </a:blip>
          <a:stretch>
            <a:fillRect/>
          </a:stretch>
        </p:blipFill>
        <p:spPr>
          <a:xfrm rot="16200000">
            <a:off x="4610100" y="1885950"/>
            <a:ext cx="1276350" cy="508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alphaModFix amt="65000"/>
          </a:blip>
          <a:stretch>
            <a:fillRect/>
          </a:stretch>
        </p:blipFill>
        <p:spPr>
          <a:xfrm rot="16200000">
            <a:off x="4610100" y="3568700"/>
            <a:ext cx="1276350" cy="508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alphaModFix amt="65000"/>
          </a:blip>
          <a:stretch>
            <a:fillRect/>
          </a:stretch>
        </p:blipFill>
        <p:spPr>
          <a:xfrm rot="16200000">
            <a:off x="4610100" y="5276850"/>
            <a:ext cx="1276350" cy="508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1550" y="1924050"/>
            <a:ext cx="431800" cy="431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1550" y="3606800"/>
            <a:ext cx="431800" cy="431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1550" y="5321300"/>
            <a:ext cx="431800" cy="4318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13400" y="1841500"/>
            <a:ext cx="1485900" cy="298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프로젝트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상황</a:t>
            </a:r>
            <a:endParaRPr lang="en-US" sz="16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454900" y="1822450"/>
            <a:ext cx="3956050" cy="6159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1970"/>
              </a:lnSpc>
            </a:pP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롯데백화점의 20~30대 신규 고객 확보 캠페인을 고객 트렌드 분석에서 출발해 기획하며 마케팅팀 역할을 수행합니다.</a:t>
            </a:r>
          </a:p>
          <a:p>
            <a:pPr lvl="0" algn="l">
              <a:lnSpc>
                <a:spcPct val="131970"/>
              </a:lnSpc>
            </a:pP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 신호와 고객 데이터를 근거로 실무 기획 능력을 개발합니다.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13400" y="3524250"/>
            <a:ext cx="1485900" cy="298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팀별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기획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과제</a:t>
            </a:r>
            <a:endParaRPr lang="en-US" sz="16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454900" y="3505200"/>
            <a:ext cx="395605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1970"/>
              </a:lnSpc>
            </a:pP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캠페인명, 슬로건, 컨셉, 운영계획, 홍보 전략, KPI 설정 6가지 핵심 요소를 개발합니다.</a:t>
            </a:r>
          </a:p>
          <a:p>
            <a:pPr lvl="0" algn="l">
              <a:lnSpc>
                <a:spcPct val="131970"/>
              </a:lnSpc>
            </a:pP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선택한 트렌드 키워드와 캠페인 유형을 근거로 캠페인명과 핵심 메시지를 제안합니다.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13400" y="5232400"/>
            <a:ext cx="1485900" cy="298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실행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세부사항</a:t>
            </a:r>
            <a:endParaRPr lang="en-US" sz="16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454900" y="5213350"/>
            <a:ext cx="395605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1970"/>
              </a:lnSpc>
            </a:pP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일정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장소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예산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프로그램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협력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등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실행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가능한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운영계획을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수립합니다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SNS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릴스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인플루언서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라이브커머스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멤버십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연계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등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채널별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홍보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전략과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측정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가능한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KPI를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설정합니다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43450" y="2000250"/>
            <a:ext cx="514350" cy="2603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43450" y="3689350"/>
            <a:ext cx="514350" cy="2603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43450" y="5397500"/>
            <a:ext cx="514350" cy="2603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03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A2D840D0-763B-2874-BFC4-2744354D80A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트렌드에서 캠페인 전략으로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트렌드는 모두에게 똑같이 주어집니다. 차이는 우리 고객 데이터에서 그 신호를 확인하는 데서 나옵니다.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2148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" y="1947672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STEP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221991"/>
            <a:ext cx="22219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트렌드 탐색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24328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무엇이 바뀌고 있는가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2971800"/>
            <a:ext cx="22219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소비 트렌드 보고서, 뉴스, SNS 키워드에서 고객 변화의 방향을 찾습니다.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6392" y="1783080"/>
            <a:ext cx="246888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20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783080"/>
            <a:ext cx="2587752" cy="2148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84448" y="1947672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STEP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4448" y="2221991"/>
            <a:ext cx="22219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우리 고객 신호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2624328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우리 고객에게도 나타나는가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84448" y="2971800"/>
            <a:ext cx="22219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방문 목적, 카테고리 매출, 체류 시간, 문의 데이터로 트렌드가 실제로 나타나는지 확인합니다.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71032" y="1783080"/>
            <a:ext cx="246888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20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2587752" cy="2148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19088" y="1947672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STEP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9088" y="2221991"/>
            <a:ext cx="22219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상황 해석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2624328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그래서 고객은 어떤 상황인가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9088" y="2971800"/>
            <a:ext cx="22219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트렌드를 '[상황]일 때 [행동]하는데 [욕구]를 느낀다'로 바꿔 인사이트의 재료로 만듭니다.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05672" y="1783080"/>
            <a:ext cx="246888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20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1783080"/>
            <a:ext cx="2587752" cy="2148840"/>
          </a:xfrm>
          <a:prstGeom prst="rect">
            <a:avLst/>
          </a:prstGeom>
          <a:solidFill>
            <a:srgbClr val="E05A3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53728" y="1947672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STEP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53728" y="2221991"/>
            <a:ext cx="22219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유형 · MD 연결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53728" y="2624328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어떻게 응답할 것인가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53728" y="2971800"/>
            <a:ext cx="22219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다섯 가지 캠페인 유형 중 하나를 고르고, 연결할 카테고리와 상품을 정합니다.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14800"/>
            <a:ext cx="110916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4114800"/>
            <a:ext cx="14630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적용 예시</a:t>
            </a:r>
            <a:endParaRPr lang="ko-KR" sz="120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148840" y="4114800"/>
            <a:ext cx="93268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ko-KR" sz="11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필코노미  →  20~30대 방문 목적 1위 '기분 전환' 38%  →  "퇴근 후 기분이 가라앉는데 딱히 풀 곳이 없다"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  경험형 캠페인 (RE:JOICE 벤치마킹)  +  뷰티 · F&amp;B · 리빙 카테고리 연결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166360"/>
            <a:ext cx="3575304" cy="12344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7240" y="5285232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트렌드 나열은 전략이 아닙니다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596128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키워드를 다섯 개 모아 놓은 것은 조사입니다. 하나를 고르고 나머지를 버려야 전략이 됩니다.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06824" y="5166360"/>
            <a:ext cx="3575304" cy="12344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35424" y="5285232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데이터 없는 트렌드는 버리십시오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5424" y="5596128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유행하는 키워드라도 우리 고객 데이터에 신호가 없으면 우리 캠페인의 근거가 될 수 없습니다.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65008" y="5166360"/>
            <a:ext cx="3575304" cy="12344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93608" y="5285232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트렌드는 상품까지 내려와야 합니다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93608" y="5596128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고객 상황 → 캠페인 유형 → 카테고리 · 상품으로 연결되지 않으면 MD의 캠페인이 아닙니다.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2026 소비 트렌드와 리테일 캠페인 기회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『트렌드 코리아 2026』 10대 키워드 가운데 백화점 캠페인과 관계가 깊은 여섯 가지를 골랐습니다.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12724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xmlns="" val="3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xmlns="" val="3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xmlns="" val="3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xmlns="" val="30003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xmlns="" val="3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트렌드 키워드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핵심 의미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백화점 고객에게 나타나는 모습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기회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어울리는 유형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필코노미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기분이 소비를 결정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전환을 위해 목적 없이 방문하고, 작은 보상 구매를 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전환 코스 · 감정 테마 팝업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경험형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픽셀 라이프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작고 짧은 경험을 촘촘히 쌓는 삶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짧게 머물며 팝업 · F&amp;B 위주로 자주 방문함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30분 단위 미니 체험 · 스탬프 코스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고객 참여형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프라이스 디코딩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가격이 왜 이 값인지 따져 보는 소비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할인율보다 가격의 이유 · 가치 설명에 반응함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가치 설명형 큐레이션 · 행동 보상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리워드형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건강지능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건강을 소비가 아닌 설계로 관리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웰니스 · 수면 · 운동 카테고리에 관심이 커짐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웰니스 클래스 · 측정 · 상담 결합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경험형 · 기업 연합형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1.5가구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혼자 살지만 연결은 원하는 생활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1인 단위 소비, 반려동물 · 소모임과 함께 방문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반려동물 동반 · 소모임 클래스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고객 참여형 · 리워드형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근본이즘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AI 시대에 원조 · 진짜를 찾음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장인 · 헤리티지 · 원산지 이야기에 관심을 보임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브랜드 헤리티지 · 원조 스토리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브랜드 브랜딩형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11091672" cy="7772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5166360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ko-KR" sz="11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함께 볼 키워드  ·  제로클릭  </a:t>
            </a:r>
            <a:r>
              <a:rPr lang="ko-KR" sz="11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AI 검색이 답을 바로 요약해 주는 시대에는 캠페인명과 핵심 메시지가 한 문장으로 요약될 만큼 단순해야 고객에게 닿습니다.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080760"/>
            <a:ext cx="11091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키워드는 『트렌드 코리아 2026』(김난도 외) 기준이며, 고객 모습 · 캠페인 기회 · 유형 연결은 교육용 해석입니다.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케이스 ①  ·  캠페인 조건과 현황 자료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모든 실습은 이 자료와 다음 장의 고객 트렌드 신호를 근거로 진행합니다. 목표는 이미 정해져 있습니다.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39822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현황 · 조건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참고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 조건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 (시기는 팀이 제안)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트렌드 분석 결과로 결정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총 예산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5억원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채널·운영 포함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행사 공간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1층 아트리움 + 팝업 존 2개소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동선 연결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 현황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20~30대 방문 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24%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전체 평균 대비 낮음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월 신규 회원 (20~30대)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1,800명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 3주 기준 약 1,350명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보유 채널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인스타그램 팔로워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12만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평균 도달률 8%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유튜브 구독자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3.2만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숏폼 반응 양호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MAU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85만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기존 회원 중심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성과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방문객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전년 대비 +12%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동일 예산 규모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신규 회원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2,300명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 기준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SNS 도달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6.5만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 중심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경쟁 상황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경쟁 백화점 캠페인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SNS 도달 25만 추정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 대규모 활용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852160"/>
            <a:ext cx="11091672" cy="658368"/>
          </a:xfrm>
          <a:prstGeom prst="rect">
            <a:avLst/>
          </a:prstGeom>
          <a:solidFill>
            <a:srgbClr val="FBEDE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521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주어진 목표   신규 고객 40% 이상 · 매출 25% 증가 · SNS 도달 10만 이상 · 신규 회원 5,000명 이상 · 만족도 85% 이상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직전 캠페인 실적은 신규 회원 2,300명 · SNS 도달 6.5만입니다. 목표는 두 배가 넘습니다. 같은 방식으로는 도달할 수 없습니다.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53796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교육용으로 구성한 가상 데이터입니다.</a:t>
            </a:r>
            <a:endParaRPr 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케이스 ②  ·  20~30대 고객 트렌드 신호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트렌드 키워드가 우리 고객에게 실제로 나타나는지 보여 주는 데이터입니다. 신호가 강한 것을 고르십시오.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1" cy="38679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xmlns="" val="3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xmlns="" val="3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3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xmlns="" val="30003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xmlns="" val="3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트렌드 키워드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우리 고객 지표 (20~30대)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현황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전년 대비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생각해 볼 질문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필코노미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방문 목적 1위 '기분 전환 · 산책' 응답 비중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38%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+9%p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목적 없이 온 고객을 무엇으로 머물게 할까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필코노미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평일 18~21시 방문 비중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41%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+6%p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기분 전환 수요는 어떤 모습일까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픽셀 라이프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1회 평균 체류 시간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52분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−14분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짧게 머무는 고객에게 맞는 경험의 단위는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픽셀 라이프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팝업 방문 후 다른 층 이동률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22%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−5%p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팝업이 매장 방문으로 이어지지 않는 이유는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프라이스 디코딩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가치 설명형 기획전의 구매 전환율 (할인 행사 대비)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1.4배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신규 측정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할인보다 무엇이 지갑을 열게 하는가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건강지능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웰니스 · 헬스 카테고리 매출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+31%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3년 연속 증가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건강을 '설계'하려는 고객에게 무엇을 줄까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1.5가구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반려동물 동반 방문 문의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월 1,150건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+45%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혼자지만 함께이고 싶은 고객의 동선은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1.5가구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1인 고객 구매 비중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46%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+5%p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1인 단위 상품 · 서비스는 충분한가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근본이즘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헤리티지 · 장인 테마 팝업의 SNS 저장 수 (일반 팝업 대비)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2.3배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우리 백화점만의 '원조' 이야기는 무엇인가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제로클릭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유입 중 검색 · AI 요약 경유 비중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18%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+7%p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캠페인이 한 문장으로 요약되는가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852160"/>
            <a:ext cx="11091672" cy="658368"/>
          </a:xfrm>
          <a:prstGeom prst="rect">
            <a:avLst/>
          </a:prstGeom>
          <a:solidFill>
            <a:srgbClr val="FBEDE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521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트렌드는 여섯 개지만 캠페인은 하나입니다. 신호가 가장 강하고 우리 목표(20~30대 신규 고객 확보)와 가장 가까운 트렌드를 고르십시오.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두 개의 신호가 같은 고객 상황을 가리킨다면, 그것이 가장 믿을 만한 근거입니다.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53796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교육용으로 구성한 가상 데이터입니다.</a:t>
            </a:r>
            <a:endParaRPr 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3-2 캠페인 기획 실습  ·  안내자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시작 전에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실습 12개는 문제 12개가 아니라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이야기 하나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입니다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5449824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1874519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  <a:ea typeface="a고딕17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1874519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요즘 사람들은 기분 때문에 돈을 쓰네 → 필코노미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532887"/>
            <a:ext cx="54498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532887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  <a:ea typeface="a고딕17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2532887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누구를? 퇴근길 20~30대 직장인, 신규 회원 5,000명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191256"/>
            <a:ext cx="5449824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191256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  <a:ea typeface="a고딕17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191256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왜 안 올까? “살 게 없으면 굳이 갈 이유가 없다”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49624"/>
            <a:ext cx="54498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849624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  <a:ea typeface="a고딕17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84962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그럼 “안 사도 오는 곳” → MOOD SHIFT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07992"/>
            <a:ext cx="5449824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507992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  <a:ea typeface="a고딕17"/>
              </a:rPr>
              <a:t>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507992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들를 곳 없는 퇴근길 → 30분 코스 → 기분이 바뀜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66359"/>
            <a:ext cx="54498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166359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  <a:ea typeface="a고딕17"/>
              </a:rPr>
              <a:t>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166359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20~30대가 있는 곳: 인스타 · 인플루언서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0488" y="1874519"/>
            <a:ext cx="5449824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1874519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  <a:ea typeface="a고딕17"/>
              </a:rPr>
              <a:t>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1874519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인스타 → 앱 가입 → 매장 → 다시 오게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0488" y="2532887"/>
            <a:ext cx="54498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2532887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  <a:ea typeface="a고딕17"/>
              </a:rPr>
              <a:t>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6288" y="2532887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언제? 퇴근 시간이니까 평일 저녁 6~9시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0488" y="3191256"/>
            <a:ext cx="5449824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3191256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  <a:ea typeface="a고딕17"/>
              </a:rPr>
              <a:t>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3191256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5억을 여기에 맞게 나눈다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0488" y="3849624"/>
            <a:ext cx="54498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3849624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  <a:ea typeface="a고딕17"/>
              </a:rPr>
              <a:t>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6288" y="384962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성공은 신규 회원 수로 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90488" y="4507992"/>
            <a:ext cx="5449824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4507992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  <a:ea typeface="a고딕17"/>
              </a:rPr>
              <a:t>⑪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76288" y="4507992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①~⑩을 한 장에 옮긴다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90488" y="5166359"/>
            <a:ext cx="544982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5166359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D1C24"/>
                </a:solidFill>
                <a:latin typeface="a고딕17"/>
                <a:ea typeface="a고딕17"/>
              </a:rPr>
              <a:t>⑫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6288" y="5166359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8분 동안 이야기로 발표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학생에게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“오늘은 이야기 하나를 12칸에 나눠 씁니다. ①에서 고른 것이 ⑫까지 줄처럼 이어집니다.”  ·  예시: 원본 MOOD SHIFT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① · 30분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>
                <a:solidFill>
                  <a:srgbClr val="ED1C24"/>
                </a:solidFill>
                <a:latin typeface="a타이틀고딕3"/>
                <a:ea typeface="a타이틀고딕3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78308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우리 고객에게 진짜로 일어나고 있는 변화는</a:t>
            </a:r>
          </a:p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무엇일까요?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29000"/>
            <a:ext cx="11091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트렌드 키워드를 외우는 시간이 아닙니다.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44쪽 표의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숫자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를 보고, 우리 고객에게 실제로 보이는 변화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하나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를 고르는 시간입니다.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여기서 고른 트렌드 하나가 오늘 캠페인 전체를 끌고 갑니다. </a:t>
            </a:r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실습 ②~⑫는 모두 이 선택 위에 쌓입니다.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준비물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44쪽 「20~30대 고객 트렌드 신호」 표 · 실습 ① 워크시트(58쪽)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① · 30분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이렇게 진행합니다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920240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9202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1920240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44쪽 표에서 숫자가 있는 트렌드 세 개를 골라 위쪽 표에 적는다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207568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44쪽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88336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688336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688336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숫자를 “사람의 모습”으로 바꿔 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284378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41쪽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56432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5643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456432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강 · 중 · 약을 체크하고 딱 하나만 남긴다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920" y="36118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44쪽 안내문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24528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224528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22452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어울리는 캠페인 유형과 따라 할 사례를 고른다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46920" y="4379976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42 · 36쪽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92624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992624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992624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연결할 상품을 정하고 캠페인 방향을 한 문장으로 쓴다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46920" y="5148072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41 · 58쪽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시간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조별 작성 20분 · 강사 시범 한 줄 5분 · 조별 1분 공유 5분  =  30분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① · 30분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예시 답안의 뼈대는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41쪽 적용 예시 한 줄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14884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트렌드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60320"/>
            <a:ext cx="1874519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560320"/>
            <a:ext cx="1691639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필코노미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39" y="429768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6B6B6B"/>
                </a:solidFill>
                <a:latin typeface="a고딕16"/>
                <a:ea typeface="a고딕16"/>
              </a:rPr>
              <a:t>42쪽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78024" y="3355848"/>
            <a:ext cx="32004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852927" y="214884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우리 고객 신호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2927" y="2560320"/>
            <a:ext cx="1874519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44368" y="2560320"/>
            <a:ext cx="1691639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방문 목적 1위</a:t>
            </a:r>
          </a:p>
          <a:p>
            <a:pPr algn="ctr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'기분 전환' 38%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67227" y="429768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6B6B6B"/>
                </a:solidFill>
                <a:latin typeface="a고딕16"/>
                <a:ea typeface="a고딕16"/>
              </a:rPr>
              <a:t>44쪽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82312" y="3355848"/>
            <a:ext cx="32004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57215" y="214884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고객 상황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57215" y="2560320"/>
            <a:ext cx="1874519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8655" y="2560320"/>
            <a:ext cx="1691639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퇴근 후 기분이</a:t>
            </a:r>
          </a:p>
          <a:p>
            <a:pPr algn="ctr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가라앉는데</a:t>
            </a:r>
          </a:p>
          <a:p>
            <a:pPr algn="ctr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풀 곳이 없다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71515" y="429768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6B6B6B"/>
                </a:solidFill>
                <a:latin typeface="a고딕16"/>
                <a:ea typeface="a고딕16"/>
              </a:rPr>
              <a:t>41쪽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86599" y="3355848"/>
            <a:ext cx="32004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61503" y="214884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유형 · 사례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61503" y="2560320"/>
            <a:ext cx="1874519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3" y="2560320"/>
            <a:ext cx="1691639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경험형</a:t>
            </a:r>
          </a:p>
          <a:p>
            <a:pPr algn="ctr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RE:JOICE</a:t>
            </a:r>
          </a:p>
          <a:p>
            <a:pPr algn="ctr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벤치마킹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75803" y="429768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6B6B6B"/>
                </a:solidFill>
                <a:latin typeface="a고딕16"/>
                <a:ea typeface="a고딕16"/>
              </a:rPr>
              <a:t>42쪽 · 36쪽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90887" y="3355848"/>
            <a:ext cx="32004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765791" y="214884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연결할 상품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65791" y="2560320"/>
            <a:ext cx="1874519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57231" y="2560320"/>
            <a:ext cx="1691639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뷰티 · F&amp;B</a:t>
            </a:r>
          </a:p>
          <a:p>
            <a:pPr algn="ctr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· 리빙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80091" y="429768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6B6B6B"/>
                </a:solidFill>
                <a:latin typeface="a고딕16"/>
                <a:ea typeface="a고딕16"/>
              </a:rPr>
              <a:t>41쪽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예시 답안은 새로 지어낸 것이 아닙니다. </a:t>
            </a:r>
            <a:r>
              <a:rPr sz="1800" b="0">
                <a:solidFill>
                  <a:srgbClr val="131313"/>
                </a:solidFill>
                <a:latin typeface="a고딕14"/>
                <a:ea typeface="a고딕14"/>
              </a:rPr>
              <a:t>이 한 줄을 워크시트 칸에 나눠 풀어 쓴 것입니다.</a:t>
            </a:r>
          </a:p>
          <a:p>
            <a:pPr algn="l"/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그래서 막히면 41쪽으로 돌아가면 됩니다.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막히면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41쪽 맨 아래 「적용 예시」 한 줄로 돌아가세요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1 · 숫자 → 사람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44쪽의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숫자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 뒤에 있는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사람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을 떠올립니다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145536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4572000"/>
                <a:gridCol w="46908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트렌드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우리 고객 신호 (44쪽 숫자)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사람의 모습으로 바꾸면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필코노미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방문 목적 1위 ‘기분 전환’ 38% (+9%p)
평일 18~21시 방문 41% (+6%p)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퇴근 후 기분 풀러 들르지만, 머물 이유가 없어 금방 나간다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픽셀 라이프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1회 체류 52분 (−14분)
팝업 후 다른 층 이동률 22%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짧게 들러 팝업만 보고 떠난다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1.5가구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반려동물 동반 방문 문의 월 1,150건 (+45%)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혼자 살지만 반려동물과 함께 나올 곳을 찾는다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물어볼 질문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“이 숫자 뒤에 있는 사람은 지금 무엇을 하고 있을까요?”  ·  숫자는 44쪽, 필코노미 해석은 41쪽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자료 찾기 ·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가상 숫자 대신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실제 숫자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를 찾으면 이렇게 나옵니다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986784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2468880"/>
                <a:gridCol w="4754880"/>
                <a:gridCol w="24048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트렌드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검색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찾은 실제 숫자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출처 (눌러서 확인)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필코노미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“필코노미 설문”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성인 1,000명 중 92.7%가 한 달에 한 번 이상 감정 소비, 56.6%는 음식·음료로 (2026.4)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u="sng">
                          <a:solidFill>
                            <a:srgbClr val="1F4E9A"/>
                          </a:solidFill>
                          <a:latin typeface="a고딕14"/>
                          <a:hlinkClick r:id="rId2"/>
                          <a:ea typeface="a고딕14"/>
                        </a:rPr>
                        <a:t>픽플리 소비자 조사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픽셀 라이프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“백화점 팝업 역대 최다”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2026년 상반기 백화점 팝업 2,000개 이상, 롯데 잠실만 약 700개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u="sng">
                          <a:solidFill>
                            <a:srgbClr val="1F4E9A"/>
                          </a:solidFill>
                          <a:latin typeface="a고딕14"/>
                          <a:hlinkClick r:id="rId3"/>
                          <a:ea typeface="a고딕14"/>
                        </a:rPr>
                        <a:t>헤럴드경제 2026.6.12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픽셀 라이프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“롯데백화점 키네틱 그라운드”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롯데 본점 키네틱 그라운드 고객 중 20~30대 약 70%, 본점 신규 고객의 20%가 이곳에서 유입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u="sng">
                          <a:solidFill>
                            <a:srgbClr val="1F4E9A"/>
                          </a:solidFill>
                          <a:latin typeface="a고딕14"/>
                          <a:hlinkClick r:id="rId4"/>
                          <a:ea typeface="a고딕14"/>
                        </a:rPr>
                        <a:t>딜사이트 2026.7.6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1.5가구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“통계로 보는 1인가구”
“한국 반려동물 보고서”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1인 가구 36.1% (2024) · 반려가구 591만, 전체 가구의 26.7% (2025)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u="sng">
                          <a:solidFill>
                            <a:srgbClr val="1F4E9A"/>
                          </a:solidFill>
                          <a:latin typeface="a고딕14"/>
                          <a:hlinkClick r:id="rId5"/>
                          <a:ea typeface="a고딕14"/>
                        </a:rPr>
                        <a:t>국가데이터처 보도자료</a:t>
                      </a:r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  ·  </a:t>
                      </a:r>
                      <a:r>
                        <a:rPr sz="1400" b="0" u="sng">
                          <a:solidFill>
                            <a:srgbClr val="1F4E9A"/>
                          </a:solidFill>
                          <a:latin typeface="a고딕14"/>
                          <a:hlinkClick r:id="rId6"/>
                          <a:ea typeface="a고딕14"/>
                        </a:rPr>
                        <a:t>KB 반려동물 보고서 기사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주의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지점 안 고객 숫자(방문 목적 38% 같은 것)는 공개되지 않습니다. 바깥 숫자로 “방향”을 확인하는 것까지가 자료입니다.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자료 찾기 ·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찾은 것은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출처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를, 우리 생각은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(가설)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을 붙여 넣습니다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5486400"/>
                <a:gridCol w="1325880"/>
                <a:gridCol w="23591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워크시트 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실제 자료로 채운 예시 (필코노미)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구분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어디서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트렌드 키워드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필코노미 — 기분이 소비를 결정한다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🔍 자료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u="sng">
                          <a:solidFill>
                            <a:srgbClr val="1F4E9A"/>
                          </a:solidFill>
                          <a:latin typeface="a고딕14"/>
                          <a:hlinkClick r:id="rId2"/>
                          <a:ea typeface="a고딕14"/>
                        </a:rPr>
                        <a:t>투데이신문 2025.9.24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우리 고객 신호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성인 92.7%가 월 1회 이상 감정 소비, 56.6%는 음식·음료로 (픽플리, 2026.4)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🔍 자료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u="sng">
                          <a:solidFill>
                            <a:srgbClr val="1F4E9A"/>
                          </a:solidFill>
                          <a:latin typeface="a고딕14"/>
                          <a:hlinkClick r:id="rId3"/>
                          <a:ea typeface="a고딕14"/>
                        </a:rPr>
                        <a:t>픽플리 조사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고객 상황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20~30대 직장인은 퇴근길에 작은 보상으로 기분을 바꾸고 싶을 것이다 (가설)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a고딕16"/>
                          <a:ea typeface="a고딕16"/>
                        </a:rPr>
                        <a:t>✏️ 가설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우리 조의 해석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캠페인 기회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퇴근 후 30분 향·디저트 기분 전환 코스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a고딕16"/>
                          <a:ea typeface="a고딕16"/>
                        </a:rPr>
                        <a:t>✏️ 아이디어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우리 조의 제안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벤치마킹 사례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롯데 리조이스: 10년째 운영, 마음돌봄 상담소 4곳 (서울신문, 2026.5)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🔍 자료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u="sng">
                          <a:solidFill>
                            <a:srgbClr val="1F4E9A"/>
                          </a:solidFill>
                          <a:latin typeface="a고딕14"/>
                          <a:hlinkClick r:id="rId4"/>
                          <a:ea typeface="a고딕14"/>
                        </a:rPr>
                        <a:t>서울신문 2026.5.21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연결할 상품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고른 지점에 실제로 있는 향·디저트 매장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🔍 + ✏️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지점 홈페이지 층별 안내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적는 법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숫자 뒤에는 (출처, 날짜)  ·  해석 뒤에는 (가설)  ·  이것만 지키면 무엇을 찾았고 무엇을 생각했는지 바로 보입니다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자료 찾기 ·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어디서, 무엇을 검색하나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02336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3291840"/>
                <a:gridCol w="4023360"/>
                <a:gridCol w="19476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찾을 것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어디서 (눌러서 이동)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검색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워크시트 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관심이 늘었나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u="sng">
                          <a:solidFill>
                            <a:srgbClr val="1F4E9A"/>
                          </a:solidFill>
                          <a:latin typeface="a고딕14"/>
                          <a:hlinkClick r:id="rId2"/>
                          <a:ea typeface="a고딕14"/>
                        </a:rPr>
                        <a:t>네이버 데이터랩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퇴근 후 힐링 · 원데이 클래스 · 반려동물 동반 (연령 20~39 선택)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우리 고객 신호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인구·가구 변화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u="sng">
                          <a:solidFill>
                            <a:srgbClr val="1F4E9A"/>
                          </a:solidFill>
                          <a:latin typeface="a고딕14"/>
                          <a:hlinkClick r:id="rId3"/>
                          <a:ea typeface="a고딕14"/>
                        </a:rPr>
                        <a:t>KOSIS 국가통계포털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1인가구 · 반려동물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우리 고객 신호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20~30대 소비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u="sng">
                          <a:solidFill>
                            <a:srgbClr val="1F4E9A"/>
                          </a:solidFill>
                          <a:latin typeface="a고딕14"/>
                          <a:hlinkClick r:id="rId4"/>
                          <a:ea typeface="a고딕14"/>
                        </a:rPr>
                        <a:t>대학내일20대연구소</a:t>
                      </a:r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  ·  </a:t>
                      </a:r>
                      <a:r>
                        <a:rPr sz="1600" b="0" u="sng">
                          <a:solidFill>
                            <a:srgbClr val="1F4E9A"/>
                          </a:solidFill>
                          <a:latin typeface="a고딕14"/>
                          <a:hlinkClick r:id="rId5"/>
                          <a:ea typeface="a고딕14"/>
                        </a:rPr>
                        <a:t>오픈서베이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MZ 소비 트렌드 · 트렌드 리포트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우리 고객 신호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지점 현장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u="sng">
                          <a:solidFill>
                            <a:srgbClr val="1F4E9A"/>
                          </a:solidFill>
                          <a:latin typeface="a고딕14"/>
                          <a:hlinkClick r:id="rId6"/>
                          <a:ea typeface="a고딕14"/>
                        </a:rPr>
                        <a:t>네이버 뉴스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롯데백화점 ○○점 팝업 · ○○점 2030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우리 고객 신호 · 상품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롯데 실적·전략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u="sng">
                          <a:solidFill>
                            <a:srgbClr val="1F4E9A"/>
                          </a:solidFill>
                          <a:latin typeface="a고딕14"/>
                          <a:hlinkClick r:id="rId7"/>
                          <a:ea typeface="a고딕14"/>
                        </a:rPr>
                        <a:t>롯데쇼핑 IR</a:t>
                      </a:r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  ·  </a:t>
                      </a:r>
                      <a:r>
                        <a:rPr sz="1600" b="0" u="sng">
                          <a:solidFill>
                            <a:srgbClr val="1F4E9A"/>
                          </a:solidFill>
                          <a:latin typeface="a고딕14"/>
                          <a:hlinkClick r:id="rId8"/>
                          <a:ea typeface="a고딕14"/>
                        </a:rPr>
                        <a:t>DART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IR 프레젠테이션 · 롯데쇼핑 사업보고서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참고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사례 확인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u="sng">
                          <a:solidFill>
                            <a:srgbClr val="1F4E9A"/>
                          </a:solidFill>
                          <a:latin typeface="a고딕14"/>
                          <a:hlinkClick r:id="rId9"/>
                          <a:ea typeface="a고딕14"/>
                        </a:rPr>
                        <a:t>서울신문 리조이스 기사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롯데백화점 리조이스 · 신세계 러브 더 어스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벤치마킹 사례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검색 순서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① 트렌드 뜻 확인  →  ② 숫자 1~2개 찾기  →  ③ 출처·날짜 적기  →  ④ 우리 고객 상황은 (가설)로 쓰기  ·  10분 안에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2 · 강 · 중 · 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원본에 점수 공식은 없습니다.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44쪽 안내문 두 문장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 기준입니다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831336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4069080"/>
                <a:gridCol w="4279392"/>
                <a:gridCol w="10972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트렌드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숫자 두 개가 같은 이야기를 하나?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목표(20~30대 신규)와 가까운가?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판정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필코노미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○  38% · 41% 모두 “퇴근 후 기분 전환”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○  “기분 풀러 온다”는 방문 이유 자체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강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픽셀 라이프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○  52분 · 22% 모두 “짧게 머묾”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△  머무는 방식일 뿐, 새로 오게 할 이유는 약함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중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1.5가구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△  +45%로 크지만 숫자 하나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△  반려동물 동반 고객으로 범위가 좁음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중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44쪽 안내문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신호가 가장 강하고 목표와 가장 가까운 것  ·  두 신호가 같은 상황을 가리키면 가장 믿을 만한 근거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3 · 하나만 남기기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여러 개를 모으면 조사,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하나를 고르면 전략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28600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>
                <a:solidFill>
                  <a:srgbClr val="131313"/>
                </a:solidFill>
                <a:latin typeface="a타이틀고딕3"/>
                <a:ea typeface="a타이틀고딕3"/>
              </a:rPr>
              <a:t>필코노미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0040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이유 1  </a:t>
            </a:r>
            <a:r>
              <a:rPr sz="1800" b="0">
                <a:solidFill>
                  <a:srgbClr val="131313"/>
                </a:solidFill>
                <a:latin typeface="a고딕14"/>
                <a:ea typeface="a고딕14"/>
              </a:rPr>
              <a:t>38% · 41%가 같은 상황을 가리킨다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31313"/>
                </a:solidFill>
                <a:latin typeface="a고딕14"/>
                <a:ea typeface="a고딕14"/>
              </a:rPr>
              <a:t>         </a:t>
            </a:r>
            <a:r>
              <a:rPr sz="1400" b="0">
                <a:solidFill>
                  <a:srgbClr val="6B6B6B"/>
                </a:solidFill>
                <a:latin typeface="a고딕14"/>
                <a:ea typeface="a고딕14"/>
              </a:rPr>
              <a:t>44쪽 안내문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이유 2  </a:t>
            </a:r>
            <a:r>
              <a:rPr sz="1800" b="0">
                <a:solidFill>
                  <a:srgbClr val="131313"/>
                </a:solidFill>
                <a:latin typeface="a고딕14"/>
                <a:ea typeface="a고딕14"/>
              </a:rPr>
              <a:t>20~30대 신규 고객 목표와 가깝다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31313"/>
                </a:solidFill>
                <a:latin typeface="a고딕14"/>
                <a:ea typeface="a고딕14"/>
              </a:rPr>
              <a:t>         </a:t>
            </a:r>
            <a:r>
              <a:rPr sz="1400" b="0">
                <a:solidFill>
                  <a:srgbClr val="6B6B6B"/>
                </a:solidFill>
                <a:latin typeface="a고딕14"/>
                <a:ea typeface="a고딕14"/>
              </a:rPr>
              <a:t>40쪽 과제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920240"/>
            <a:ext cx="5605272" cy="3474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0116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버린 후보는 이렇게 씁니다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51460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픽셀 라이프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주인공은 아니지만 “짧게 머문다”는 신호는 뒤에서 30분 코스 아이디어로 보조 활용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1.5가구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틀린 답이 아닙니다. 다른 조가 고르면 그 조의 좋은 출발점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41쪽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트렌드 나열은 전략이 아닙니다. 하나를 고르고 나머지를 버려야 전략이 됩니다.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4 · 유형과 사례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트렌드를 정하면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유형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은 42쪽이,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사례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는 36쪽이 알려 줍니다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캠페인 유형  </a:t>
            </a:r>
            <a:r>
              <a:rPr sz="1400" b="0">
                <a:solidFill>
                  <a:srgbClr val="6B6B6B"/>
                </a:solidFill>
                <a:latin typeface="a고딕14"/>
                <a:ea typeface="a고딕14"/>
              </a:rPr>
              <a:t>42쪽 필코노미 행 → 어울리는 유형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377440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□  고객 참여형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44368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944368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□  리워드형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1129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511296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□  브랜드 브랜딩형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78224"/>
            <a:ext cx="5120640" cy="475488"/>
          </a:xfrm>
          <a:prstGeom prst="rect">
            <a:avLst/>
          </a:prstGeom>
          <a:solidFill>
            <a:srgbClr val="FBEDE9"/>
          </a:solidFill>
          <a:ln w="12700">
            <a:solidFill>
              <a:srgbClr val="ED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78224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■  경험형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4515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645152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□  기업 연합형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따라 할 사례  </a:t>
            </a:r>
            <a:r>
              <a:rPr sz="1400" b="0">
                <a:solidFill>
                  <a:srgbClr val="6B6B6B"/>
                </a:solidFill>
                <a:latin typeface="a고딕14"/>
                <a:ea typeface="a고딕14"/>
              </a:rPr>
              <a:t>36쪽 롯데백화점 RE:JOICE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377440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고객의 문제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52360" y="2862072"/>
            <a:ext cx="0" cy="73152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355080" y="2944368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944368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콘텐츠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52360" y="3429000"/>
            <a:ext cx="0" cy="73152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355080" y="351129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511296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공간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52360" y="3995928"/>
            <a:ext cx="0" cy="73152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355080" y="4078224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407822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서비스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52360" y="4562856"/>
            <a:ext cx="0" cy="73152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355080" y="464515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4645152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관계 형성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2377440"/>
            <a:ext cx="2862072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가져올 것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31313"/>
                </a:solidFill>
                <a:latin typeface="a고딕14"/>
                <a:ea typeface="a고딕14"/>
              </a:rPr>
              <a:t>상품이 아니라 </a:t>
            </a:r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고객의 고민</a:t>
            </a:r>
            <a:r>
              <a:rPr sz="1600" b="0">
                <a:solidFill>
                  <a:srgbClr val="131313"/>
                </a:solidFill>
                <a:latin typeface="a고딕14"/>
                <a:ea typeface="a고딕14"/>
              </a:rPr>
              <a:t>에서 출발하는 순서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31313"/>
                </a:solidFill>
                <a:latin typeface="a고딕14"/>
                <a:ea typeface="a고딕14"/>
              </a:rPr>
              <a:t>실제로 </a:t>
            </a:r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머무는 공간</a:t>
            </a:r>
            <a:r>
              <a:rPr sz="1600" b="0">
                <a:solidFill>
                  <a:srgbClr val="131313"/>
                </a:solidFill>
                <a:latin typeface="a고딕14"/>
                <a:ea typeface="a고딕14"/>
              </a:rPr>
              <a:t>(리조이스 카페)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왜 리조이스?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41쪽 적용 예시가 필코노미에 “RE:JOICE 벤치마킹”을 이미 붙여 두었습니다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5 · 상품과 한 문장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마지막으로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상품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을 붙이고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한 문장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으로 묶습니다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419856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4754880"/>
                <a:gridCol w="39593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한 문장의 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예시 팀의 답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어디서 왔나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어떤 고객이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퇴근 후 기분이 가라앉은 20~30대 직장인이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40쪽 과제 + 평일 저녁 41% (직장인은 가설)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어떤 상황일 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평일 저녁, 들를 곳이 없을 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44쪽 · 41쪽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캠페인 유형으로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경험형 캠페인으로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42쪽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어떤 경험을 제공해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30분 만에 기분을 바꾸는 코스 (향 · 디저트 · 클래스)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41쪽 뷰티·F&amp;B·리빙 / 30분은 예시 팀 아이디어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목표를 달성한다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신규 회원 5,000명을 확보한다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43쪽 주어진 목표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형식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“[어떤 고객]이 [어떤 상황]일 때, [캠페인 유형]으로 [어떤 경험]을 제공해 [목표]를 달성한다”  ·  58쪽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근거 구분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예시 답안 속에서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자료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와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판단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을 나눠 봅니다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968496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4206240"/>
                <a:gridCol w="50566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구분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예시 답안에서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학생에게 이렇게 말합니다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자료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38% · 41% · 52분 · 1,150건 · 신규 회원 5,000명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“표에 있는 숫자예요. 교육용 가상 데이터입니다.” (43·44쪽 하단)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원본 해석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경험형 · RE:JOICE · 뷰티·F&amp;B·리빙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“PPT가 이미 연결해 둔 거예요. 41쪽과 42쪽을 보세요.”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예시 팀 판단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직장인 · 30분 · 향과 캔들 · 강·중·약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“예시 팀이 정한 거예요. 여러분 조는 달라도 됩니다.”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한 줄로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예시 답안 = 44쪽 숫자 + 42쪽 유형 + 41쪽 적용 예시 + 36쪽 리조이스. 여러분도 이 순서대로 하면 됩니다.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①  고객 트렌드 분석과 캠페인 방향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트렌드를 고르는 것이 아니라, 우리 고객에게 나타난 신호를 고르십시오.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1874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xmlns="" val="3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xmlns="" val="3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xmlns="" val="3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30003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xmlns="" val="3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트렌드 키워드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우리 고객 신호 (케이스 ② 데이터)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이 신호가 말하는 고객 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기회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신호 강도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3776472"/>
          <a:ext cx="11091672" cy="24871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xmlns="" val="3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xmlns="" val="3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정하기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작성란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선택한 트렌드 1개와 그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유형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고객 참여형     □ 리워드형     □ 브랜드 브랜딩형     □ 경험형     □ 기업 연합형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벤치마킹 사례와 가져올 요소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연결할 MD 카테고리 · 상품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한 문장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8251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형식   "[어떤 고객]이 [어떤 상황]일 때, [캠페인 유형]으로 [어떤 경험]을 제공해 [목표]를 달성한다"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막힐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조를 돌면서 이렇게 말해 주세요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96849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72511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이런 조가 있으면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말해 주세요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트렌드 이름만 쓰고 숫자가 없다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“그 트렌드가 우리 고객에게 있다는 증거가 뭐예요? 44쪽에서 숫자를 찾아보세요.”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두세 개를 다 하려고 한다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“다 하면 아무것도 기억 안 나요. 하나 고르고 나머지를 버리는 게 전략이에요.”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고객 상황 칸이 숫자를 그대로 옮겼다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“그 숫자 뒤에 있는 사람을 떠올려 보세요. 그 사람이 뭐 하고 있어요?”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“꼭 필코노미를 해야 해요?”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“아니요. 예시일 뿐이에요. 숫자로 이유만 설명하면 됩니다.”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“38%와 41%가 같은 사람이에요?”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“그건 자료에 없어요. 같은 방향을 가리킨다는 것까지만 말할 수 있어요.”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예시 답안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보여 줄 때는 항상 “정답이 아니라 한 가지 예시예요”로 시작합니다  ·  60쪽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①  고객 트렌드 분석과 캠페인 방향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트렌드를 고르는 것이 아니라, 우리 고객에게 나타난 신호를 고르십시오.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1874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xmlns="" val="3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xmlns="" val="3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xmlns="" val="3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30003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xmlns="" val="3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트렌드 키워드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우리 고객 신호 (케이스 ② 데이터)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이 신호가 말하는 고객 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기회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신호 강도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방문 목적 1위 '기분 전환' 38% (+9%p) · 평일 18~21시 방문 41% (+6%p)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기분을 풀려고 들르지만 머물 이유가 없어 금방 나간다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30분 기분 전환 코스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픽셀 라이프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1회 체류 52분 (−14분) · 팝업 후 다른 층 이동률 22%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짧게 들러 팝업만 보고 떠난다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층을 잇는 미니 체험 · 스탬프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■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1.5가구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반려동물 동반 방문 문의 월 1,150건 (+45%)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혼자 살지만 반려동물과 함께 나올 곳을 찾는다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반려동물 동반 라운지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■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3776472"/>
          <a:ext cx="11091672" cy="24871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xmlns="" val="3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xmlns="" val="3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정하기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작성란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선택한 트렌드 1개와 그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— 두 신호(방문 목적 1위, 평일 저녁 방문 증가)가 같은 고객 상황을 가리키고, 20~30대 신규 유입 목표와 가장 가깝습니다.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유형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고객 참여형     □ 리워드형     □ 브랜드 브랜딩형     ■ 경험형     □ 기업 연합형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벤치마킹 사례와 가져올 요소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롯데 RE:JOICE — '고객의 문제 → 콘텐츠 → 공간 → 서비스' 순서와, 실제 머무는 공간을 만든 방식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연결할 MD 카테고리 · 상품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뷰티(향 · 핸드케어), F&amp;B(디저트 · 티), 리빙(캔들 · 홈프래그런스), 원데이 클래스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한 문장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기분이 가라앉은 20~30대 직장인이 평일 저녁 30분 만에 기분을 바꾸는 경험형 캠페인으로 신규 회원 5,000명을 확보한다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8251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형식   "[어떤 고객]이 [어떤 상황]일 때, [캠페인 유형]으로 [어떤 경험]을 제공해 [목표]를 달성한다"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①  고객 트렌드 분석과 캠페인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실습 ①에서 정한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11091672" cy="493776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74519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고른 트렌드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1874519"/>
            <a:ext cx="8229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필코노미 (다른 트렌드도 가능)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41448"/>
            <a:ext cx="11091672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41448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근거 숫자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441448"/>
            <a:ext cx="8229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기분 전환 38% · 평일 저녁 41%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008376"/>
            <a:ext cx="11091672" cy="493776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008376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고객 상황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008376"/>
            <a:ext cx="8229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퇴근 후 기분 풀 곳이 없다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75303"/>
            <a:ext cx="11091672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75303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유형 · 사례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575303"/>
            <a:ext cx="8229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경험형 · RE:JOICE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142231"/>
            <a:ext cx="11091672" cy="493776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142231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방향 한 문장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142231"/>
            <a:ext cx="8229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20~30대 직장인 · 평일 저녁 30분 · 경험형 · 신규 회원 5,000명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46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다음 실습으로 이렇게 이어집니다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②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한 문장 속 “어떤 고객”을 더 좁힌다 (세그먼트 A · B)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③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“어떤 상황”을 고객의 속마음 문장으로 깊게 쓴다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마무리 한마디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“지금 쓴 한 문장, 지우지 마세요. 오늘 하루 끝까지 계속 씁니다.”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635000" y="1271588"/>
            <a:ext cx="56324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목표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설정과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타깃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고객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정의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00" y="2382838"/>
            <a:ext cx="4851400" cy="3962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0" y="2382838"/>
            <a:ext cx="4851400" cy="3962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511300" y="5106988"/>
            <a:ext cx="4375150" cy="717550"/>
          </a:xfrm>
          <a:prstGeom prst="rect">
            <a:avLst/>
          </a:prstGeom>
        </p:spPr>
        <p:txBody>
          <a:bodyPr lIns="0" tIns="898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인지도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향상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신규회원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확보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SNS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참여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확대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오프라인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방문객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증가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직접적인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매출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향상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등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명확하고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측정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가능한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목표를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설정합니다</a:t>
            </a:r>
            <a:endParaRPr lang="en-US" sz="1415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73200" y="4573588"/>
            <a:ext cx="4394200" cy="355600"/>
          </a:xfrm>
          <a:prstGeom prst="rect">
            <a:avLst/>
          </a:prstGeom>
        </p:spPr>
        <p:txBody>
          <a:bodyPr lIns="0" tIns="12589" rIns="0" bIns="12589" rtlCol="0" anchor="ctr"/>
          <a:lstStyle/>
          <a:p>
            <a:pPr lvl="0" algn="ctr">
              <a:lnSpc>
                <a:spcPct val="107899"/>
              </a:lnSpc>
            </a:pP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목표의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예시</a:t>
            </a:r>
            <a:endParaRPr lang="en-US" sz="198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04000" y="5106988"/>
            <a:ext cx="4375150" cy="717550"/>
          </a:xfrm>
          <a:prstGeom prst="rect">
            <a:avLst/>
          </a:prstGeom>
        </p:spPr>
        <p:txBody>
          <a:bodyPr lIns="0" tIns="898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20대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대학생은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SNS와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트렌드에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민감하고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30대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직장인은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편의성과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가치를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중시하며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40대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가족은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안정성과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품질을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추구하는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특성을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보입니다</a:t>
            </a:r>
            <a:endParaRPr lang="en-US" sz="1415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565900" y="4573588"/>
            <a:ext cx="4394200" cy="355600"/>
          </a:xfrm>
          <a:prstGeom prst="rect">
            <a:avLst/>
          </a:prstGeom>
        </p:spPr>
        <p:txBody>
          <a:bodyPr lIns="0" tIns="12589" rIns="0" bIns="12589" rtlCol="0" anchor="ctr"/>
          <a:lstStyle/>
          <a:p>
            <a:pPr lvl="0" algn="ctr">
              <a:lnSpc>
                <a:spcPct val="107899"/>
              </a:lnSpc>
            </a:pP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타깃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고객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세분화</a:t>
            </a:r>
            <a:endParaRPr lang="en-US" sz="198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0C521CD4-AFAF-9B06-2A78-C999E9BC4C1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②  캠페인 목표와 타깃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②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>
                <a:solidFill>
                  <a:srgbClr val="ED1C24"/>
                </a:solidFill>
                <a:latin typeface="a타이틀고딕3"/>
                <a:ea typeface="a타이틀고딕3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78308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누구를 데려오고,</a:t>
            </a:r>
          </a:p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무엇을 이룰까요?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실습 ①에서 쓴 한 문장 속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“어떤 고객”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과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“목표”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를 구체적으로 좁힙니다.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목표는 네 개가 주어지지만,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제일 중요한 하나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만 주인공으로 세웁니다.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왜 필요할까? </a:t>
            </a:r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타깃이 “20~30대”처럼 넓으면 메시지도, 채널도, 예산도 정할 수 없습니다.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준비물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실습 ①의 방향 한 문장 · 43쪽(목표) · 62쪽(타깃 세분화) · 워크시트 68쪽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②  캠페인 목표와 타깃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②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이렇게 진행합니다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920240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9202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192024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주어진 목표 네 개를 “우리 캠페인 말”로 다시 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207568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68쪽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88336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688336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68833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지난번 실적과 비교해 몇 배인지 적는다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2843784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43쪽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56432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5643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45643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주 목표 하나, 부 목표 하나에만 체크한다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3611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68쪽 안내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24528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224528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22452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고객을 세그먼트 A · B 두 그룹으로 나눈다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5480" y="4379976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62쪽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92624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992624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99262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각 그룹이 “백화점에 오지 않는 이유”를 쓰고 우선순위를 정한다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51480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68쪽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시간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설명 5분 · 조별 작성 12분 · 공유 3분  =  20분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②  캠페인 목표와 타깃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1 · 목표 고르기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네 목표를 다 주인공으로 세울 수는 없습니다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5029200"/>
                <a:gridCol w="2194560"/>
                <a:gridCol w="14904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주어진 목표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우리 캠페인의 말로 바꾸면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지난번 대비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주 / 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신규 회원 5,000명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평일 저녁 코스 참여자를 신규 회원 5,000명으로 만든다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2,300명 → 2.2배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주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SNS 도달 10만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“오늘 기분” 콘텐츠로 20~30대 도달 10만을 만든다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6.5만 → 1.5배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매출 25% 증가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코스와 연결된 뷰티 · F&amp;B 매출 25% 증가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만족도 85%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코스 참여 고객 만족도 85% 이상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왜 신규 회원이 주인공?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40쪽 과제가 “신규 고객 확보” · 145쪽 “신규가 목표면 대표 지표는 인지와 행동” · 매출은 부지표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②  캠페인 목표와 타깃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2 · 타깃 나누기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“20~30대”를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두 사람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으로 쪼갭니다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1" cy="3694176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4389120"/>
                <a:gridCol w="4050791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세그먼트 A (우선순위 1)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세그먼트 B (우선순위 2)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연령 · 직업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27~34세 사무직 직장인 (1인 가구 포함)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22~26세 대학생 · 사회초년생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행동 특성 · 신호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평일 18~21시 방문 증가, 방문 목적 “기분 전환”, 짧게 머묾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SNS로 팝업을 찾아와 팝업만 보고 이동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백화점에 오지 않는 이유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“살 게 없으면 굳이 갈 이유가 없다”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“팝업 말고는 머물 이유가 없다”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왜 A가 먼저?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실습 ①에서 고른 신호(평일 저녁 41%)와 가장 잘 맞기 때문  ·  70쪽 예시 답안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②  캠페인 목표와 타깃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자료 찾기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타깃을 실제 자료로 확인하려면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877056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4023360"/>
                <a:gridCol w="46908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확인할 것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어디서 (눌러서 이동)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찾은 것 / 검색어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20~30대가 실제로 오나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2"/>
                          <a:ea typeface="a고딕14"/>
                        </a:rPr>
                        <a:t>딜사이트 2026.7.6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롯데 본점 키네틱 그라운드 고객 중 20~30대 약 70%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혼자 사는 20대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3"/>
                          <a:ea typeface="a고딕14"/>
                        </a:rPr>
                        <a:t>국가데이터처 1인가구 보도자료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1인 가구 36.1%, 그중 29세 이하 17% (2024)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고른 지점 주변 상권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4"/>
                          <a:ea typeface="a고딕14"/>
                        </a:rPr>
                        <a:t>상권정보시스템(소상공인시장진흥공단)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지점 주소로 검색 → 주변 직장인 · 유동 인구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지점 뉴스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5"/>
                          <a:ea typeface="a고딕14"/>
                        </a:rPr>
                        <a:t>네이버 뉴스: 롯데백화점 2030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“롯데백화점 ○○점 2030”으로 바꿔 검색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적는 법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숫자 뒤에는 (출처, 날짜) · “27~34세 직장인”처럼 좁힌 부분은 (가설)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②  캠페인 목표와 타깃 정의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목표를 캠페인 언어로 다시 쓰고, 실습 ①의 트렌드로 타깃을 좁히십시오.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2423160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 유형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주어진 목표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우리 캠페인의 목표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실적 대비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/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고객 확보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회원 5,000명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2,300명 → 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인지도 확대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SNS 도달 10만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6.5만 → 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증대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25% 증가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 만족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만족도 85% 이상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4343400"/>
          <a:ext cx="11091672" cy="1929915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타깃 세분화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세그먼트 A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세그먼트 B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연령 · 직업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 특성 · 트렌드 신호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백화점에 오지 않는 이유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우선순위 (1 / 2)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네 목표를 모두 주 목표로 삼을 수는 없습니다. 주 목표 하나와 부 목표 하나를 정하십시오.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②  캠페인 목표와 타깃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막힐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조를 돌면서 이렇게 말해 주세요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74340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이런 조가 있으면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말해 주세요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주 목표를 두세 개 체크했다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“네 개 다 중요하면 아무것도 안 돼요. 제일 중요한 하나만 주인공으로 세워요.”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타깃이 “20~30대”로 넓다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“그 안에서 한 사람을 떠올려 보세요. 몇 살이고, 뭐 하는 사람이에요?”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“오지 않는 이유” 칸이 비었다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“그 사람이 백화점 앞을 지나가면서 안 들어가요. 왜일까요? 그 사람 말투로 써 보세요.”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“매출이 제일 중요하지 않아요?”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“캠페인은 이름값을 쌓는 일이라 매출이 바로 안 올라요. 매출은 부지표로 둬요.” (145쪽)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예시 답안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“정답이 아니라 한 가지 예시예요”로 시작  ·  70쪽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②  캠페인 목표와 타깃 정의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목표를 캠페인 언어로 다시 쓰고, 실습 ①의 트렌드로 타깃을 좁히십시오.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2423160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 유형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주어진 목표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우리 캠페인의 목표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실적 대비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/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고객 확보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회원 5,000명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평일 저녁 기분 전환 코스 참여자를 신규 회원 5,000명으로 전환한다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2,300명 → 5,000명 (2.2배)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주 □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인지도 확대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SNS 도달 10만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'오늘 기분' 콘텐츠로 20~30대 SNS 도달 10만을 만든다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6.5만 → 10만 (1.5배)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■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증대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25% 증가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코스와 연결된 뷰티 · F&amp;B 매출 25% 증가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 만족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만족도 85% 이상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코스 참여 고객 만족도 85% 이상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4343400"/>
          <a:ext cx="11091672" cy="1929915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타깃 세분화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세그먼트 A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세그먼트 B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연령 · 직업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27~34세 사무직 직장인 (1인 가구 포함)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22~26세 대학생 · 사회초년생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 특성 · 트렌드 신호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평일 18~21시 방문 증가, 방문 목적 '기분 전환', 짧게 머묾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SNS로 팝업을 찾아와 팝업만 보고 이동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백화점에 오지 않는 이유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"살 게 없으면 굳이 갈 이유가 없다", 격식 있는 공간이라는 부담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팝업 말고는 머물 이유가 없다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우선순위 (1 / 2)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네 목표를 모두 주 목표로 삼을 수는 없습니다. 주 목표 하나와 부 목표 하나를 정하십시오.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②  캠페인 목표와 타깃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실습 ②에서 정한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7451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주 목표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87451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신규 회원 5,000명 (지난번의 2.2배)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23160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2316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부 목표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42316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SNS 도달 10만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71800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7180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우선 타깃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97180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세그먼트 A · 27~34세 사무직 직장인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39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2043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안 오는 이유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52043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“살 게 없으면 굳이 갈 이유가 없다”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51959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다음 실습으로 이렇게 이어집니다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③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“안 오는 이유”를 그 사람의 속마음 문장으로 더 깊게 쓴다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마무리 한마디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“안 오는 이유 한 줄, 지우지 마세요. 다음 실습의 씨앗이에요.”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59396" y="1263650"/>
            <a:ext cx="56070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Insight와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컨셉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개발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81000"/>
          </a:blip>
          <a:stretch>
            <a:fillRect/>
          </a:stretch>
        </p:blipFill>
        <p:spPr>
          <a:xfrm>
            <a:off x="5149850" y="2635250"/>
            <a:ext cx="6350000" cy="383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3606800"/>
            <a:ext cx="4908550" cy="28575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638800" y="3130550"/>
            <a:ext cx="545465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고객</a:t>
            </a:r>
            <a:r>
              <a:rPr lang="en-US" sz="20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Insight의 </a:t>
            </a: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유형</a:t>
            </a:r>
            <a:endParaRPr lang="en-US" sz="20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638800" y="4070350"/>
            <a:ext cx="54102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재미있는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추구</a:t>
            </a:r>
            <a:endParaRPr lang="en-US" sz="1488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lvl="0" algn="l">
              <a:lnSpc>
                <a:spcPct val="132800"/>
              </a:lnSpc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소셜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미디어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인증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공간</a:t>
            </a:r>
            <a:endParaRPr lang="en-US" sz="1488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lvl="0" algn="l">
              <a:lnSpc>
                <a:spcPct val="132800"/>
              </a:lnSpc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합리적인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할인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혜택</a:t>
            </a:r>
            <a:endParaRPr lang="en-US" sz="1488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lvl="0" algn="l">
              <a:lnSpc>
                <a:spcPct val="132800"/>
              </a:lnSpc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독점적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한정판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제품</a:t>
            </a:r>
            <a:endParaRPr lang="en-US" sz="1488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lvl="0" algn="l">
              <a:lnSpc>
                <a:spcPct val="132800"/>
              </a:lnSpc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특별한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이벤트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</a:t>
            </a:r>
            <a:endParaRPr lang="en-US" sz="1488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2533650"/>
            <a:ext cx="3949700" cy="37846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3C1B761E-63F9-5E46-577C-F77EA4FB4BC6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③  고객 인사이트 도출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③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>
                <a:solidFill>
                  <a:srgbClr val="ED1C24"/>
                </a:solidFill>
                <a:latin typeface="a타이틀고딕3"/>
                <a:ea typeface="a타이틀고딕3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78308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그 사람은 왜</a:t>
            </a:r>
          </a:p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백화점에 안 올까요?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인사이트는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고객의 속마음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, 더 정확히는 고객이 지금 처한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상황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입니다.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“이걸 좋아할 것이다”가 아니라 “이 사람은 지금 이런 상황이다”를 찾습니다.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왜 필요할까? </a:t>
            </a:r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속마음을 모르면 이름도, 이야기도 “최고의 상품” 같은 우리 자랑이 됩니다.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준비물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실습 ②의 “백화점에 오지 않는 이유” · 72쪽 · 워크시트 79쪽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③  고객 인사이트 도출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③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이렇게 진행합니다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920240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9202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192024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형식대로 인사이트 문장 세 개를 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207568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79쪽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88336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688336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68833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문장마다 근거(숫자 · 관찰)를 붙인다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2843784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44쪽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56432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5643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45643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경험 · 가치 · 혜택 중 유형을 체크한다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3611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72쪽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24528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224528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22452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세 문장 중 가장 강한 것을 고른다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5480" y="4379976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81쪽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92624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992624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99262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경쟁사가 아직 건드리지 않은 인사이트를 찾는다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51480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43 · 81쪽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시간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설명 5분 · 조별 작성 12분 · 공유 3분  =  20분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③  고객 인사이트 도출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1 · 인사이트 vs 추측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장면이 그려지면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인사이트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, 안 그려지면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추측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입니다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6035040"/>
                <a:gridCol w="1371600"/>
                <a:gridCol w="36850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문장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판정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20대는 SNS를 좋아한다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6B6B6B"/>
                          </a:solidFill>
                          <a:latin typeface="a고딕16"/>
                          <a:ea typeface="a고딕16"/>
                        </a:rPr>
                        <a:t>추측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누구나 아는 말, 상황이 없다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고객은 할인을 좋아할 것이다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6B6B6B"/>
                          </a:solidFill>
                          <a:latin typeface="a고딕16"/>
                          <a:ea typeface="a고딕16"/>
                        </a:rPr>
                        <a:t>추측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“좋아할 것이다”는 짐작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퇴근 후 기분이 가라앉는데 들를 곳이 없어서, 결국 편의점 디저트로 달랜다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인사이트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상황 · 행동 · 이유 · 욕구가 다 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백화점은 살 게 있을 때만 가는 곳이라, 구경만 하면 눈치가 보여 오래 있지 못한다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인사이트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안 오는 진짜 이유가 보인다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형식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“[상황]일 때 [행동]하는데 [이유] 때문에 [불만·욕구]를 느낀다”  ·  79쪽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③  고객 인사이트 도출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2 · 세 문장과 근거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예시 팀은 이렇게 썼습니다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694176"/>
        </p:xfrm>
        <a:graphic>
          <a:graphicData uri="http://schemas.openxmlformats.org/drawingml/2006/table">
            <a:tbl>
              <a:tblPr firstRow="0" bandRow="0"/>
              <a:tblGrid>
                <a:gridCol w="5669280"/>
                <a:gridCol w="4206240"/>
                <a:gridCol w="12161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인사이트 문장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근거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유형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퇴근 후 기분이 가라앉는데 집에 가기 전 들를 곳이 없어서, 결국 편의점 디저트로 달랜다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평일 18~21시 방문 41% · 방문 목적 “기분 전환” 38%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경험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백화점은 살 게 있을 때만 가는 곳이라, 구경만 하면 눈치가 보여 오래 있지 못한다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팝업 후 다른 층 이동률 22% · 체류 −14분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가치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기분 전환에 돈을 쓰고 싶지만, 비싼 것 하나보다 작은 보상 여러 개가 더 좋다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필코노미 · 프라이스 디코딩 · 소액 F&amp;B 구매 관찰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혜택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가장 강한 것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1번 — 두 숫자가 같은 상황(평일 저녁 · 기분 전환)을 가리킨다  ·  81쪽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③  고객 인사이트 도출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3 · 빈자리 찾기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경쟁사가 아직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건드리지 않은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 속마음을 찾습니다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경쟁 백화점이 하는 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331720"/>
            <a:ext cx="5303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33172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31313"/>
                </a:solidFill>
                <a:latin typeface="a고딕16"/>
                <a:ea typeface="a고딕16"/>
              </a:rPr>
              <a:t>인플루언서를 크게 써서</a:t>
            </a:r>
          </a:p>
          <a:p>
            <a:pPr algn="ctr"/>
            <a:r>
              <a:rPr sz="2000" b="1">
                <a:solidFill>
                  <a:srgbClr val="131313"/>
                </a:solidFill>
                <a:latin typeface="a고딕16"/>
                <a:ea typeface="a고딕16"/>
              </a:rPr>
              <a:t>“살 이유”를 만든다</a:t>
            </a:r>
          </a:p>
          <a:p>
            <a:pPr algn="ctr"/>
            <a:r>
              <a:rPr sz="2000" b="1">
                <a:solidFill>
                  <a:srgbClr val="131313"/>
                </a:solidFill>
                <a:latin typeface="a고딕16"/>
                <a:ea typeface="a고딕16"/>
              </a:rPr>
              <a:t>(SNS 도달 25만 추정)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41605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6B6B6B"/>
                </a:solidFill>
                <a:latin typeface="a고딕16"/>
                <a:ea typeface="a고딕16"/>
              </a:rPr>
              <a:t>43쪽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아무도 안 한 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2331720"/>
            <a:ext cx="5303520" cy="1737360"/>
          </a:xfrm>
          <a:prstGeom prst="rect">
            <a:avLst/>
          </a:prstGeom>
          <a:solidFill>
            <a:srgbClr val="FBEDE9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33172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31313"/>
                </a:solidFill>
                <a:latin typeface="a고딕16"/>
                <a:ea typeface="a고딕16"/>
              </a:rPr>
              <a:t>“안 사도 와도 돼요”라는</a:t>
            </a:r>
          </a:p>
          <a:p>
            <a:pPr algn="ctr"/>
            <a:r>
              <a:rPr sz="2000" b="1">
                <a:solidFill>
                  <a:srgbClr val="131313"/>
                </a:solidFill>
                <a:latin typeface="a고딕16"/>
                <a:ea typeface="a고딕16"/>
              </a:rPr>
              <a:t>허락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41605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6B6B6B"/>
                </a:solidFill>
                <a:latin typeface="a고딕16"/>
                <a:ea typeface="a고딕16"/>
              </a:rPr>
              <a:t>81쪽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97880" y="3200400"/>
            <a:ext cx="36576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4709160"/>
            <a:ext cx="1109167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 빈자리가 캠페인의 씨앗이 됩니다. </a:t>
            </a:r>
            <a:r>
              <a:rPr sz="1800" b="0">
                <a:solidFill>
                  <a:srgbClr val="131313"/>
                </a:solidFill>
                <a:latin typeface="a고딕14"/>
                <a:ea typeface="a고딕14"/>
              </a:rPr>
              <a:t>다음 실습 ④의 이름 “MOOD SHIFT — 오늘 기분, 롯데에서 바꿔요”가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1313"/>
                </a:solidFill>
                <a:latin typeface="a고딕14"/>
                <a:ea typeface="a고딕14"/>
              </a:rPr>
              <a:t>바로 이 “안 사도 와도 되는 곳”에서 나옵니다.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안내자의 질문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“다른 백화점이 이미 하는 말은 뭐예요? 아무도 안 한 말은 뭐예요?”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③  고객 인사이트 도출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자료 찾기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고객의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실제 말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을 찾으면 인사이트가 단단해집니다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877056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4206240"/>
                <a:gridCol w="42336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찾을 것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눌러서 바로 검색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찾으면 이렇게 적기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백화점 구경의 부담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2"/>
                          <a:ea typeface="a고딕14"/>
                        </a:rPr>
                        <a:t>블로그: 백화점 구경만 눈치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후기 속 문장을 그대로 옮기고 (블로그, 날짜)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퇴근 후 기분 전환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3"/>
                          <a:ea typeface="a고딕14"/>
                        </a:rPr>
                        <a:t>블로그: 퇴근 후 기분 전환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자주 나오는 행동(디저트, 산책 등)을 적기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현장 영상 반응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4"/>
                          <a:ea typeface="a고딕14"/>
                        </a:rPr>
                        <a:t>유튜브: 백화점 퇴근 브이로그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댓글에서 반복되는 말 한두 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감정 소비 설문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5"/>
                          <a:ea typeface="a고딕14"/>
                        </a:rPr>
                        <a:t>픽플리 조사 2026.4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성인 92.7% 월 1회 이상 감정 소비 (민간 설문)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적는 법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고객이 한 말은 따옴표와 출처로 · 우리가 해석한 속마음은 (가설)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③  고객 인사이트 도출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"이런 걸 좋아할 것이다"가 아니라 "이런 상황에 있다"를 적으십시오.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19072"/>
            <a:ext cx="11091672" cy="4572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7190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인사이트 작성 형식   "[상황]일 때  [행동]하는데  [이유] 때문에  [불만·욕구]를 느낀다"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543103"/>
              </p:ext>
            </p:extLst>
          </p:nvPr>
        </p:nvGraphicFramePr>
        <p:xfrm>
          <a:off x="548640" y="2331720"/>
          <a:ext cx="11091672" cy="268650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No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인사이트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근거 (트렌드 신호 · 데이터 · 관찰)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□ 가치 □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□ 가치 □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□ 가치 □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2120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5212080"/>
            <a:ext cx="5440680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13232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세 인사이트 중 가장 강한 것과 그 이유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3232" y="5870448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13232" y="6199632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199632" y="52120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199632" y="5212080"/>
            <a:ext cx="5440680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364224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경쟁사가 아직 건드리지 않은 인사이트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64224" y="5870448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6364224" y="6199632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287BC776-A5A6-B60F-022A-6EF600D7FB4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③  고객 인사이트 도출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막힐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조를 돌면서 이렇게 말해 주세요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72511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이런 조가 있으면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말해 주세요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“20대는 SNS를 좋아한다”처럼 썼다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“누구나 아는 말이에요. 그 사람이 지금 어떤 상황인지 장면으로 써 보세요.”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근거 칸이 비었다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“그렇게 생각한 이유가 뭐예요? 44쪽 숫자나 여러분이 본 장면을 적어요.”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세 문장이 다 비슷하다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“경험 · 가치 · 혜택, 세 방향으로 하나씩 써 보세요.”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경쟁사 칸을 못 쓰겠다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“다른 백화점이 이미 하는 말은 뭐예요? 그 반대편에 빈자리가 있어요.”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예시 답안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“정답이 아니라 한 가지 예시예요”로 시작  ·  81쪽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③  고객 인사이트 도출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"이런 걸 좋아할 것이다"가 아니라 "이런 상황에 있다"를 적으십시오.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19072"/>
            <a:ext cx="11091672" cy="4572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7190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인사이트 작성 형식   "[상황]일 때  [행동]하는데  [이유] 때문에  [불만·욕구]를 느낀다"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543103"/>
              </p:ext>
            </p:extLst>
          </p:nvPr>
        </p:nvGraphicFramePr>
        <p:xfrm>
          <a:off x="548640" y="2331720"/>
          <a:ext cx="11091672" cy="268650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No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인사이트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근거 (트렌드 신호 · 데이터 · 관찰)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기분이 가라앉는데 집에 가기 전 들를 곳이 없어서, 결국 편의점 디저트로 달랜다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평일 18~21시 방문 41% · 방문 목적 1위 '기분 전환' 38%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경험 □ 가치 □ 혜택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백화점은 살 게 있을 때만 가는 곳이라, 구경만 하면 눈치가 보여 오래 있지 못한다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팝업 후 다른 층 이동률 22% · 체류 시간 −14분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■ 가치 □ 혜택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전환에 돈을 쓰고 싶지만, 비싼 상품 하나보다 작은 보상 여러 개가 더 좋다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· 프라이스 디코딩 · 현장 관찰 (소액 F&amp;B 구매)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□ 가치 ■ 혜택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2120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5212080"/>
            <a:ext cx="5440680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13232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세 인사이트 중 가장 강한 것과 그 이유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99632" y="52120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199632" y="5212080"/>
            <a:ext cx="5440680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364224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경쟁사가 아직 건드리지 않은 인사이트</a:t>
            </a:r>
            <a:endParaRPr lang="en-US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287BC776-A5A6-B60F-022A-6EF600D7FB4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577840"/>
            <a:ext cx="511149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sz="105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1번 — 두 개의 데이터가 같은 상황(평일 저녁 · 기분 전환)을 가리키고, 신규 20~30대가 오는 시간대와 일치합니다.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64224" y="5577840"/>
            <a:ext cx="511149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sz="105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2번 — 경쟁사는 인플루언서로 '살 이유'를 만들지만, '안 사도 와도 되는 곳'이라는 허락은 아무도 주지 않았습니다.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③  고객 인사이트 도출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실습 ③에서 정한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7451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가장 강한 인사이트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87451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퇴근 후 기분이 가라앉는데 들를 곳이 없다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23160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2316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빈자리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42316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“안 사도 와도 되는 곳”이라는 허락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71800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7180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유형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97180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경험 (+ 가치)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다음 실습으로 이렇게 이어집니다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1148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④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이 속마음을 고객이 기억할 이름과 한 문장으로 바꾼다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⑤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속마음 = 이야기의 첫 칸 “문제”가 된다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마무리 한마디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“오늘 찾은 속마음이 이름과 이야기의 재료예요.”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695450" y="3841750"/>
            <a:ext cx="4946650" cy="63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15950" y="3124200"/>
            <a:ext cx="3175000" cy="5016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고객이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단 한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문장으로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기억하는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핵심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메시지는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</a:p>
          <a:p>
            <a:pPr lvl="0" algn="l">
              <a:lnSpc>
                <a:spcPct val="141100"/>
              </a:lnSpc>
            </a:pP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캠페인의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정체성을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결정합니다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950" y="1797050"/>
            <a:ext cx="34099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핵심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메시지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개발</a:t>
            </a:r>
            <a:endParaRPr lang="en-US" sz="2000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1587500"/>
            <a:ext cx="336550" cy="3365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2546350"/>
            <a:ext cx="336550" cy="3365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4464050"/>
            <a:ext cx="336550" cy="3365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850" y="3505200"/>
            <a:ext cx="336550" cy="33655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5422900"/>
            <a:ext cx="336550" cy="33655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127750" y="19621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명확하고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단순한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표현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전달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40450" y="1587500"/>
            <a:ext cx="20320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간결하다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127750" y="292100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반복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노출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시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자연스럽게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상기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140450" y="2546350"/>
            <a:ext cx="36068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기억하기</a:t>
            </a: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쉽다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27750" y="38798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감정과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욕구에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직접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호소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140450" y="3505200"/>
            <a:ext cx="45974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감성을</a:t>
            </a: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자극한다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127750" y="483870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가치와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정체성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대표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140450" y="4464050"/>
            <a:ext cx="38862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브랜드와</a:t>
            </a: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연결된다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127750" y="57975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'Just Do It', 'Think Different', '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일상이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특별해지는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공간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'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40450" y="5422900"/>
            <a:ext cx="40640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글로벌</a:t>
            </a: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브랜드</a:t>
            </a: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사례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461000" y="160655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61000" y="256540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61000" y="448310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61000" y="352425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73700" y="5441950"/>
            <a:ext cx="20320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5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86D955BC-5B16-7601-A387-65DD2584A0D6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인사이트에서 메시지로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좋은 메시지의 조건은 알아도, 만드는 방법을 모르면 카피가 나오지 않습니다.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64240" cy="566928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66928" y="173736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인사이트  →  브랜드가 줄 수 있는 것  →  고객이 얻는 변화  →  한 문장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216530"/>
              </p:ext>
            </p:extLst>
          </p:nvPr>
        </p:nvGraphicFramePr>
        <p:xfrm>
          <a:off x="566928" y="2468880"/>
          <a:ext cx="11064240" cy="265231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0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무엇을 적나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작성 예시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고객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고객이 실제로 느끼는 것 (본인의 말투로)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"퇴근 후 기분이 가라앉는데, 딱히 풀 곳이 없다"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30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브랜드가 줄 수 있는 것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우리가 실제로 제공 가능한 것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"잠깐 들러도 기분이 바뀌는 공간과 콘텐츠"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고객이 얻는 변화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고객의 상태가 어떻게 달라지는가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"30분 만에 오늘의 기분이 달라진다"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한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위 세 줄을 압축한 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"오늘 기분, 롯데에서 바꿔요"  (필코노미)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5257800"/>
            <a:ext cx="3520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22960" y="5394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브랜드 자랑은 메시지가 아닙니다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56875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"최고의 상품을 만나보세요"는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우리 이야기입니다.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고객의 변화를 말해야 메시지입니다.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34256" y="5257800"/>
            <a:ext cx="3520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4590288" y="5394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짧게 만드는 것이 마지막입니다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90288" y="56875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처음부터 짧게 쓰려고 하면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알맹이가 빠집니다.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길게 쓴 뒤 깎아 내십시오.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01584" y="5257800"/>
            <a:ext cx="3520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357616" y="5394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읽지 말고 말해 보십시오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57616" y="56875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소리 내어 말했을 때 어색하면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고객도 기억하지 못합니다.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입에 붙는지가 최종 시험입니다.</a:t>
            </a:r>
            <a:endParaRPr lang="en-US" sz="105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E56BD8BD-7895-D75C-1DBE-D1536D8D8A85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04850" y="323850"/>
            <a:ext cx="1981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8" name="TextBox 8"/>
          <p:cNvSpPr txBox="1"/>
          <p:nvPr/>
        </p:nvSpPr>
        <p:spPr>
          <a:xfrm>
            <a:off x="615950" y="1308100"/>
            <a:ext cx="56324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캠페인명과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슬로건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개발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050" y="2355850"/>
            <a:ext cx="3517900" cy="40830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2355850"/>
            <a:ext cx="3517900" cy="40830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0" y="2355850"/>
            <a:ext cx="3517900" cy="40830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2355850"/>
            <a:ext cx="3517900" cy="40830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178800" y="2540000"/>
            <a:ext cx="736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86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76750" y="2540000"/>
            <a:ext cx="736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86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2000" y="2540000"/>
            <a:ext cx="736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86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16950" y="4941168"/>
            <a:ext cx="2806700" cy="298450"/>
          </a:xfrm>
          <a:prstGeom prst="rect">
            <a:avLst/>
          </a:prstGeom>
        </p:spPr>
        <p:txBody>
          <a:bodyPr lIns="0" tIns="8467" rIns="0" bIns="0" rtlCol="0" anchor="t"/>
          <a:lstStyle/>
          <a:p>
            <a:pPr lvl="0" algn="ctr">
              <a:lnSpc>
                <a:spcPct val="109559"/>
              </a:lnSpc>
            </a:pP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개발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예시</a:t>
            </a:r>
            <a:endParaRPr lang="en-US" sz="16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914900" y="4941168"/>
            <a:ext cx="2806700" cy="298450"/>
          </a:xfrm>
          <a:prstGeom prst="rect">
            <a:avLst/>
          </a:prstGeom>
        </p:spPr>
        <p:txBody>
          <a:bodyPr lIns="0" tIns="8467" rIns="0" bIns="0" rtlCol="0" anchor="t"/>
          <a:lstStyle/>
          <a:p>
            <a:pPr lvl="0" algn="ctr">
              <a:lnSpc>
                <a:spcPct val="109559"/>
              </a:lnSpc>
            </a:pP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슬로건의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역할</a:t>
            </a:r>
            <a:endParaRPr lang="en-US" sz="16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31900" y="4941168"/>
            <a:ext cx="2806700" cy="298450"/>
          </a:xfrm>
          <a:prstGeom prst="rect">
            <a:avLst/>
          </a:prstGeom>
        </p:spPr>
        <p:txBody>
          <a:bodyPr lIns="0" tIns="8467" rIns="0" bIns="0" rtlCol="0" anchor="t"/>
          <a:lstStyle/>
          <a:p>
            <a:pPr lvl="0" algn="ctr">
              <a:lnSpc>
                <a:spcPct val="109559"/>
              </a:lnSpc>
            </a:pP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캠페인명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개발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방향</a:t>
            </a:r>
            <a:endParaRPr lang="en-US" sz="16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700" y="3028950"/>
            <a:ext cx="2641600" cy="1905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" y="3308350"/>
            <a:ext cx="2127250" cy="117475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5300" y="2832100"/>
            <a:ext cx="1479550" cy="20828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597900" y="5359400"/>
            <a:ext cx="2970708" cy="1409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'오늘 기분, 롯데에서 바꿔요': 필코노미</a:t>
            </a:r>
          </a:p>
          <a:p>
            <a:pPr lvl="0" algn="ctr">
              <a:lnSpc>
                <a:spcPct val="120350"/>
              </a:lnSpc>
            </a:pP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'혼자여도 함께, 우리 동네 롯데': 1.5가구</a:t>
            </a:r>
          </a:p>
          <a:p>
            <a:pPr lvl="0" algn="ctr">
              <a:lnSpc>
                <a:spcPct val="120350"/>
              </a:lnSpc>
            </a:pP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'30분이면 충분한 나의 웰니스': 건강지능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64100" y="5303118"/>
            <a:ext cx="290195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캠페인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핵심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가치와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경험을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한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문장으로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압축하여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모든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마케팅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채널에서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반복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노출되어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기억도를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높입니다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2850" y="5303118"/>
            <a:ext cx="2844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선택한 고객 트렌드 키워드를 반영해 타깃이 '내 이야기'로 느끼는 영문·국문 조합을 만듭니다.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B357425D-C4A6-62FA-960E-DC20D88024A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④  캠페인명과 슬로건 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④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>
                <a:solidFill>
                  <a:srgbClr val="ED1C24"/>
                </a:solidFill>
                <a:latin typeface="a타이틀고딕3"/>
                <a:ea typeface="a타이틀고딕3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78308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고객이 한 문장으로</a:t>
            </a:r>
          </a:p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기억할 말은 무엇일까요?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나이키 하면 “Just Do It”. 딱 한 문장인데 브랜드가 떠오릅니다.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캠페인명은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이름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, 슬로건은 인스타 · 현수막 · 앱 어디서나 똑같이 쓰는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한 문장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왜 필요할까? </a:t>
            </a:r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캠페인은 몇 달 갑니다. 같은 말을 반복해야 기억에 남습니다 (22쪽 “실패 신호”).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준비물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실습 ③의 가장 강한 인사이트 · 83~85쪽 · 워크시트 91쪽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④  캠페인명과 슬로건 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④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이렇게 진행합니다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920240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9202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192024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세 줄을 먼저 채운다: 인사이트 → 브랜드가 줄 것 → 고객이 얻는 변화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207568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84쪽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88336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688336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68833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캠페인명과 슬로건을 A · B · C 세 안으로 만든다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2843784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91쪽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56432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5643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45643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각 안의 강점과 걱정되는 점을 쓴다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3611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91쪽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24528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224528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22452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체크리스트 네 개로 걸러 하나를 고른다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5480" y="4379976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83쪽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92624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992624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99262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조원끼리 소리 내어 읽고 최종 선택 이유를 쓴다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51480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84쪽 팁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시간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설명 5분 · 조별 작성 12분 · 공유 3분  =  20분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④  캠페인명과 슬로건 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1 · 네 줄 공식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조건을 알아도 안 나오면,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이 네 줄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을 차례로 쓰세요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877056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3840480"/>
                <a:gridCol w="432511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단계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무엇을 적나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1. 고객 인사이트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고객이 실제로 느끼는 것 (그 사람 말투로)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“퇴근 후 기분이 가라앉는데, 딱히 풀 곳이 없다”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2. 브랜드가 줄 수 있는 것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우리가 실제로 제공할 수 있는 것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“잠깐 들러도 기분이 바뀌는 공간과 콘텐츠”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3. 고객이 얻는 변화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고객의 상태가 어떻게 달라지나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“30분 만에 오늘의 기분이 달라진다”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4. 한 문장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위 세 줄을 압축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“오늘 기분, 롯데에서 바꿔요”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84쪽 팁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우리 자랑은 메시지가 아니다 · 길게 쓰고 깎는다 · 소리 내어 입에 붙는지 확인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④  캠페인명과 슬로건 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2 · 세 안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고른 이유만큼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버린 이유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가 중요합니다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694176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4114800"/>
                <a:gridCol w="3108960"/>
                <a:gridCol w="31363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안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캠페인명 / 슬로건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강점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걱정되는 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A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MOOD SHIFT
“오늘 기분, 롯데에서 바꿔요”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상황(기분)과 변화(바꾼다)가 한 문장에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“바꿔요”가 교환 행사처럼 들릴 수 있음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B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30 MINUTES FOR ME
“퇴근길 30분, 나에게 주는 선물”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시간이 분명, 픽셀 라이프와 연결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“선물”이 구매로 읽혀 “안 사도 된다”와 충돌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C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롯데 무드 라운지
“기분 좋아지는 곳, 롯데”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공간이 한눈에 떠오름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브랜드 자랑에 가까워 고객의 변화가 약함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선택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A안 — 고객의 상황과 변화가 모두 들어 있고, 소리 내어 말했을 때 가장 자연스럽다  ·  93쪽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④  캠페인명과 슬로건 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자료 찾기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이름을 정하기 전에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이미 쓰는 곳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 있는지 확인합니다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145536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4114800"/>
                <a:gridCol w="42336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확인할 것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눌러서 이동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확인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같은 이름의 상표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2"/>
                          <a:ea typeface="a고딕14"/>
                        </a:rPr>
                        <a:t>KIPRIS 상표 검색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캠페인명을 넣고 “상표”로 검색 → 같은 이름이 있으면 바꾸기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같은 이름의 캠페인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3"/>
                          <a:ea typeface="a고딕14"/>
                        </a:rPr>
                        <a:t>네이버: MOOD SHIFT 캠페인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우리 조 이름으로 바꿔 검색 → 다른 회사가 쓰는지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경쟁사 슬로건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4"/>
                          <a:ea typeface="a고딕14"/>
                        </a:rPr>
                        <a:t>네이버 뉴스: 백화점 캠페인 슬로건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다른 백화점이 쓰는 말과 겹치지 않는지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주의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수업에서는 확인까지만. 실제 사용 여부는 담당 부서의 검토가 필요합니다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④  캠페인명과 슬로건 개발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인사이트 → 브랜드가 줄 것 → 고객의 변화 → 한 문장 순서로 만드십시오.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62515"/>
              </p:ext>
            </p:extLst>
          </p:nvPr>
        </p:nvGraphicFramePr>
        <p:xfrm>
          <a:off x="548640" y="1783080"/>
          <a:ext cx="11091672" cy="1627632"/>
        </p:xfrm>
        <a:graphic>
          <a:graphicData uri="http://schemas.openxmlformats.org/drawingml/2006/table">
            <a:tbl>
              <a:tblPr/>
              <a:tblGrid>
                <a:gridCol w="33192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작성란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선택한 트렌드 · 고객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브랜드가 줄 수 있는 것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고객이 얻는 변화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797425"/>
              </p:ext>
            </p:extLst>
          </p:nvPr>
        </p:nvGraphicFramePr>
        <p:xfrm>
          <a:off x="548640" y="3465004"/>
          <a:ext cx="11091672" cy="20574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안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안의 강점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우려되는 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A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B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C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48640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731520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□  간결한가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46704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3529584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□  기억하기 쉬운가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44768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5"/>
          <p:cNvSpPr/>
          <p:nvPr/>
        </p:nvSpPr>
        <p:spPr>
          <a:xfrm>
            <a:off x="6327648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□  감성을 자극하는가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942832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9125712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□  브랜드와 연결되는가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최종 선택안과 이유  ______________________________________________________________________________</a:t>
            </a:r>
            <a:endParaRPr lang="en-US" sz="115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69A22C22-7AD8-7F92-F4A7-7A81D823EDB1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④  캠페인명과 슬로건 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막힐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조를 돌면서 이렇게 말해 주세요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74340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이런 조가 있으면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말해 주세요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“최고의 ○○” 같은 자랑형 문장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“그건 우리 이야기예요. 고객이 어떻게 달라지는지를 넣어 보세요.”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한 안만 만들었다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“하나만 있으면 비교가 안 돼요. 세 개 만들고 골라요.”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걱정되는 점을 비웠다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“다른 조가 이 이름을 들으면 뭐라고 할까요? 그게 걱정되는 점이에요.”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아예 안 떠오른다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“네 줄 공식 1~3줄을 먼저 쓰고, 그걸 줄이면 한 문장이 나와요.”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예시 답안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“정답이 아니라 한 가지 예시예요”로 시작  ·  93쪽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④  캠페인명과 슬로건 개발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인사이트 → 브랜드가 줄 것 → 고객의 변화 → 한 문장 순서로 만드십시오.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62515"/>
              </p:ext>
            </p:extLst>
          </p:nvPr>
        </p:nvGraphicFramePr>
        <p:xfrm>
          <a:off x="548640" y="1783080"/>
          <a:ext cx="11091672" cy="1627632"/>
        </p:xfrm>
        <a:graphic>
          <a:graphicData uri="http://schemas.openxmlformats.org/drawingml/2006/table">
            <a:tbl>
              <a:tblPr/>
              <a:tblGrid>
                <a:gridCol w="33192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작성란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선택한 트렌드 · 고객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— "퇴근 후 기분이 가라앉는데, 딱히 들를 곳이 없다"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브랜드가 줄 수 있는 것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평일 저녁 30분이면 둘러볼 수 있는 향 · 디저트 · 클래스 코스와 쉬어 가는 무드 라운지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고객이 얻는 변화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사지 않아도 기분이 바뀌어 집에 가고, 다시 오고 싶어진다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797425"/>
              </p:ext>
            </p:extLst>
          </p:nvPr>
        </p:nvGraphicFramePr>
        <p:xfrm>
          <a:off x="548640" y="3465004"/>
          <a:ext cx="11091672" cy="20574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안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안의 강점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우려되는 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A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MOOD SHIFT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오늘 기분, 롯데에서 바꿔요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고객의 상황(기분)과 변화(바꾼다)가 한 문장에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'바꿔요'가 교환 행사처럼 들릴 수 있음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B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30 MINUTES FOR ME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퇴근길 30분, 나에게 주는 선물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시간 단위가 명확, 픽셀 라이프와도 연결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'선물'이 구매로 읽혀 메시지와 충돌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C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롯데 무드 라운지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좋아지는 곳, 롯데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공간이 한눈에 떠오름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브랜드 자랑에 가까워 고객의 변화가 약함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48640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731520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■  간결한가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46704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3529584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■  기억하기 쉬운가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44768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5"/>
          <p:cNvSpPr/>
          <p:nvPr/>
        </p:nvSpPr>
        <p:spPr>
          <a:xfrm>
            <a:off x="6327648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■  감성을 자극하는가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942832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9125712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■  브랜드와 연결되는가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최종 선택안과 이유   A안 — 고객의 상황과 변화가 모두 들어 있고, 소리 내어 말했을 때 가장 자연스럽습니다.</a:t>
            </a:r>
            <a:endParaRPr lang="en-US" sz="115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69A22C22-7AD8-7F92-F4A7-7A81D823EDB1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④  캠페인명과 슬로건 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실습 ④에서 정한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7451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캠페인명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87451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MOOD SHIFT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23160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2316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슬로건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42316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“오늘 기분, 롯데에서 바꿔요”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71800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7180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고른 이유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97180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고객의 상황과 변화가 모두 들어 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다음 실습으로 이렇게 이어집니다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1148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⑤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이 한 문장을 네 칸짜리 이야기로 풀어 쓴다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⑦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슬로건이 일곱 단계 내내 반복되는 말이 된다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마무리 한마디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“이 한 문장을 오늘 끝까지 반복할 거예요.”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15950" y="1308100"/>
            <a:ext cx="56324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브랜드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스토리텔링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전략</a:t>
            </a:r>
            <a:endParaRPr lang="en-US" sz="2000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2590800"/>
            <a:ext cx="2159000" cy="170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850900" y="2501900"/>
            <a:ext cx="419100" cy="4191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 rot="10800000">
            <a:off x="863600" y="2527300"/>
            <a:ext cx="3937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13" name="TextBox 13"/>
          <p:cNvSpPr txBox="1"/>
          <p:nvPr/>
        </p:nvSpPr>
        <p:spPr>
          <a:xfrm>
            <a:off x="863600" y="2584450"/>
            <a:ext cx="381000" cy="222250"/>
          </a:xfrm>
          <a:prstGeom prst="rect">
            <a:avLst/>
          </a:prstGeom>
        </p:spPr>
        <p:txBody>
          <a:bodyPr lIns="0" tIns="26247" rIns="0" bIns="26247" rtlCol="0" anchor="ctr"/>
          <a:lstStyle/>
          <a:p>
            <a:pPr lvl="0" algn="ctr">
              <a:lnSpc>
                <a:spcPct val="88810"/>
              </a:lnSpc>
            </a:pPr>
            <a:r>
              <a:rPr lang="en-US" sz="1253" b="1" spc="-50" dirty="0">
                <a:solidFill>
                  <a:srgbClr val="FFFFFF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7800" y="2870200"/>
            <a:ext cx="1270000" cy="260350"/>
          </a:xfrm>
          <a:prstGeom prst="rect">
            <a:avLst/>
          </a:prstGeom>
        </p:spPr>
        <p:txBody>
          <a:bodyPr lIns="0" tIns="30353" rIns="0" bIns="30353" rtlCol="0" anchor="ctr"/>
          <a:lstStyle/>
          <a:p>
            <a:pPr lvl="0" algn="l">
              <a:lnSpc>
                <a:spcPct val="88810"/>
              </a:lnSpc>
            </a:pPr>
            <a:r>
              <a:rPr lang="en-US" sz="1448" b="1" cap="all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① </a:t>
            </a:r>
            <a:r>
              <a:rPr lang="en-US" sz="1448" b="1" cap="all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문제</a:t>
            </a:r>
            <a:endParaRPr lang="en-US" sz="1448" b="1" cap="all" dirty="0">
              <a:solidFill>
                <a:srgbClr val="424242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47800" y="3352800"/>
            <a:ext cx="2235200" cy="4508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2760"/>
              </a:lnSpc>
            </a:pP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고객이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직면한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현실적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또는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심리적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문제를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명확히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제시합니다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7350" y="2590800"/>
            <a:ext cx="2159000" cy="1701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273800" y="2501900"/>
            <a:ext cx="419100" cy="419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 rot="10800000">
            <a:off x="6286500" y="2527300"/>
            <a:ext cx="3937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19" name="TextBox 19"/>
          <p:cNvSpPr txBox="1"/>
          <p:nvPr/>
        </p:nvSpPr>
        <p:spPr>
          <a:xfrm>
            <a:off x="6292850" y="2584450"/>
            <a:ext cx="381000" cy="222250"/>
          </a:xfrm>
          <a:prstGeom prst="rect">
            <a:avLst/>
          </a:prstGeom>
        </p:spPr>
        <p:txBody>
          <a:bodyPr lIns="0" tIns="26247" rIns="0" bIns="26247" rtlCol="0" anchor="ctr"/>
          <a:lstStyle/>
          <a:p>
            <a:pPr lvl="0" algn="ctr">
              <a:lnSpc>
                <a:spcPct val="88810"/>
              </a:lnSpc>
            </a:pPr>
            <a:r>
              <a:rPr lang="en-US" sz="1253" b="1" spc="-50" dirty="0">
                <a:solidFill>
                  <a:srgbClr val="FFFFFF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70700" y="2870200"/>
            <a:ext cx="1270000" cy="260350"/>
          </a:xfrm>
          <a:prstGeom prst="rect">
            <a:avLst/>
          </a:prstGeom>
        </p:spPr>
        <p:txBody>
          <a:bodyPr lIns="0" tIns="30353" rIns="0" bIns="30353" rtlCol="0" anchor="ctr"/>
          <a:lstStyle/>
          <a:p>
            <a:pPr lvl="0" algn="l">
              <a:lnSpc>
                <a:spcPct val="88810"/>
              </a:lnSpc>
            </a:pPr>
            <a:r>
              <a:rPr lang="en-US" sz="1448" b="1" cap="all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② </a:t>
            </a:r>
            <a:r>
              <a:rPr lang="en-US" sz="1448" b="1" cap="all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해결</a:t>
            </a:r>
            <a:endParaRPr lang="en-US" sz="1448" b="1" cap="all" dirty="0">
              <a:solidFill>
                <a:srgbClr val="424242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70700" y="3352800"/>
            <a:ext cx="2235200" cy="4508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2760"/>
              </a:lnSpc>
            </a:pP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브랜드가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제공하는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구체적인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솔루션을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보여줍니다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8100" y="4603750"/>
            <a:ext cx="2159000" cy="1701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850900" y="4514850"/>
            <a:ext cx="419100" cy="4191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 rot="10800000">
            <a:off x="863600" y="4540250"/>
            <a:ext cx="3937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25" name="TextBox 25"/>
          <p:cNvSpPr txBox="1"/>
          <p:nvPr/>
        </p:nvSpPr>
        <p:spPr>
          <a:xfrm>
            <a:off x="863600" y="4597400"/>
            <a:ext cx="381000" cy="222250"/>
          </a:xfrm>
          <a:prstGeom prst="rect">
            <a:avLst/>
          </a:prstGeom>
        </p:spPr>
        <p:txBody>
          <a:bodyPr lIns="0" tIns="26247" rIns="0" bIns="26247" rtlCol="0" anchor="ctr"/>
          <a:lstStyle/>
          <a:p>
            <a:pPr lvl="0" algn="ctr">
              <a:lnSpc>
                <a:spcPct val="88810"/>
              </a:lnSpc>
            </a:pPr>
            <a:r>
              <a:rPr lang="en-US" sz="1253" b="1" spc="-50" dirty="0">
                <a:solidFill>
                  <a:srgbClr val="FFFFFF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47800" y="4883150"/>
            <a:ext cx="1270000" cy="260350"/>
          </a:xfrm>
          <a:prstGeom prst="rect">
            <a:avLst/>
          </a:prstGeom>
        </p:spPr>
        <p:txBody>
          <a:bodyPr lIns="0" tIns="30353" rIns="0" bIns="30353" rtlCol="0" anchor="ctr"/>
          <a:lstStyle/>
          <a:p>
            <a:pPr lvl="0" algn="l">
              <a:lnSpc>
                <a:spcPct val="88810"/>
              </a:lnSpc>
            </a:pPr>
            <a:r>
              <a:rPr lang="en-US" sz="1448" b="1" cap="all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③ </a:t>
            </a:r>
            <a:r>
              <a:rPr lang="en-US" sz="1448" b="1" cap="all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고객</a:t>
            </a:r>
            <a:r>
              <a:rPr lang="en-US" sz="1448" b="1" cap="all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448" b="1" cap="all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경험</a:t>
            </a:r>
            <a:endParaRPr lang="en-US" sz="1448" b="1" cap="all" dirty="0">
              <a:solidFill>
                <a:srgbClr val="424242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447800" y="5365750"/>
            <a:ext cx="2235200" cy="4508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2760"/>
              </a:lnSpc>
            </a:pP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문제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해결을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통해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얻게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되는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긍정적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변화를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전달합니다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7350" y="4603750"/>
            <a:ext cx="2159000" cy="17018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273800" y="4514850"/>
            <a:ext cx="419100" cy="4191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 rot="10800000">
            <a:off x="349250" y="368300"/>
            <a:ext cx="12274550" cy="87185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2508250"/>
            <a:ext cx="4864100" cy="127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6550" y="2508250"/>
            <a:ext cx="4864100" cy="12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4521200"/>
            <a:ext cx="4864100" cy="127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6550" y="4521200"/>
            <a:ext cx="4864100" cy="127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6292850" y="4597400"/>
            <a:ext cx="381000" cy="222250"/>
          </a:xfrm>
          <a:prstGeom prst="rect">
            <a:avLst/>
          </a:prstGeom>
        </p:spPr>
        <p:txBody>
          <a:bodyPr lIns="0" tIns="26247" rIns="0" bIns="26247" rtlCol="0" anchor="ctr"/>
          <a:lstStyle/>
          <a:p>
            <a:pPr lvl="0" algn="ctr">
              <a:lnSpc>
                <a:spcPct val="88810"/>
              </a:lnSpc>
            </a:pPr>
            <a:r>
              <a:rPr lang="en-US" sz="1253" b="1" spc="-50" dirty="0">
                <a:solidFill>
                  <a:srgbClr val="FFFFFF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70700" y="4883150"/>
            <a:ext cx="1270000" cy="260350"/>
          </a:xfrm>
          <a:prstGeom prst="rect">
            <a:avLst/>
          </a:prstGeom>
        </p:spPr>
        <p:txBody>
          <a:bodyPr lIns="0" tIns="30353" rIns="0" bIns="30353" rtlCol="0" anchor="ctr"/>
          <a:lstStyle/>
          <a:p>
            <a:pPr lvl="0" algn="l">
              <a:lnSpc>
                <a:spcPct val="88810"/>
              </a:lnSpc>
            </a:pPr>
            <a:r>
              <a:rPr lang="en-US" sz="1448" b="1" cap="all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④ </a:t>
            </a:r>
            <a:r>
              <a:rPr lang="en-US" sz="1448" b="1" cap="all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브랜드</a:t>
            </a:r>
            <a:r>
              <a:rPr lang="en-US" sz="1448" b="1" cap="all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448" b="1" cap="all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가치</a:t>
            </a:r>
            <a:endParaRPr lang="en-US" sz="1448" b="1" cap="all" dirty="0">
              <a:solidFill>
                <a:srgbClr val="424242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870700" y="5365750"/>
            <a:ext cx="2235200" cy="4508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2760"/>
              </a:lnSpc>
            </a:pP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모든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과정에서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브랜드가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추구하는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근본적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가치를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표현합니다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8A9F2250-1E98-1E5C-16AF-A94EF0284EC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⑤  브랜드 스토리텔링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⑤ · 15분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>
                <a:solidFill>
                  <a:srgbClr val="ED1C24"/>
                </a:solidFill>
                <a:latin typeface="a타이틀고딕3"/>
                <a:ea typeface="a타이틀고딕3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78308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이 캠페인을</a:t>
            </a:r>
          </a:p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이야기로 말하면?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사람은 정보보다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이야기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를 기억합니다.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이야기는 네 칸이면 됩니다: 문제 → 해결 → 고객 경험 → 브랜드 가치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왜 필요할까? </a:t>
            </a:r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이 네 칸이 마지막 기획안과 발표의 뼈대가 됩니다. 담당자님이 특히 강조한 부분입니다.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준비물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실습 ③의 인사이트 · 실습 ④의 세 줄과 슬로건 · 95쪽 · 워크시트 99쪽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⑤  브랜드 스토리텔링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1 · 네 칸은 앞에서 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새로 쓰는 게 아니라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앞 실습에서 가져옵니다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877056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4572000"/>
                <a:gridCol w="41422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네 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무엇을 쓰나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어디서 가져오나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① 문제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고객이 겪는 현실적 · 심리적 문제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실습 ③ 인사이트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② 해결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브랜드가 제공하는 구체적 솔루션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실습 ④ “브랜드가 줄 것”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③ 고객 경험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문제 해결로 얻게 되는 긍정적 변화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실습 ④ “고객이 얻는 변화”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④ 브랜드 가치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이 과정에서 드러나는 브랜드의 가치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실습 ④ 슬로건 + 우리 백화점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진행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네 칸 채우기 10분 → 조원 한 명이 처음부터 끝까지 소리 내어 읽기 → 끊기는 곳 고치기 5분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⑤  브랜드 스토리텔링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2 · 예시 팀의 네 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소리 내어 이어 읽으면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한 사람의 하루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처럼 들립니다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059936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90799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예시 팀 (MOOD SHIFT)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① 문제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20~30대 직장인은 퇴근 후 기분이 가라앉아도 집에 가기 전 잠깐 들러 기분을 풀 곳이 없다. 백화점은 “살 게 있을 때만 가는 곳”이라 부담스럽다.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② 해결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평일 저녁 30분 “무드 시프트 코스”를 연다. 향 테스트, 디저트 페어링, 15분 원데이 클래스, 쉬어 가는 무드 라운지를 한 동선으로 잇는다.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③ 고객 경험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사지 않아도 기분이 바뀌어 집에 가고, 마음에 든 향과 디저트는 다음에 다시 찾으러 온다. 백화점이 “그냥 들러도 되는 곳”이 된다.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④ 브랜드 가치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롯데백화점은 물건을 파는 곳을 넘어, 고객의 하루를 회복시키는 일상의 공간이다.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강사 시범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이 장은 선생님이 직접 네 칸을 이어서 천천히 읽어 주세요  ·  101쪽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⑤  브랜드 스토리텔링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네 칸이 하나의 이야기로 이어지는지 소리 내어 읽어 확인하십시오.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377440" cy="100584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1947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①  문제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FFE8E0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고객이 직면한 현실적 또는 심리적 문제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0" y="2167128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108960" y="2478024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48640" y="2898648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48640" y="2898648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30632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②  해결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브랜드가 제공하는 구체적 솔루션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08960" y="3282696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108960" y="3593592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8640" y="4014216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77240" y="4178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③  고객 경험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517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문제 해결로 얻게 되는 긍정적 변화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4398264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108960" y="4709160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48640" y="5129784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48640" y="5129784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77240" y="52943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④  브랜드 가치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" y="5632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이 과정에서 드러나는 브랜드의 가치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08960" y="5513832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108960" y="5824728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네 칸을 이어서 읽었을 때 하나의 이야기로 들리는지 확인하십시오. 따로 놀면 채널마다 다른 말을 하게 됩니다.</a:t>
            </a:r>
            <a:endParaRPr lang="en-US" sz="115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0F272975-82E6-A574-2C72-434193CA9A9F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⑤  브랜드 스토리텔링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막힐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조를 돌면서 이렇게 말해 주세요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72511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이런 조가 있으면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말해 주세요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④에 “최고의 백화점”을 썼다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“그건 자랑이에요. 고객에게 우리는 어떤 곳이 되고 싶어요?”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① 문제가 “매출이 떨어진다”다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“그건 회사의 문제예요. 고객이 겪는 문제를 써요. 실습 ③을 보세요.”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네 칸이 따로 논다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“소리 내어 이어 읽어 보세요. 끊기는 곳이 고칠 곳이에요.”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어디서부터 써야 할지 모른다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“실습 ③ 인사이트를 ①에, 실습 ④ 세 줄을 ②③에 옮겨 적어요.”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예시 답안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“정답이 아니라 한 가지 예시예요”로 시작  ·  101쪽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⑤  브랜드 스토리텔링 설계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네 칸이 하나의 이야기로 이어지는지 소리 내어 읽어 확인하십시오.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377440" cy="100584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1947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①  문제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FFE8E0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고객이 직면한 현실적 또는 심리적 문제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98648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48640" y="2898648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30632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②  해결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브랜드가 제공하는 구체적 솔루션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8640" y="4014216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77240" y="4178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③  고객 경험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517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문제 해결로 얻게 되는 긍정적 변화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129784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48640" y="5129784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77240" y="52943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④  브랜드 가치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" y="5632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이 과정에서 드러나는 브랜드의 가치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네 칸을 이어서 읽었을 때 하나의 이야기로 들리는지 확인하십시오. 따로 놀면 채널마다 다른 말을 하게 됩니다.</a:t>
            </a:r>
            <a:endParaRPr lang="en-US" sz="115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0F272975-82E6-A574-2C72-434193CA9A9F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1892807"/>
            <a:ext cx="827532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sz="110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20~30대 직장인은 퇴근 후 기분이 가라앉아도 집에 가기 전 잠깐 들러 기분을 풀 곳이 없습니다. 백화점은 '살 게 있을 때만 가는 곳'이라 부담스럽습니다.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54680" y="3008376"/>
            <a:ext cx="827532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sz="110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롯데백화점은 평일 저녁 30분 '무드 시프트 코스'를 엽니다. 향 테스트, 디저트 페어링, 15분 원데이 클래스, 쉬어 가는 무드 라운지를 한 동선으로 잇습니다.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4123944"/>
            <a:ext cx="827532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sz="110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사지 않아도 기분이 바뀌어 집에 가고, 마음에 든 향과 디저트는 다음에 다시 찾으러 옵니다. 백화점이 '그냥 들러도 되는 곳'이 됩니다.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5239512"/>
            <a:ext cx="827532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sz="110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롯데백화점은 물건을 파는 곳을 넘어, 고객의 하루를 회복시키는 일상의 공간이라는 가치를 전합니다.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⑤  브랜드 스토리텔링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실습 ⑤에서 정한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7451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문제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87451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퇴근 후 들를 곳이 없다 · 백화점은 부담스럽다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23160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2316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해결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42316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평일 저녁 30분 무드 시프트 코스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71800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7180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고객 경험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97180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안 사도 기분이 바뀌고 다시 온다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39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2043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브랜드 가치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52043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하루를 회복시키는 일상의 공간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51959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다음 실습으로 이렇게 이어집니다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⑥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이 이야기를 어디서 들려줄지(채널) 정한다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⑪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네 칸이 기획안의 “브랜드 스토리” 칸이 된다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마무리 한마디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“이 네 칸이 발표의 뼈대예요.”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85800" y="323850"/>
            <a:ext cx="1600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8" name="TextBox 8"/>
          <p:cNvSpPr txBox="1"/>
          <p:nvPr/>
        </p:nvSpPr>
        <p:spPr>
          <a:xfrm>
            <a:off x="615950" y="1308100"/>
            <a:ext cx="56070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오프라인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행사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채널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전략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444" y="2178910"/>
            <a:ext cx="3771900" cy="38417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257800" y="3365500"/>
            <a:ext cx="6203950" cy="190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85750" lvl="0" indent="-28575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팝업스토어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: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한정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기간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운영으로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신선함과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긴급성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창출</a:t>
            </a:r>
            <a:endParaRPr lang="en-US" sz="17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285750" lvl="0" indent="-28575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포토존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: SNS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공유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가능한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인증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공간으로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바이럴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효과</a:t>
            </a:r>
            <a:endParaRPr lang="en-US" sz="17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285750" lvl="0" indent="-28575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체험부스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: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제품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사용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제공으로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구매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전환율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향상</a:t>
            </a:r>
            <a:endParaRPr lang="en-US" sz="17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285750" lvl="0" indent="-28575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문화공연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: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가치를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예술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형식으로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전달</a:t>
            </a:r>
            <a:endParaRPr lang="en-US" sz="17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285750" lvl="0" indent="-28575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시식행사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: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음식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제품의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맛과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품질을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직접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체험</a:t>
            </a:r>
            <a:endParaRPr lang="en-US" sz="17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285750" lvl="0" indent="-28575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플리마켓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: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커뮤니티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형성과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친근한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이미지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구축</a:t>
            </a:r>
            <a:endParaRPr lang="en-US" sz="17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257800" y="2781300"/>
            <a:ext cx="6216650" cy="381000"/>
          </a:xfrm>
          <a:prstGeom prst="rect">
            <a:avLst/>
          </a:prstGeom>
        </p:spPr>
        <p:txBody>
          <a:bodyPr lIns="0" tIns="13547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1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오프라인</a:t>
            </a:r>
            <a:r>
              <a:rPr lang="en-US" sz="21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행사의</a:t>
            </a:r>
            <a:r>
              <a:rPr lang="en-US" sz="21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주요</a:t>
            </a:r>
            <a:r>
              <a:rPr lang="en-US" sz="21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유형</a:t>
            </a:r>
            <a:endParaRPr lang="en-US" sz="21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721C13FC-2BFA-43A5-3431-686BE616238F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695450" y="3841750"/>
            <a:ext cx="4946650" cy="63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03250" y="3124200"/>
            <a:ext cx="3332510" cy="77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SNS와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라이브커머스는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실시간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고객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상호작용과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즉시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구매를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가능하게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하는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핵심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디지털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채널입니다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950" y="1797050"/>
            <a:ext cx="340995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SNS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마케팅과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라이브커머스</a:t>
            </a:r>
            <a:endParaRPr lang="en-US" sz="2000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1587500"/>
            <a:ext cx="336550" cy="3365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2546350"/>
            <a:ext cx="336550" cy="3365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4464050"/>
            <a:ext cx="336550" cy="3365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850" y="3505200"/>
            <a:ext cx="336550" cy="33655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5422900"/>
            <a:ext cx="336550" cy="33655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127750" y="19621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릴스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이벤트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리뷰로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20~30대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접근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40450" y="1587500"/>
            <a:ext cx="20320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인스타그램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127750" y="292100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숏폼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튜토리얼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스토리로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전연령층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140450" y="2546350"/>
            <a:ext cx="36068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유튜브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27750" y="38798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챌린지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숏폼으로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10~20대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40450" y="3505200"/>
            <a:ext cx="45974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틱톡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127750" y="483870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상세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리뷰로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30~40대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신뢰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제공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140450" y="4464050"/>
            <a:ext cx="38862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네이버</a:t>
            </a: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블로그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127750" y="57975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진행자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매력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상호작용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긴급성으로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구매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140450" y="5422900"/>
            <a:ext cx="40640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라이브커머스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461000" y="160655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61000" y="256540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61000" y="448310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61000" y="352425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73700" y="5441950"/>
            <a:ext cx="20320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5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30BBF851-4614-F219-8672-79BFA1EBC8C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15950" y="1308100"/>
            <a:ext cx="56324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홈페이지와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멤버십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연계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전략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50" y="2419350"/>
            <a:ext cx="4851400" cy="3962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250" y="2419350"/>
            <a:ext cx="4851400" cy="3962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92250" y="5143500"/>
            <a:ext cx="4375150" cy="482600"/>
          </a:xfrm>
          <a:prstGeom prst="rect">
            <a:avLst/>
          </a:prstGeom>
        </p:spPr>
        <p:txBody>
          <a:bodyPr lIns="0" tIns="898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행사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안내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및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상세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정보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제공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온라인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예약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및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회원가입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기능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소개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및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가치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전달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이벤트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참여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플랫폼으로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기능합니다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4150" y="4610100"/>
            <a:ext cx="4394200" cy="355600"/>
          </a:xfrm>
          <a:prstGeom prst="rect">
            <a:avLst/>
          </a:prstGeom>
        </p:spPr>
        <p:txBody>
          <a:bodyPr lIns="0" tIns="12589" rIns="0" bIns="12589" rtlCol="0" anchor="ctr"/>
          <a:lstStyle/>
          <a:p>
            <a:pPr lvl="0" algn="ctr">
              <a:lnSpc>
                <a:spcPct val="107899"/>
              </a:lnSpc>
            </a:pP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홈페이지의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역할</a:t>
            </a:r>
            <a:endParaRPr lang="en-US" sz="198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584950" y="5143500"/>
            <a:ext cx="4375150" cy="501650"/>
          </a:xfrm>
          <a:prstGeom prst="rect">
            <a:avLst/>
          </a:prstGeom>
        </p:spPr>
        <p:txBody>
          <a:bodyPr lIns="0" tIns="931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포인트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적립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타깃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쿠폰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VIP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차등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서비스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구매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이력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기반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맞춤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추천으로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충성도를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강화합니다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46850" y="4610100"/>
            <a:ext cx="4394200" cy="355600"/>
          </a:xfrm>
          <a:prstGeom prst="rect">
            <a:avLst/>
          </a:prstGeom>
        </p:spPr>
        <p:txBody>
          <a:bodyPr lIns="0" tIns="12589" rIns="0" bIns="12589" rtlCol="0" anchor="ctr"/>
          <a:lstStyle/>
          <a:p>
            <a:pPr lvl="0" algn="ctr">
              <a:lnSpc>
                <a:spcPct val="107899"/>
              </a:lnSpc>
            </a:pP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멤버십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연계의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효과</a:t>
            </a:r>
            <a:endParaRPr lang="en-US" sz="198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6433B146-AAC5-8391-D0DA-EAFD549A772E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채널별 특성과 예산 효율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채널마다 잘하는 일이 다릅니다. 도달이 목적인지 전환이 목적인지에 따라 골라야 합니다.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112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타깃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잘하는 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비용 특성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주의점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인스타그램 · 릴스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20~30대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 · 확산 · 비주얼 전달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제작비 낮음 · 광고비 탄력적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체류가 짧아 정보 전달에는 약함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유튜브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 연령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설명 · 신뢰 형성 · 롱테일 노출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제작비 높음 · 노출은 오래감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제작 기간이 길어 급한 캠페인에 부적합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틱톡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10~20대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트렌드 확산 · 챌린지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제작비 낮음 · 성패 편차 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브랜드 통제가 어려움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네이버 블로그 · 검색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30~40대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검색 유입 · 상세 정보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비용 낮음 · 효과가 느림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즉시 확산에는 부적합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채널별 상이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신뢰 기반 전환 · 후기 확보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단가 편차 매우 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팔로워 수보다 참여율을 확인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20~40대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즉시 구매 전환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진행비 · 수수료 발생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상품이 명확해야 성립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푸시 · 멤버십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기존 회원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재방문 · 재구매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추가 비용 거의 없음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고객 확보에는 무력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623560"/>
            <a:ext cx="11091672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68680" y="56235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신규 고객 확보가 목표라면 앱 푸시와 멤버십에 예산을 쏟아도 소용이 없습니다. 이미 우리 회원인 사람에게만 도달하기 때문입니다.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목표가 신규인지 기존인지에 따라 채널 예산의 배분이 완전히 달라집니다.</a:t>
            </a:r>
            <a:endParaRPr lang="en-US" sz="115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15950" y="1308100"/>
            <a:ext cx="56070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통합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마케팅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커뮤니케이션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(IMC)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49600"/>
            <a:ext cx="3136900" cy="16700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" y="2533650"/>
            <a:ext cx="533400" cy="5016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730500" y="4781550"/>
            <a:ext cx="3295650" cy="1905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908050" y="4978400"/>
            <a:ext cx="3213100" cy="1187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각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채널이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독립적으로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작동하는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것이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아니라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여정의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각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단계에서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같은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메시지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같은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경험을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제공하여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누적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효과를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만듭니다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6300" y="2686050"/>
            <a:ext cx="32131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IMC의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원리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99000" y="4978400"/>
            <a:ext cx="3200400" cy="1187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SNS →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홈페이지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→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백화점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방문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→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팝업스토어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→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라이브커머스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→ L.POINT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적립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→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재방문으로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이어지는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여정을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설계합니다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515100" y="4781550"/>
            <a:ext cx="3295650" cy="1905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483600" y="4978400"/>
            <a:ext cx="3213100" cy="8826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각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단계에서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일관된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캠페인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메시지와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시각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정체성을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유지하여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고객이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어느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채널에서든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같은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경험을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받게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합니다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800" y="2533650"/>
            <a:ext cx="533400" cy="50165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660900" y="2686050"/>
            <a:ext cx="32131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통합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채널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운영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흐름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400" y="2533650"/>
            <a:ext cx="533400" cy="50165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5350" y="3149600"/>
            <a:ext cx="3136900" cy="167005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3600" y="3149600"/>
            <a:ext cx="3136900" cy="167005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451850" y="2686050"/>
            <a:ext cx="32131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일관된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브랜드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경험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C3B47D14-932A-C585-0156-FD62C06166F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⑥  채널 믹스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⑥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>
                <a:solidFill>
                  <a:srgbClr val="ED1C24"/>
                </a:solidFill>
                <a:latin typeface="a타이틀고딕3"/>
                <a:ea typeface="a타이틀고딕3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78308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우리 고객을</a:t>
            </a:r>
          </a:p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어디서 만날까요?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채널마다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잘하는 일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이 다릅니다. 알리기, 관심 끌기, 오게 하기, 사게 하기.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모든 채널이 모든 일을 할 수는 없습니다. 채널마다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역할 하나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씩 줍니다.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왜 필요할까? </a:t>
            </a:r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돈은 5억뿐입니다. 신규 고객에게 닿지 않는 채널에 돈을 쓰면 목표를 못 채웁니다.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준비물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실습 ②의 타깃 · 103~106쪽 · 43쪽(보유 채널) · 워크시트 114쪽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⑥  채널 믹스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⑥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이렇게 진행합니다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920240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9202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192024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쓸 채널에 체크한다 (쓰지 않을 채널도 정한다)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207568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114쪽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88336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688336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68833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채널마다 역할을 하나씩 정한다: 인지 · 관심 · 행동 · 전환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2843784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106쪽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56432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5643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45643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주요 콘텐츠를 한 줄로 적는다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3611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104쪽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24528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224528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22452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예산 비중(%)을 적는다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5480" y="4379976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114쪽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92624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992624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99262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도달을 계산한다: 12만 × 8% = 약 1만, 목표 10만까지 어디서 채울까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51480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43 · 114쪽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시간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설명 3분 · 조별 작성 14분 · 계산 점검 3분  =  20분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⑥  채널 믹스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1 · 채널이 잘하는 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표는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“잘하는 일”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 칸만 보면 됩니다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1828800"/>
                <a:gridCol w="2743200"/>
                <a:gridCol w="35021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채널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주 타깃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잘하는 일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주의점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인스타그램 · 릴스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20~30대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인지 · 확산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정보 전달에는 약함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유튜브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전 연령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설명 · 신뢰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제작 기간이 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인플루언서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채널별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후기 · 전환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팔로워보다 참여율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라이브커머스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20~40대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바로 구매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상품이 명확해야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앱 푸시 · 멤버십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기존 회원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재방문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신규 고객에게는 안 닿음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오프라인 (팝업 · 포토존)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방문객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체험 · 가입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공간 · 인력 필요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106쪽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신규 고객이 목표라면 앱 푸시와 멤버십에 예산을 쏟아도 소용이 없습니다. 이미 회원인 사람에게만 닿기 때문입니다.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⑥  채널 믹스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2 · 도달 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숫자로 확인하면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어디에 돈을 써야 할지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 보입니다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877056"/>
        </p:xfrm>
        <a:graphic>
          <a:graphicData uri="http://schemas.openxmlformats.org/drawingml/2006/table">
            <a:tbl>
              <a:tblPr firstRow="0" bandRow="0"/>
              <a:tblGrid>
                <a:gridCol w="4389120"/>
                <a:gridCol w="2011680"/>
                <a:gridCol w="46908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계산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결과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뜻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인스타 팔로워 12만 × 평균 도달률 8%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약 1만 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광고 없이 자연스럽게 보는 사람 (오가닉 도달)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목표 10만 − 1만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약 9만 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돈을 써서 채워야 하는 도달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릴스 광고 5만 + 인플루언서 4만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9만 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예시 팀이 채운 방법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합계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약 10만 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목표 달성 (중복은 빼지 않은 추정)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116쪽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인스타 오가닉 도달은 12만 × 8% ≈ 1만에 불과하므로, 목표 10만은 릴스 광고(5만)와 인플루언서(4만)로 채웁니다.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⑥  채널 믹스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3 · 예시 팀의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쓰지 않을 채널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을 정하는 것도 전략입니다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11480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1371600"/>
                <a:gridCol w="3474720"/>
                <a:gridCol w="1097280"/>
                <a:gridCol w="24048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채널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역할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주요 콘텐츠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비중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목표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오프라인 (팝업 · 포토존)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행동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무드 라운지 · 향 테스트 · 클래스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40%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방문 3.5만 · 가입 5천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인스타그램 · 릴스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인지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“오늘 기분 테스트” 릴스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14%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도달 6만 (광고 5만)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인플루언서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인지 · 행동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직장인 인플루언서 20명 방문기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13%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도달 4만 · 인증 800건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유튜브 · 숏폼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관심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30분 코스 브이로그 3편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4%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조회 3만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라이브커머스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전환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향 · 디저트 라이브 2회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3%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구매 전환 3%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앱 푸시 · 멤버십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관계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가입 쿠폰 · 재방문 스탬프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2%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재방문 30%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틱톡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타깃 연령과 달라 사용 안 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0%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합계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76% (나머지 24%는 혜택 · 인력 · 예비비로 실습 ⑨에서 나눔)  ·  116쪽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⑥  채널 믹스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자료 찾기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채널을 실제 자료로 고르려면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877056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4572000"/>
                <a:gridCol w="37764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확인할 것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눌러서 이동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찾은 것 / 확인 방법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연령별 SNS 이용률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2"/>
                          <a:ea typeface="a고딕14"/>
                        </a:rPr>
                        <a:t>한국갤럽 2025 이용률 조사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유튜브 95% · 인스타그램 45% · 틱톡 35% (13세 이상, 2025)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도달과 노출의 차이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3"/>
                          <a:ea typeface="a고딕14"/>
                        </a:rPr>
                        <a:t>Meta 비즈니스 도움말: Instagram 게시물 도달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도달 = 본 사람 수 (한 사람은 한 번만 셈)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고른 지점의 팔로워 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4"/>
                          <a:ea typeface="a고딕14"/>
                        </a:rPr>
                        <a:t>네이버: 롯데백화점 인스타그램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지점 공식 계정 프로필의 팔로워 숫자를 적기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인플루언서 참여율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5"/>
                          <a:ea typeface="a고딕14"/>
                        </a:rPr>
                        <a:t>블로그: 인플루언서 참여율 계산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(좋아요 + 댓글) ÷ 팔로워로 대략 확인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적는 법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이용률 · 팔로워 수는 (출처, 날짜) · 채널별 비중은 우리 조의 (제안)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⑥  채널 믹스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채널마다 역할을 하나씩 정하십시오. 모든 채널이 모든 일을 할 수는 없습니다.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85616"/>
        </p:xfrm>
        <a:graphic>
          <a:graphicData uri="http://schemas.openxmlformats.org/drawingml/2006/table">
            <a:tbl>
              <a:tblPr/>
              <a:tblGrid>
                <a:gridCol w="23134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사용 여부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채널의 역할 (인지/관심/행동/전환)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주요 콘텐츠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예산 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 도달·성과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인스타그램 · 릴스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유튜브 · 숏폼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틱톡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푸시 · 멤버십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오프라인 (팝업·포토존)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669280"/>
            <a:ext cx="11091672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6692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확인 질문  ·  이번 캠페인의 목표는 신규 고객 확보입니다. 앱 푸시와 멤버십에 예산을 크게 배정하셨다면, 그 채널이 신규 고객에게 닿습니까?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SNS 도달 목표 10만을 인스타 팔로워 12만 · 도달률 8%로 달성할 수 있는지도 계산해 보십시오.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F9FDDA6-D22B-A394-8E46-0E977F0054A8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⑥  채널 믹스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막힐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조를 돌면서 이렇게 말해 주세요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72511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이런 조가 있으면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말해 주세요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앱 푸시 · 멤버십 비중이 크다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“그 채널이 신규 고객에게 닿나요? 이미 회원인 사람에게만 가요.”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모든 채널에 다 체크했다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“다 하면 돈이 모자라요. 우리 타깃이 안 보는 채널은 빼요.”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도달 계산 없이 인스타만 믿는다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“팔로워 12만 × 8%면 몇 명이 봐요? 목표 10만까지 어디서 채워요?”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역할이 채널마다 똑같다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“이 채널은 알리는 채널이에요, 오게 하는 채널이에요? 하나만 골라요.”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예시 답안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“정답이 아니라 한 가지 예시예요”로 시작  ·  116쪽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⑥  채널 믹스 설계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채널마다 역할을 하나씩 정하십시오. 모든 채널이 모든 일을 할 수는 없습니다.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85616"/>
        </p:xfrm>
        <a:graphic>
          <a:graphicData uri="http://schemas.openxmlformats.org/drawingml/2006/table">
            <a:tbl>
              <a:tblPr/>
              <a:tblGrid>
                <a:gridCol w="23134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사용 여부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채널의 역할 (인지/관심/행동/전환)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주요 콘텐츠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예산 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 도달·성과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인스타그램 · 릴스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'오늘 기분 테스트' 릴스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14%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도달 6만 (광고 5만)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유튜브 · 숏폼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관심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30분 코스 브이로그 숏폼 3편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조회 3만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틱톡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사용 안 함 (주 타깃 연령과 다름)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0%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 · 행동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직장인 인플루언서 20명 방문기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13%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도달 4만 · 인증 800건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전환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향 · 디저트 상품 라이브 2회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구매 전환 3%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푸시 · 멤버십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가입 즉시 코스 쿠폰 · 재방문 스탬프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재방문 30%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오프라인 (팝업·포토존)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무드 라운지 · 향 테스트 · 클래스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40%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방문 3.5만 · 가입 5천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76%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나머지 24%는 실습 ⑨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669280"/>
            <a:ext cx="11091672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6692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4E9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  ·  앱 푸시 · 멤버십은 2%로 낮췄습니다. 이미 우리 회원인 고객에게만 닿기 때문입니다.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4E9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인스타 오가닉 도달은 12만 × 8% ≈ 1만에 불과하므로, 목표 10만은 릴스 광고(5만)와 인플루언서(4만)로 채웁니다.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F9FDDA6-D22B-A394-8E46-0E977F0054A8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⑥  채널 믹스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실습 ⑥에서 정한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7451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가장 큰 채널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87451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오프라인 40% (매장에 와야 가입)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23160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2316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알리는 채널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42316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릴스 광고 + 인플루언서로 9만 도달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71800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7180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작게 쓴 채널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97180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앱 푸시 2% (신규에게 안 닿음)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39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2043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채널 소계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52043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76% (나머지 24%는 실습 ⑨)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51959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다음 실습으로 이렇게 이어집니다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⑦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고른 채널들을 고객이 지나가는 길로 잇는다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⑨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채널 비중이 예산 금액이 된다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마무리 한마디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“채널마다 역할 하나. 쓰지 않을 채널을 정하는 것도 전략이에요.”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⑦  IMC 고객 여정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⑦ · 15분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>
                <a:solidFill>
                  <a:srgbClr val="ED1C24"/>
                </a:solidFill>
                <a:latin typeface="a타이틀고딕3"/>
                <a:ea typeface="a타이틀고딕3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78308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고객이 우리를 알고</a:t>
            </a:r>
          </a:p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다시 오기까지 어떤 길을 걸을까요?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IMC는 어렵게 들리지만 뜻은 하나,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“어디서 만나도 같은 말”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입니다.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인스타에서 본 문구가 앱에도, 매장 입구에도, 라이브에도 똑같이 나와야 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왜 필요할까? </a:t>
            </a:r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22쪽 캠페인 실패 신호 = “채널마다 말이 달라 기억되지 않음”. 그걸 막는 것이 IMC입니다.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준비물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실습 ④ 슬로건 · 실습 ⑥ 채널 · 107쪽 · 워크시트 122쪽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⑦  IMC 고객 여정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⑦ · 15분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이렇게 진행합니다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920240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9202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192024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일곱 단계마다 채널 · 접점을 적는다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207568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122쪽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88336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688336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68833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단계마다 전할 메시지를 적는다 (슬로건과 같은 말)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2843784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실습 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56432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5643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45643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그 단계에서 고객이 하는 행동을 적는다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3611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122쪽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24528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224528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22452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다음 단계로 넘기는 장치를 적는다 (링크 · 쿠폰 · 스탬프)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5480" y="4379976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124쪽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92624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992624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99262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반복되는 한 문장과 “끊기는 지점”을 찾는다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51480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124쪽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시간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설명 3분 · 조별 작성 10분 · 공유 2분  =  15분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⑦  IMC 고객 여정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1 · 예시 팀의 일곱 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한 고객이 되어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따라가 보세요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11480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3291840"/>
                <a:gridCol w="2743200"/>
                <a:gridCol w="30449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단계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메시지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고객 행동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다음으로 넘기는 장치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1 SNS 인지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“오늘 기분, 바꿔 볼까요?”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기분 테스트 참여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테스트 결과별 “오늘의 코스” 링크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2 홈페이지 · 앱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“오늘 기분에 맞는 30분 코스”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코스 확인 · 회원가입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가입 즉시 라운지 음료 쿠폰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3 백화점 방문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“오늘 기분, 여기서 바꿔요”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스탬프북 받기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첫 스탬프 위치로 팝업 안내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4 팝업 체험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“기분이 바뀌는 향과 맛”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향 테스트 · 페어링 · 클래스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체험 상품을 라이브 알림으로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5 라이브커머스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“그날 바꾼 기분, 집에서도”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체험한 향 · 디저트 구매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구매 시 L.POINT 추가 적립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6 멤버십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“기분 바꾼 날마다 스탬프”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스탬프 적립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스탬프 3개 시 다음 방문 혜택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7 재방문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“이번 주 기분은 어떠세요?”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다른 코스로 재방문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매주 새 코스 공개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반복 메시지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“오늘 기분, 롯데에서 바꿔요” — 일곱 단계 모두 “기분”이라는 말이 이어진다  ·  124쪽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⑦  IMC 고객 여정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2 · 끊기는 지점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여정은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말투가 바뀌는 곳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에서 끊깁니다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103120"/>
            <a:ext cx="1371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1031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SNS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47672" y="2514600"/>
            <a:ext cx="192024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167128" y="2103120"/>
            <a:ext cx="1371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67128" y="21031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66160" y="2514600"/>
            <a:ext cx="192024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785615" y="2103120"/>
            <a:ext cx="1371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85615" y="21031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방문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84648" y="2514600"/>
            <a:ext cx="192024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04104" y="2103120"/>
            <a:ext cx="1371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4104" y="21031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팝업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03136" y="2514600"/>
            <a:ext cx="192023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022592" y="2103120"/>
            <a:ext cx="1371600" cy="822960"/>
          </a:xfrm>
          <a:prstGeom prst="rect">
            <a:avLst/>
          </a:prstGeom>
          <a:solidFill>
            <a:srgbClr val="FBEDE9"/>
          </a:solidFill>
          <a:ln w="25400">
            <a:solidFill>
              <a:srgbClr val="ED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2592" y="21031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라이브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21624" y="2514600"/>
            <a:ext cx="192024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641080" y="2103120"/>
            <a:ext cx="1371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21031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멤버십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040111" y="2514600"/>
            <a:ext cx="192025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0259568" y="2103120"/>
            <a:ext cx="1371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59568" y="21031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재방문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200400"/>
            <a:ext cx="1109167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왜 라이브에서 끊길까?  </a:t>
            </a:r>
            <a:r>
              <a:rPr sz="1800" b="0">
                <a:solidFill>
                  <a:srgbClr val="131313"/>
                </a:solidFill>
                <a:latin typeface="a고딕14"/>
                <a:ea typeface="a고딕14"/>
              </a:rPr>
              <a:t>체험에서 구매로 넘어갈 때 갑자기 “이 상품 사세요” 판매 말투로 바뀌기 쉽습니다.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어떻게 고칠까?  </a:t>
            </a:r>
            <a:r>
              <a:rPr sz="1800" b="0">
                <a:solidFill>
                  <a:srgbClr val="131313"/>
                </a:solidFill>
                <a:latin typeface="a고딕14"/>
                <a:ea typeface="a고딕14"/>
              </a:rPr>
              <a:t>라이브 대본도 “기분”으로 시작하게 맞춥니다. “그날 바꾼 기분, 집에서도”.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여러분 조는?  </a:t>
            </a:r>
            <a:r>
              <a:rPr sz="1800" b="0">
                <a:solidFill>
                  <a:srgbClr val="131313"/>
                </a:solidFill>
                <a:latin typeface="a고딕14"/>
                <a:ea typeface="a고딕14"/>
              </a:rPr>
              <a:t>일곱 단계를 소리 내어 읽으며, 말투가 달라지는 곳을 하나 찾으세요.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124쪽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반복 메시지 “오늘 기분, 롯데에서 바꿔요” · 끊기는 지점 5단계 라이브커머스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⑦  IMC 고객 여정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일곱 단계에서 같은 메시지가 유지되는지 확인하는 것이 이 실습의 목적입니다.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068268"/>
              </p:ext>
            </p:extLst>
          </p:nvPr>
        </p:nvGraphicFramePr>
        <p:xfrm>
          <a:off x="548640" y="1783080"/>
          <a:ext cx="11091672" cy="3482128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 · 접점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단계에서 전달할 메시지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고객이 하는 행동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다음 단계로 넘기는 장치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SNS 인지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홈페이지 · 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백화점 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팝업스토어 체험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5. 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 멤버십 · 포인트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7. 재방문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12" name="Shape 10"/>
          <p:cNvSpPr/>
          <p:nvPr/>
        </p:nvSpPr>
        <p:spPr>
          <a:xfrm>
            <a:off x="548640" y="5349240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11091672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13232" y="534924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일곱 단계에서 반복되는 하나의 메시지 · 어느 단계에서 끊기는가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3232" y="6007608"/>
            <a:ext cx="10762488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C8D44A73-2C1B-85BA-6EB8-38BE43ED1302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⑦  IMC 고객 여정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막힐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조를 돌면서 이렇게 말해 주세요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72511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이런 조가 있으면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말해 주세요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“넘기는 장치” 칸이 비었다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“고객이 여기서 다음으로 왜 가요? 링크, 쿠폰, 스탬프 중에 뭘 줄까요?”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단계마다 메시지가 다르다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“실습 ④ 슬로건 다시 보세요. 일곱 칸 모두 그 말로 시작해 보세요.”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실습 ⑥에서 안 쓴 채널이 들어갔다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“이 채널은 예산 0%였죠? 쓰는 채널로만 길을 만들어요.”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끊기는 지점을 못 찾겠다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“소리 내어 읽어 보세요. 말투가 바뀌는 곳이 끊기는 곳이에요.”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예시 답안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“정답이 아니라 한 가지 예시예요”로 시작  ·  124쪽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⑦  IMC 고객 여정 설계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일곱 단계에서 같은 메시지가 유지되는지 확인하는 것이 이 실습의 목적입니다.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068268"/>
              </p:ext>
            </p:extLst>
          </p:nvPr>
        </p:nvGraphicFramePr>
        <p:xfrm>
          <a:off x="548640" y="1783080"/>
          <a:ext cx="11091672" cy="3482128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 · 접점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단계에서 전달할 메시지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고객이 하는 행동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다음 단계로 넘기는 장치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SNS 인지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 릴스 · 인플루언서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"오늘 기분, 바꿔 볼까요?"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테스트 참여 · 저장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테스트 결과별 '오늘의 코스' 링크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홈페이지 · 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 페이지 · 앱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"오늘 기분에 맞는 30분 코스"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코스 확인 · 회원가입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가입 즉시 라운지 음료 쿠폰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백화점 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1층 아트리움 안내존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"오늘 기분, 여기서 바꿔요"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스탬프북 받기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첫 스탬프 위치로 팝업 안내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팝업스토어 체험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팝업 존 2곳 (향 · 디저트)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"기분이 바뀌는 향과 맛"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향 테스트 · 페어링 · 클래스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체험 상품을 라이브 알림으로 연결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5. 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백화점 라이브 방송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"그날 바꾼 기분, 집에서도"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체험한 향 · 디저트 구매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구매 시 L.POINT 추가 적립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 멤버십 · 포인트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L.POINT · 앱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"기분 바꾼 날마다 스탬프"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스탬프 적립 · 포인트 확인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스탬프 3개 시 다음 방문 혜택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7. 재방문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푸시 · 매장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"이번 주 기분은 어떠세요?"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다른 코스로 재방문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매주 새 코스 공개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12" name="Shape 10"/>
          <p:cNvSpPr/>
          <p:nvPr/>
        </p:nvSpPr>
        <p:spPr>
          <a:xfrm>
            <a:off x="548640" y="5349240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11091672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13232" y="534924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일곱 단계에서 반복되는 하나의 메시지 · 어느 단계에서 끊기는가</a:t>
            </a:r>
            <a:endParaRPr lang="en-US" sz="12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C8D44A73-2C1B-85BA-6EB8-38BE43ED1302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5687568"/>
            <a:ext cx="10762488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sz="1050" b="1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반복 메시지  </a:t>
            </a:r>
            <a:r>
              <a:rPr lang="ko-KR" sz="105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'오늘 기분, 롯데에서 바꿔요'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sz="1050" b="1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끊기는 지점  </a:t>
            </a:r>
            <a:r>
              <a:rPr lang="ko-KR" sz="105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5단계 라이브커머스 — 체험에서 구매로 넘어갈 때 '상품 판매' 말투로 바뀌기 쉽습니다. 라이브 대본도 '기분'으로 시작하게 맞춥니다.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⑦  IMC 고객 여정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실습 ⑦에서 정한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7451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87451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SNS → 앱 가입 → 방문 → 팝업 → 라이브 → 멤버십 → 재방문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23160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2316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반복 메시지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42316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“오늘 기분, 롯데에서 바꿔요”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71800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7180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넘기는 장치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97180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테스트 링크 · 가입 쿠폰 · 스탬프 · 적립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39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2043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끊기는 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52043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라이브 → 대본도 “기분”으로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51959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다음 실습으로 이렇게 이어집니다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⑧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이 길을 3주 동안 언제, 어디서 운영할지 정한다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마무리 한마디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“어디서 만나도 같은 말. 이게 IMC예요.”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15950" y="1308100"/>
            <a:ext cx="56070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컨셉과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운영계획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81000"/>
          </a:blip>
          <a:stretch>
            <a:fillRect/>
          </a:stretch>
        </p:blipFill>
        <p:spPr>
          <a:xfrm>
            <a:off x="5149850" y="2635250"/>
            <a:ext cx="6350000" cy="383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3606800"/>
            <a:ext cx="4908550" cy="28575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638800" y="3130550"/>
            <a:ext cx="545465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r>
              <a:rPr lang="en-US" sz="20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컨셉</a:t>
            </a:r>
            <a:r>
              <a:rPr lang="en-US" sz="20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개발</a:t>
            </a:r>
            <a:r>
              <a:rPr lang="en-US" sz="20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및 </a:t>
            </a: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운영계획</a:t>
            </a:r>
            <a:r>
              <a:rPr lang="en-US" sz="20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수립</a:t>
            </a:r>
            <a:endParaRPr lang="en-US" sz="20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638800" y="4070350"/>
            <a:ext cx="5588000" cy="2076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85750" lvl="0" indent="-28575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선택한 고객 트렌드와 20~30대 신규 고객의 라이프스타일을 반영한 경험 설계로 감정적 연결과 브랜드 애호도를 형성합니다.</a:t>
            </a:r>
          </a:p>
          <a:p>
            <a:pPr marL="285750" lvl="0" indent="-28575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 신호가 가장 강한 시기와 시간대를 골라 백화점 주요 동선과 팝업스토어 공간을 확보합니다.</a:t>
            </a:r>
          </a:p>
          <a:p>
            <a:pPr marL="285750" lvl="0" indent="-28575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체험부스, 포토존, 라이브공연 등 오프라인 활동과 프리미엄 브랜드 협력으로 시너지를 창출합니다.</a:t>
            </a:r>
          </a:p>
          <a:p>
            <a:pPr marL="285750" lvl="0" indent="-28575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채널별 투자 배분으로 최대 효율을 달성하는 예산 계획을 수립합니다.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2533650"/>
            <a:ext cx="3949700" cy="37846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FCFB6683-BA3C-971B-8A35-A71C1D077FD1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⑧  운영계획 수립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⑧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>
                <a:solidFill>
                  <a:srgbClr val="ED1C24"/>
                </a:solidFill>
                <a:latin typeface="a타이틀고딕3"/>
                <a:ea typeface="a타이틀고딕3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78308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3주 동안 언제, 어디서,</a:t>
            </a:r>
          </a:p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누구와 할까요?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아이디어를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달력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에 올리는 시간입니다.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모든 결정에는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“왜”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가 붙어야 하고, 그 “왜”는 앞에서 본 데이터에서 나옵니다.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왜 필요할까? </a:t>
            </a:r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언제 · 어디서 · 누구와 · 몇 명이 답해지지 않으면 아이디어이지 아직 기획이 아닙니다.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준비물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실습 ① 신호 · 실습 ⑦ 여정 · 43쪽(공간) · 126쪽 · 워크시트 132쪽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⑧  운영계획 수립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⑧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이렇게 진행합니다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920240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9202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192024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기간과 집중 시간을 정한다 (신호가 가장 강한 때)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207568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126 · 44쪽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88336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688336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68833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장소와 공간 배치를 정한다 (아트리움 + 팝업 존 2곳)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2843784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43쪽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56432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5643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45643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협력 브랜드와 필요 인력을 정한다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3611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134쪽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24528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224528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22452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주차별 강약을 정한다: 오프닝 · 피크 · 마무리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5480" y="4379976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132쪽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92624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992624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99262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주차별 예상 방문객을 적는다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51480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134쪽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시간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설명 3분 · 조별 작성 14분 · 공유 3분  =  20분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⑧  운영계획 수립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1 · 결정과 근거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결정마다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“왜”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가 숫자로 붙어 있습니다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059936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5394960"/>
                <a:gridCol w="36850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예시 팀의 결정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결정 근거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기간 · 시간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3주 운영 · 평일 18~21시 집중 · 2주차 금요일 “무드 나이트”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평일 18~21시 방문 41% (+6%p)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장소 · 배치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1층 아트리움 무드 라운지 + 팝업 존 A(향) · B(디저트), 스탬프로 뷰티 · 리빙층 연결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팝업 후 이동률 22% → 층을 잇는 장치 필요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협력 브랜드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홈프래그런스 2곳, 디저트 · 티 2곳, 원데이 클래스 공방 1곳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작은 보상 구매가 가능한 카테고리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필요 인력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라운지 2명 · 팝업 존별 2명 · 클래스 강사 2명 · 안내 1명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저녁 집중 운영으로 인력 효율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134쪽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근거 숫자는 44쪽 교육용 가상 데이터입니다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⑧  운영계획 수립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2 · 3주의 강약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알리고 →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크게 터뜨리고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 → 다시 오게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419856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3566160"/>
                <a:gridCol w="3566160"/>
                <a:gridCol w="17647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주차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오프라인 프로그램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온라인 · SNS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예상 방문객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1주차 오프닝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무드 라운지 오픈 · 향 테스트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기분 테스트 릴스 · 인플루언서 1차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9,000명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2주차 피크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금요일 “무드 나이트” 클래스 · 공연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인플루언서 방문기 · 라이브 1회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15,000명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3주차 마무리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인기 코스 앙코르 · 스탬프 완성 이벤트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참여 후기 리그램 · 라이브 2회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11,000명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합계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방문 3.5만 (중복 방문 포함 여부는 미리 정의) · 가운데가 가장 높은 것이 “강약”  ·  134쪽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⑧  운영계획 수립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자료 찾기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고른 지점의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실제 조건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을 확인합니다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877056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4572000"/>
                <a:gridCol w="386791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확인할 것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눌러서 이동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확인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영업시간 · 층별 안내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2"/>
                          <a:ea typeface="a고딕14"/>
                        </a:rPr>
                        <a:t>롯데백화점 공식 홈페이지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지점 선택 → 영업시간과 층별 브랜드 확인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행사 공간 (아트리움)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3"/>
                          <a:ea typeface="a고딕14"/>
                        </a:rPr>
                        <a:t>네이버 뉴스: 롯데백화점 아트리움 팝업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지점 이름으로 바꿔 검색 → 행사가 열린 자리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비슷한 행사 방문객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4"/>
                          <a:ea typeface="a고딕14"/>
                        </a:rPr>
                        <a:t>헤럴드경제: 백화점 팝업 2,000개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팝업 1~2주 운영 · 지점별 개수 참고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협력 브랜드 후보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5"/>
                          <a:ea typeface="a고딕14"/>
                        </a:rPr>
                        <a:t>네이버: 백화점 향 브랜드 팝업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실제로 입점했거나 팝업을 연 브랜드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적는 법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영업시간 · 입점 브랜드는 (출처) · 예상 방문객과 인력은 우리 조의 (가정)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⑧  운영계획 수립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3주간 무엇을 언제 어디서 할지, 트렌드 신호를 근거로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761744"/>
              </p:ext>
            </p:extLst>
          </p:nvPr>
        </p:nvGraphicFramePr>
        <p:xfrm>
          <a:off x="548640" y="1783080"/>
          <a:ext cx="11091672" cy="2002535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결정 근거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기간 · 주요 일자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장소 · 공간 배치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협력 브랜드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필요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510288"/>
              </p:ext>
            </p:extLst>
          </p:nvPr>
        </p:nvGraphicFramePr>
        <p:xfrm>
          <a:off x="548640" y="4023360"/>
          <a:ext cx="11091672" cy="2177416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1주차 (오프닝)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2주차 (피크)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3주차 (마무리)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오프라인 프로그램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온라인 · SNS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예상 방문객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548640" y="6313316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3주 내내 같은 강도로 운영할 수는 없습니다. 어느 주에 무엇을 집중할지 정하십시오.</a:t>
            </a:r>
            <a:endParaRPr lang="en-US" sz="115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D9DD8E58-20FA-48B6-91DC-03C3E772509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⑧  운영계획 수립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막힐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조를 돌면서 이렇게 말해 주세요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72511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이런 조가 있으면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말해 주세요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근거 칸이 비었다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“왜 그 시간에 해요? 실습 ① 신호 표에서 숫자를 가져와요.”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3주 계획이 모두 똑같다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“어느 주에 제일 크게 터뜨릴까요? 한 주만 골라요.”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방문객 숫자가 너무 크다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“하루에 몇 명이 라운지에 들어갈 수 있을까요? 공간과 인력을 같이 봐요.”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영업시간을 모른다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“공식 홈페이지에서 지점을 골라 확인해요. 1분이면 돼요.”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예시 답안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“정답이 아니라 한 가지 예시예요”로 시작  ·  134쪽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⑧  운영계획 수립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3주간 무엇을 언제 어디서 할지, 트렌드 신호를 근거로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761744"/>
              </p:ext>
            </p:extLst>
          </p:nvPr>
        </p:nvGraphicFramePr>
        <p:xfrm>
          <a:off x="548640" y="1783080"/>
          <a:ext cx="11091672" cy="2002535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결정 근거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기간 · 주요 일자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 운영 · 평일 18~21시 집중 · 2주차 금요일 '무드 나이트'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평일 18~21시 방문 41% (+6%p) — 퇴근 후 기분 전환 수요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장소 · 공간 배치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1층 아트리움 무드 라운지 + 팝업 존 A(향) · B(디저트), 스탬프로 뷰티 · 리빙층 연결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팝업 후 이동률 22% — 층간 이동 장치 필요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협력 브랜드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홈프래그런스 브랜드 2곳, 디저트 · 티 브랜드 2곳, 원데이 클래스 공방 1곳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소액 보상 구매가 가능한 카테고리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필요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라운지 2명 · 팝업 존별 2명 · 클래스 강사 2명 · 안내 1명 (저녁 집중)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운영 시간 집중으로 인력 효율 확보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510288"/>
              </p:ext>
            </p:extLst>
          </p:nvPr>
        </p:nvGraphicFramePr>
        <p:xfrm>
          <a:off x="548640" y="4023360"/>
          <a:ext cx="11091672" cy="2177416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1주차 (오프닝)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2주차 (피크)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3주차 (마무리)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오프라인 프로그램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무드 라운지 오픈 · 향 테스트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금요일 '무드 나이트' 클래스 · 공연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인기 코스 앙코르 · 스탬프 완성 이벤트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온라인 · SNS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테스트 릴스 · 인플루언서 1차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 방문기 · 라이브 1회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참여 후기 리그램 · 라이브 2회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예상 방문객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9,000명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15,000명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11,000명 (합계 3.5만)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548640" y="6313316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3주 내내 같은 강도로 운영할 수는 없습니다. 어느 주에 무엇을 집중할지 정하십시오.</a:t>
            </a:r>
            <a:endParaRPr lang="en-US" sz="115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D9DD8E58-20FA-48B6-91DC-03C3E772509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⑧  운영계획 수립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실습 ⑧에서 정한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7451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언제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87451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3주 · 평일 18~21시 · 2주차 금요일 피크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23160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2316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어디서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42316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아트리움 라운지 + 팝업 존 2곳 + 스탬프 동선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71800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7180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누구와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97180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향 · 디저트 · 공방 협력 브랜드 5곳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39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2043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몇 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52043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예상 방문 3.5만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51959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다음 실습으로 이렇게 이어집니다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⑨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이 운영을 하려면 5억을 어떻게 나눌지 정한다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마무리 한마디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“모든 결정 옆에 ‘왜’. 그 ‘왜’는 앞 실습에 있어요.”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⑨  예산 배분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⑨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>
                <a:solidFill>
                  <a:srgbClr val="ED1C24"/>
                </a:solidFill>
                <a:latin typeface="a타이틀고딕3"/>
                <a:ea typeface="a타이틀고딕3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78308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5억을 어디에</a:t>
            </a:r>
          </a:p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얼마나 쓸까요?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예산은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실습 ⑥ 채널 비중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과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실습 ⑧ 운영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을 돈으로 바꾼 것입니다.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그리고 신규 고객 한 명을 데려오는 데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얼마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가 드는지 계산합니다.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왜 필요할까? </a:t>
            </a:r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같은 5억으로 지난번엔 2,300명, 이번엔 5,000명을 데려와야 합니다. 한 명당 비용을 절반 이하로 낮춰야 합니다.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준비물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실습 ⑥ 채널 비중 · 실습 ⑧ 운영계획 · 43쪽 · 워크시트 140쪽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⑨  예산 배분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⑨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이렇게 진행합니다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920240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9202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192024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일곱 항목에 비중(%)을 나눈다 (합계 100%)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207568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140쪽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88336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688336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68833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비중을 금액으로 바꾼다 (5억 × 1% = 500만 원)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2843784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142쪽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56432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5643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45643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항목마다 “이 금액으로 정한 이유”를 쓴다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3611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142쪽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24528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224528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22452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실습 ⑥ 채널 비중과 맞는지 확인한다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5480" y="4379976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140쪽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92624"/>
            <a:ext cx="11091672" cy="6400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992624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ED1C24"/>
                </a:solidFill>
                <a:latin typeface="a고딕17"/>
                <a:ea typeface="a고딕17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99262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1인당 획득 비용을 계산한다 (5억 ÷ 5,000명)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51480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B6B6B"/>
                </a:solidFill>
                <a:latin typeface="a고딕16"/>
                <a:ea typeface="a고딕16"/>
              </a:rPr>
              <a:t>140 · 142쪽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시간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설명 3분 · 조별 작성 12분 · 계산 점검 5분  =  20분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⑨  예산 배분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1 · 예시 팀의 배분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항목마다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이유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가 붙어 있습니다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11480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1097280"/>
                <a:gridCol w="1737360"/>
                <a:gridCol w="53309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예산 항목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비중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금액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 금액으로 정한 이유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공간 연출 · 팝업 조성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26%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1억 3,000만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짧게 머무는 고객을 붙잡는 핵심 장치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콘텐츠 · 프로그램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14%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7,000만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체험 자체가 캠페인 메시지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디지털 광고 · SNS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20%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1억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오가닉 도달 1만으로는 목표 10만 불가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인플루언서 · 라이브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16%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8,000만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팔로워보다 참여율 높은 직장인 계정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사은품 · 멤버십 혜택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10%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5,000만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신규 가입 동기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운영 인력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9%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4,500만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저녁 피크 중심으로 인력비 절감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예비비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5%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2,500만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2주차 성과를 보고 반응 좋은 채널에 추가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142쪽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합계 100% · 5억 원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⑨  예산 배분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2 · 두 가지 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계산 두 개로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예산이 맞는지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 확인합니다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059936"/>
        </p:xfrm>
        <a:graphic>
          <a:graphicData uri="http://schemas.openxmlformats.org/drawingml/2006/table">
            <a:tbl>
              <a:tblPr firstRow="0" bandRow="0"/>
              <a:tblGrid>
                <a:gridCol w="4389120"/>
                <a:gridCol w="2103120"/>
                <a:gridCol w="45994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계산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결과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뜻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디지털 20% = 인스타 14 + 유튜브 4 + 앱 2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맞음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실습 ⑥ 채널 비중과 예산이 일치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인플루언서 · 라이브 16% = 13 + 3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맞음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실습 ⑥ 채널 비중과 예산이 일치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채널 76% + 혜택 · 인력 · 예비 24%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100%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실습 ⑥의 76%는 소계, 전체는 100%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5억 ÷ 신규 회원 5,000명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1인당 10만 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이번 목표의 1인당 획득 비용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5억 ÷ 지난번 2,300명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약 21.7만 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지난번 → 절반 이하로 낮춰야 한다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142쪽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5억 ÷ 5,000명 = 1인당 10만 원 (직전 캠페인: 같은 예산 ÷ 2,300명 ≈ 21.7만 원)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⑨  예산 배분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총 5억원입니다. 채널 믹스(실습 ⑥)의 비중과 어긋나지 않게 맞추십시오.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530840"/>
              </p:ext>
            </p:extLst>
          </p:nvPr>
        </p:nvGraphicFramePr>
        <p:xfrm>
          <a:off x="548640" y="1783080"/>
          <a:ext cx="11091672" cy="3209544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예산 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금액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세부 내역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금액으로 정한 이유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공간 연출 · 팝업 조성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콘텐츠 · 프로그램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디지털 광고 · SNS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 · 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사은품 · 멤버십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운영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예비비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500,000,000원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349240"/>
            <a:ext cx="11091672" cy="5029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실습 ⑥에서 정한 채널별 예산 비중과 이 표의 디지털·인플루언서 항목이 서로 맞는지 확인하십시오.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5943600"/>
            <a:ext cx="11091672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13232" y="594360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신규 회원 5,000명 목표 기준 · 1인당 획득 비용은 얼마인가</a:t>
            </a:r>
            <a:endParaRPr lang="en-US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1D39B525-E295-9B4D-0402-2C6BE14FADC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⑨  예산 배분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막힐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조를 돌면서 이렇게 말해 주세요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72511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이런 조가 있으면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말해 주세요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예비비가 0%다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“2주차에 반응 좋은 채널이 생기면 어떻게 해요? 조금 남겨 둬요.”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합계가 100%가 아니다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“계산기로 한 번 더 더해 봐요. 딱 100%여야 해요.”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실습 ⑥ 비중과 다르다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“⑥에서 인스타 14%라고 했죠? 여기 디지털 칸에 그대로 들어가요.”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단가를 모르겠다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“정확하지 않아도 돼요. 비중과 이유가 맞으면 됩니다.”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예시 답안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“정답이 아니라 한 가지 예시예요”로 시작  ·  142쪽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⑨  예산 배분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총 5억원입니다. 채널 믹스(실습 ⑥)의 비중과 어긋나지 않게 맞추십시오.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530840"/>
              </p:ext>
            </p:extLst>
          </p:nvPr>
        </p:nvGraphicFramePr>
        <p:xfrm>
          <a:off x="548640" y="1783080"/>
          <a:ext cx="11091672" cy="3209544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예산 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금액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세부 내역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금액으로 정한 이유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공간 연출 · 팝업 조성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26%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130,000,000원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무드 라운지 · 팝업 존 2곳 · 스탬프 동선 VMD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짧게 머무는 고객을 붙잡는 핵심 장치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콘텐츠 · 프로그램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14%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70,000,000원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15분 클래스 강사비 · 향 · 디저트 페어링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체험 자체가 캠페인 메시지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디지털 광고 · SNS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20%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100,000,000원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릴스 광고 · 숏폼 제작 · 앱 푸시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오가닉 도달 1만으로는 목표 10만 불가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 · 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16%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80,000,000원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마이크로 인플루언서 20명 · 라이브 2회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팔로워보다 참여율 높은 직장인 계정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사은품 · 멤버십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50,000,000원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가입 음료 쿠폰 · 스탬프 완성 기프트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가입 동기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운영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9%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45,000,000원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저녁 피크 중심 3주 운영 인력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운영 시간 집중으로 인력비 절감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예비비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25,000,000원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반응 좋은 채널에 추가 집행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2주차 성과 확인 후 재배분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500,000,000원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349240"/>
            <a:ext cx="11091672" cy="5029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9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  ·  디지털 20% (인스타 14 + 유튜브 4 + 앱 2)와 인플루언서 · 라이브 16% (13 + 3)가 실습 ⑥의 채널 비중과 일치합니다.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5943600"/>
            <a:ext cx="11091672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13232" y="594360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신규 회원 5,000명 목표 기준 · 1인당 획득 비용은 얼마인가</a:t>
            </a:r>
            <a:endParaRPr lang="en-US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1D39B525-E295-9B4D-0402-2C6BE14FADC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6254496"/>
            <a:ext cx="1076248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5억 ÷ 5,000명 = 1인당 10만원   (직전 캠페인: 같은 예산 ÷ 2,300명 ≈ 21.7만원 → 절반 이하로 낮춰야 함)</a:t>
            </a:r>
            <a:endParaRPr lang="ko-KR" sz="1050" b="0" dirty="0">
              <a:solidFill>
                <a:srgbClr val="1F4E9A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⑨  예산 배분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실습 ⑨에서 정한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7451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가장 큰 항목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87451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공간 연출 26% (1억 3,000만)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23160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2316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채널 연결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42316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디지털 20% · 인플루언서·라이브 16% = 실습 ⑥과 일치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71800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7180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1인당 비용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97180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10만 원 (지난번 약 21.7만 원)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39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2043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예비비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52043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5% · 2주차 성과 보고 추가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51959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다음 실습으로 이렇게 이어집니다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⑩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이 돈을 써서 성공했는지 무엇으로 확인할지 정한다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마무리 한마디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“반값으로 두 배. 그래서 새로운 방식이 필요해요.”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695450" y="3841750"/>
            <a:ext cx="4946650" cy="63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15950" y="3124200"/>
            <a:ext cx="3168650" cy="971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통합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홍보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전략과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명확한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KPI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설정은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캠페인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실행과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평가의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기준입니다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.</a:t>
            </a:r>
          </a:p>
          <a:p>
            <a:pPr lvl="0" algn="l">
              <a:lnSpc>
                <a:spcPct val="141100"/>
              </a:lnSpc>
            </a:pP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모든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채널이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일관된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메시지를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전달하며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측정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가능한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성과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지표로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캠페인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효과를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평가합니다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950" y="1797050"/>
            <a:ext cx="340995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홍보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전략과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KPI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설정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2387600"/>
            <a:ext cx="381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3879850"/>
            <a:ext cx="381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5359400"/>
            <a:ext cx="38100" cy="38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4953000" y="1930400"/>
            <a:ext cx="546100" cy="844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4733" spc="-40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53000" y="3416300"/>
            <a:ext cx="546100" cy="844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4733" spc="-40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53000" y="4902200"/>
            <a:ext cx="546100" cy="844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4733" spc="-40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99150" y="2292350"/>
            <a:ext cx="5302250" cy="412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SNS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릴스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인플루언서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협력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홈페이지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라이브커머스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멤버십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연계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등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다양한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20~30대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타깃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고객에게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도달합니다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78500" y="1974850"/>
            <a:ext cx="54356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채널별</a:t>
            </a:r>
            <a:r>
              <a:rPr lang="en-US" sz="1600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홍보</a:t>
            </a:r>
            <a:r>
              <a:rPr lang="en-US" sz="1600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전략</a:t>
            </a:r>
            <a:endParaRPr lang="en-US" sz="1600" spc="-50" dirty="0">
              <a:solidFill>
                <a:srgbClr val="2B323B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05500" y="3784600"/>
            <a:ext cx="5289550" cy="412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방문객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수,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매출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SNS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참여도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회원가입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수,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만족도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등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측정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가능한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지표를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설정하고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목표를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명확히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합니다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78500" y="3467100"/>
            <a:ext cx="54356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KPI </a:t>
            </a: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설정</a:t>
            </a:r>
            <a:r>
              <a:rPr lang="en-US" sz="1600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및 </a:t>
            </a: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측정</a:t>
            </a:r>
            <a:endParaRPr lang="en-US" sz="1600" spc="-50" dirty="0">
              <a:solidFill>
                <a:srgbClr val="2B323B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905500" y="5264150"/>
            <a:ext cx="5289550" cy="412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40%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이상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매출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25%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증가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SNS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도달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10만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이상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회원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5,000명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이상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만족도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85%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이상을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목표로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합니다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78500" y="4946650"/>
            <a:ext cx="54356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성과</a:t>
            </a:r>
            <a:r>
              <a:rPr lang="en-US" sz="1600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평가</a:t>
            </a:r>
            <a:r>
              <a:rPr lang="en-US" sz="1600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기준</a:t>
            </a:r>
            <a:endParaRPr lang="en-US" sz="1600" spc="-50" dirty="0">
              <a:solidFill>
                <a:srgbClr val="2B323B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E3CCD392-7E7D-7B29-05B2-60D31DC51151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성과 측정 프레임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브랜드 캠페인을 매출로만 재면 거의 항상 실패로 나옵니다. 단계별로 봐야 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11064240" cy="73152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1856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인지 (Awareness)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167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8E0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얼마나 많은 사람이 알게 되었나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0" y="1783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도달 수 · 노출 수 · 브랜드 검색량 · SNS 언급량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" y="2606040"/>
            <a:ext cx="10561320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120140" y="2679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관심 (Interest)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014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얼마나 반응했나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91940" y="2606040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참여율 · 저장 · 공유 · 영상 완주율 · 홈페이지 유입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69848" y="3429000"/>
            <a:ext cx="10058400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371600" y="3502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행동 (Action)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813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실제로 움직였나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43400" y="34290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방문객 수 · 신규 회원 가입 · 이벤트 참여 · 체험 인원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21308" y="4251960"/>
            <a:ext cx="9555480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623060" y="4325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전환 (Conversion)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23060" y="4636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샀나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94860" y="425196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매출 · 객단가 · 구매 전환율 · 신규 고객 구매 비중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72768" y="5074920"/>
            <a:ext cx="9052560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874520" y="5148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관계 (Loyalty)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74520" y="5458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다시 오나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50749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재방문율 · 멤버십 유지율 · 재구매 주기 · 추천 의향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6868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캠페인 목표가 신규 고객 확보라면 대표 지표는 '인지'와 '행동'입니다. 전환은 부지표로 두고, 그 사실을 기획 단계에서 명시하십시오.</a:t>
            </a:r>
            <a:endParaRPr lang="en-US" sz="12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8BA9688F-D8A0-72C3-D856-050065A79288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⑩  KPI 설정과 측정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⑩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>
                <a:solidFill>
                  <a:srgbClr val="ED1C24"/>
                </a:solidFill>
                <a:latin typeface="a타이틀고딕3"/>
                <a:ea typeface="a타이틀고딕3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78308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성공했는지</a:t>
            </a:r>
          </a:p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무엇으로 알 수 있을까요?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KPI는 “성공했나?”를 판단하는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숫자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입니다.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캠페인을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매출로만 재면 거의 항상 실패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로 나옵니다. 단계별로 봐야 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왜 필요할까? </a:t>
            </a:r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끝나고 “잘했어요?”라는 질문에 숫자로 답하려면, 시작 전에 무엇을 어떻게 잴지 정해 둬야 합니다.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준비물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실습 ② 목표 · 43쪽 · 144~145쪽 · 워크시트 151쪽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⑩  KPI 설정과 측정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1 · 다섯 단계로 재기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신규 고객이 목표면 대표 지표는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인지와 행동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입니다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2926080"/>
                <a:gridCol w="65196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단계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재는 숫자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인지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얼마나 알게 됐나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도달 수 · 노출 수 · 브랜드 검색량 · SNS 언급량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관심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얼마나 반응했나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참여율 · 저장 · 공유 · 영상 완주율 · 홈페이지 유입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행동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실제로 움직였나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방문객 수 · 신규 가입 · 이벤트 참여 · 체험 인원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전환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샀나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매출 · 객단가 · 구매 전환율 · 신규 고객 구매 비중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관계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다시 오나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재방문율 · 멤버십 유지율 · 재구매 주기 · 추천 의향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145쪽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전환(매출)은 부지표로 두고, 그 사실을 기획 단계에서 미리 적어 둡니다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⑩  KPI 설정과 측정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2 · 예시 팀의 KPI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지표 · 현재값 · 목표값 ·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재는 방법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까지 세트로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694176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822960"/>
                <a:gridCol w="3108960"/>
                <a:gridCol w="2377440"/>
                <a:gridCol w="36850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단계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주/부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대표 KPI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현재 → 목표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측정 방법 · 시점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인지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주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SNS 도달 · 해시태그 언급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6.5만 → 10만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인스타 인사이트 · 광고 리포트, 주 1회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관심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기분 테스트 참여 · 릴스 저장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— → 2만 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테스트 페이지 로그, 매일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행동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주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신규 회원 가입 · 코스 참여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2,300 → 5,000명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가입 경로 코드 · 스탬프북, 매일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전환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신규 고객 구매 비중 · 연계 매출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신규 40% · 매출 +25%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POS · L.POINT, 종료 직후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관계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30일 내 재방문 · 만족도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30% · 85%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멤버십 데이터 · 설문, 종료 30일 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153쪽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잴 방법이 없는 KPI는 KPI가 아닙니다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⑩  KPI 설정과 측정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3 · 검증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실무에서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정말 자주 받는 질문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 두 개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14553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72511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예시 팀의 답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3716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지난번의 두 배가 넘는 목표를 어떻게 달성할 건가요?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오가닉 도달 1만의 한계를 광고 · 인플루언서로 메우고, “안 사도 와도 되는” 평일 저녁 코스와 가입 쿠폰을 한 동선으로 이어 가입까지 연결합니다.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13716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목표에 못 미치면 무엇으로 성과를 설명할 건가요?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인지 · 행동 지표(도달, 코스 참여, 가입 경로)와 1인당 획득 비용 개선 폭(21.7만 원 → 목표 10만 원)으로 설명합니다.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153쪽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못 채웠을 때 설명할 숫자를 시작 전에 준비해 두는 것이 기획입니다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⑩  KPI 설정과 측정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자료 찾기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숫자를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어디서 보는지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 알아 둡니다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877056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5120640"/>
                <a:gridCol w="35935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지표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어디서 보나 (눌러서 이동)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알아 둘 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SNS 도달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2"/>
                          <a:ea typeface="a고딕14"/>
                        </a:rPr>
                        <a:t>Meta 도움말: Instagram 게시물 도달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도달 = 본 사람 수, 노출 = 보인 횟수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검색량 (인지)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u="sng">
                          <a:solidFill>
                            <a:srgbClr val="1F4E9A"/>
                          </a:solidFill>
                          <a:latin typeface="a고딕14"/>
                          <a:hlinkClick r:id="rId3"/>
                          <a:ea typeface="a고딕14"/>
                        </a:rPr>
                        <a:t>네이버 데이터랩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캠페인명 검색량이 행사 전후로 늘었는지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신규 가입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백화점 내부 회원 데이터 (가입 경로 코드)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공개 자료 없음 → 측정 방법만 적기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매출 · 신규 구매 비중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백화점 내부 POS · L.POINT 데이터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비교 기준(작년 같은 기간 등)을 미리 정하기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적는 법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공개 자료로 볼 수 있는 것은 (출처) · 내부 데이터는 “어떻게 셀지”만 적기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⑩  KPI 설정과 측정 계획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퍼널 단계별로 대표 지표를 고르고 측정 방법까지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561230"/>
              </p:ext>
            </p:extLst>
          </p:nvPr>
        </p:nvGraphicFramePr>
        <p:xfrm>
          <a:off x="548640" y="1783080"/>
          <a:ext cx="11091672" cy="2514600"/>
        </p:xfrm>
        <a:graphic>
          <a:graphicData uri="http://schemas.openxmlformats.org/drawingml/2006/table">
            <a:tbl>
              <a:tblPr/>
              <a:tblGrid>
                <a:gridCol w="21305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퍼널 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/ 부 지표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대표 KPI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현재값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목표값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측정 방법 · 시점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 (Awareness)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관심 (Interest)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 (Action)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전환 (Conversion)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관계 (Loyalty)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1982"/>
              </p:ext>
            </p:extLst>
          </p:nvPr>
        </p:nvGraphicFramePr>
        <p:xfrm>
          <a:off x="548640" y="4434840"/>
          <a:ext cx="11091672" cy="1581912"/>
        </p:xfrm>
        <a:graphic>
          <a:graphicData uri="http://schemas.openxmlformats.org/drawingml/2006/table">
            <a:tbl>
              <a:tblPr/>
              <a:tblGrid>
                <a:gridCol w="46908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검증 질문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답변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대비 두 배 이상인 목표를 어떻게 달성할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목표에 미달했을 때 무엇을 근거로 성과를 설명할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캠페인은 브랜드 목표를 추구합니다. 매출만으로 평가하면 거의 항상 실패로 나온다는 점을 기억하십시오.</a:t>
            </a:r>
            <a:endParaRPr lang="en-US" sz="115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D27FA81A-FDBD-0646-6A81-8E574CBD8BC0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⑩  KPI 설정과 측정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막힐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조를 돌면서 이렇게 말해 주세요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72511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이런 조가 있으면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말해 주세요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측정 방법 칸이 비었다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“누가, 언제, 어떤 기록을 보면 알 수 있어요? 그걸 적으면 돼요.”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매출을 주 지표로 뒀다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“오늘 목표는 새 고객이에요. 매출은 부지표로 두세요.” (145쪽)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현재값을 모른다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“43쪽에 지난번 숫자가 있어요. 없는 건 ‘미제공’이라고 적어요.”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검증 질문을 못 쓰겠다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“실습 ⑥ 도달 계산과 실습 ⑨ 1인당 비용을 가져오면 답이 돼요.”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예시 답안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“정답이 아니라 한 가지 예시예요”로 시작  ·  153쪽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⑩  KPI 설정과 측정 계획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퍼널 단계별로 대표 지표를 고르고 측정 방법까지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561230"/>
              </p:ext>
            </p:extLst>
          </p:nvPr>
        </p:nvGraphicFramePr>
        <p:xfrm>
          <a:off x="548640" y="1783080"/>
          <a:ext cx="11091672" cy="2514600"/>
        </p:xfrm>
        <a:graphic>
          <a:graphicData uri="http://schemas.openxmlformats.org/drawingml/2006/table">
            <a:tbl>
              <a:tblPr/>
              <a:tblGrid>
                <a:gridCol w="21305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퍼널 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/ 부 지표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대표 KPI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현재값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목표값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측정 방법 · 시점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 (Awareness)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주 □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SNS 도달 · 해시태그 언급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6.5만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 인사이트 · 광고 리포트, 주 1회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관심 (Interest)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■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테스트 참여 · 릴스 저장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테스트 2만 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테스트 페이지 로그, 매일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 (Action)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주 □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회원 가입 · 코스 참여 인원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2,300명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5,000명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가입 경로 코드 · 스탬프북 회수, 매일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전환 (Conversion)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■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고객 구매 비중 · 코스 연계 매출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40% · 매출 +25%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POS · L.POINT 데이터, 종료 직후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관계 (Loyalty)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■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30일 내 재방문율 · 만족도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30% · 85%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멤버십 데이터 · 설문, 종료 30일 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1982"/>
              </p:ext>
            </p:extLst>
          </p:nvPr>
        </p:nvGraphicFramePr>
        <p:xfrm>
          <a:off x="548640" y="4434840"/>
          <a:ext cx="11091672" cy="1581912"/>
        </p:xfrm>
        <a:graphic>
          <a:graphicData uri="http://schemas.openxmlformats.org/drawingml/2006/table">
            <a:tbl>
              <a:tblPr/>
              <a:tblGrid>
                <a:gridCol w="46908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검증 질문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답변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대비 두 배 이상인 목표를 어떻게 달성할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오가닉 도달 1만의 한계를 광고 · 인플루언서로 메우고, '안 사도 와도 되는' 평일 저녁 코스와 가입 쿠폰을 한 동선으로 이어 가입까지 연결합니다.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목표에 미달했을 때 무엇을 근거로 성과를 설명할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 · 행동 지표(도달, 코스 참여, 가입 경로)와 1인당 획득 비용 개선 폭(21.7만원 → 목표 10만원)으로 설명합니다.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캠페인은 브랜드 목표를 추구합니다. 매출만으로 평가하면 거의 항상 실패로 나온다는 점을 기억하십시오.</a:t>
            </a:r>
            <a:endParaRPr lang="en-US" sz="115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D27FA81A-FDBD-0646-6A81-8E574CBD8BC0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⑩  KPI 설정과 측정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실습 ⑩에서 정한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7451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주 지표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87451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인지(도달 10만) · 행동(신규 회원 5,000명)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23160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2316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부 지표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42316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관심 · 전환(신규 40%, 매출 +25%) · 관계(재방문 30%, 만족 85%)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71800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7180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측정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97180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인스타 인사이트 · 가입 경로 코드 · POS · 설문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39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2043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설명 근거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52043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1인당 비용 21.7만 → 10만 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51959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다음 실습으로 이렇게 이어집니다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⑪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①~⑩을 기획안 한 장에 옮겨 담는다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마무리 한마디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“잴 방법이 없는 KPI는 KPI가 아니에요.”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04850" y="323850"/>
            <a:ext cx="1981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8" name="TextBox 8"/>
          <p:cNvSpPr txBox="1"/>
          <p:nvPr/>
        </p:nvSpPr>
        <p:spPr>
          <a:xfrm>
            <a:off x="615950" y="1308100"/>
            <a:ext cx="56324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프로젝트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발표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및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평가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기준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98550" y="3365500"/>
            <a:ext cx="10204450" cy="190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98550" y="4387850"/>
            <a:ext cx="10204450" cy="190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98550" y="5410200"/>
            <a:ext cx="10204450" cy="190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2622550"/>
            <a:ext cx="533400" cy="5016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816100" y="2889250"/>
            <a:ext cx="91567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트렌드, 타깃, 메시지, 캠페인명·슬로건, 컨셉, 운영, 채널, KPI를 체계적으로 설명합니다.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6100" y="2540000"/>
            <a:ext cx="91694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발표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구성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" y="3644900"/>
            <a:ext cx="533400" cy="50165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816100" y="3911600"/>
            <a:ext cx="91567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트렌드를 우리 고객 데이터로 확인하고, 20~30대 신규 고객의 상황으로 해석했는지 평가합니다.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16100" y="3562350"/>
            <a:ext cx="91694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트렌드 · 타깃 분석의 정확성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4667250"/>
            <a:ext cx="533400" cy="50165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816100" y="4933950"/>
            <a:ext cx="91567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경쟁사와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차별화된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신선한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제안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여부를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평가합니다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16100" y="4584700"/>
            <a:ext cx="91694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컨셉의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창의성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5689600"/>
            <a:ext cx="533400" cy="50165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816100" y="5956300"/>
            <a:ext cx="91567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메시지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일관성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예산·일정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내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실행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가능성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KPI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타당성을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종합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평가합니다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16100" y="5607050"/>
            <a:ext cx="91694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통합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마케팅의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일관성과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실행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가능성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8F9E8AB3-2B37-19AD-95FC-0425F938C8C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⑪  캠페인 기획안 1페이지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⑪ · 20분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>
                <a:solidFill>
                  <a:srgbClr val="ED1C24"/>
                </a:solidFill>
                <a:latin typeface="a타이틀고딕3"/>
                <a:ea typeface="a타이틀고딕3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78308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지금까지 쓴 걸</a:t>
            </a:r>
          </a:p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한 장에 모으면?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좋은 소식입니다.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새로 쓸 것이 없습니다.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여덟 칸 옆에 적힌 워크시트를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그대로 옮겨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 담습니다. 캔바나 AI PPT로 꾸며도 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왜 필요할까? </a:t>
            </a:r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옮겨 담고 위에서 아래로 읽으면, 슬로건과 채널이 같은 말을 하는지(IMC) 한눈에 보입니다.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준비물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실습 ①~⑩ 워크시트 전부 · 155쪽 · 워크시트 159쪽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⑪  캠페인 기획안 1페이지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1 · 여덟 칸 = 앞의 워크시트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칸마다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가져올 곳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이 정해져 있습니다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0624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6702552"/>
                <a:gridCol w="146304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구성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예시 팀 내용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가져올 곳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1. 트렌드와 방향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필코노미 — 기분 전환 38% · 평일 저녁 41% → 경험형 (RE:JOICE)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실습 ①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2. 목표 · 타깃 · 인사이트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신규 회원 5,000명 · 27~34세 직장인 · “퇴근 후 들를 곳이 없다”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실습 ② · ③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3. 캠페인명과 슬로건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MOOD SHIFT — “오늘 기분, 롯데에서 바꿔요”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실습 ④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4. 브랜드 스토리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들를 곳 없는 퇴근길 → 30분 코스 → 안 사도 기분이 바뀜 → 회복의 공간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실습 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5. 채널과 IMC 여정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릴스 · 인플루언서 → 앱 쿠폰 → 라운지 · 팝업 → 라이브 → 스탬프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실습 ⑥ · ⑦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6. 운영계획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3주 · 평일 18~21시 · 2주차 금요일 무드 나이트 · 방문 3.5만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실습 ⑧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7. 예산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5억 — 공간 26% · 디지털 20% · 인플루언서·라이브 16% · 예비 5% 등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실습 ⑨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8. KPI와 기대효과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도달 10만 · 신규 회원 5,000명 (1인당 10만 원) · 만족 85%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D1C24"/>
                          </a:solidFill>
                          <a:latin typeface="a고딕16"/>
                          <a:ea typeface="a고딕16"/>
                        </a:rPr>
                        <a:t>실습 ⑩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161쪽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여덟 칸이 하나의 메시지로 이어지는지 확인하십시오. 슬로건과 채널 콘텐츠가 따로 놀면 IMC가 성립하지 않습니다.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⑪  캠페인 기획안 1페이지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2 · 옮긴 뒤 점검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옮긴 다음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이 여섯 가지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만 확인합니다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81655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확인할 연결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자료와 고객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우리가 정한 고객 상황의 근거가 어디에 있나요?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고객과 경험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그 불편을 이 프로그램이 어떻게 해결하나요?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채널과 행동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고객은 무엇을 보고, 무엇을 눌러, 왜 가입하나요?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운영과 예산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프로그램 · 인력 · 제작물이 예산 내역과 맞나요?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목표와 측정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누가 언제 어떤 기록을 보면 성공을 알 수 있나요?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슬로건과 채널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일곱 단계 모두 같은 말을 하나요?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진행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옮겨 담기 12분 → 위에서 아래로 소리 내어 읽기 → 안 맞는 칸 한 곳만 고치기 8분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⑪  캠페인 기획안 1페이지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앞선 워크시트를 옮겨 담으십시오. 새로 쓰는 것이 아닙니다.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140179"/>
              </p:ext>
            </p:extLst>
          </p:nvPr>
        </p:nvGraphicFramePr>
        <p:xfrm>
          <a:off x="548640" y="1783080"/>
          <a:ext cx="11091672" cy="3878172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가져올 워크시트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트렌드 분석과 캠페인 방향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CASE ① ② · WS 01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목표 · 타깃 ·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02 · 03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캠페인명과 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04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브랜드 스토리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05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5. 채널 전략과 IMC 여정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06 · 07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 운영계획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08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7. 예산 계획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09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8. KPI와 기대효과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10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760720"/>
            <a:ext cx="11091672" cy="621792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76072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여덟 칸이 하나의 메시지로 이어지는지 확인하십시오. 슬로건과 채널 콘텐츠가 따로 놀면 IMC가 성립하지 않습니다.</a:t>
            </a:r>
            <a:endParaRPr lang="en-US" sz="125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BC0920AF-BABB-86DC-1810-50F062616E8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⑪  캠페인 기획안 1페이지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막힐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조를 돌면서 이렇게 말해 주세요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424281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72511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이런 조가 있으면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이렇게 말해 주세요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처음부터 새로 쓰고 있다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“새로 쓰지 마세요. 칸 옆에 적힌 실습 워크시트를 그대로 옮겨요.”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칸마다 다른 이야기를 한다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“슬로건을 맨 위에 적고, 각 칸이 그 말과 이어지는지 봐요.”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꾸미기에만 시간을 쓴다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“내용 먼저, 디자인은 마지막 5분이에요.”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숫자가 칸마다 다르다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“⑥ 비중, ⑨ 예산, ⑩ 목표 숫자를 나란히 놓고 맞춰 봐요.”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예시 답안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“정답이 아니라 한 가지 예시예요”로 시작  ·  161쪽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⑪  캠페인 기획안 1페이지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앞선 워크시트를 옮겨 담으십시오. 새로 쓰는 것이 아닙니다.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140179"/>
              </p:ext>
            </p:extLst>
          </p:nvPr>
        </p:nvGraphicFramePr>
        <p:xfrm>
          <a:off x="548640" y="1783080"/>
          <a:ext cx="11091672" cy="3878172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가져올 워크시트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트렌드 분석과 캠페인 방향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— 방문 목적 1위 '기분 전환' 38% · 평일 저녁 방문 41% → 경험형 (RE:JOICE 벤치마킹)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CASE ① ② · WS 01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목표 · 타깃 ·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목표 신규 회원 5,000명 · 타깃 27~34세 직장인 · "퇴근 후 들를 곳이 없다"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02 · 03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캠페인명과 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MOOD SHIFT — "오늘 기분, 롯데에서 바꿔요"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04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브랜드 스토리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들를 곳 없는 퇴근길 → 30분 코스 → 안 사도 기분이 바뀜 → 하루를 회복시키는 공간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05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5. 채널 전략과 IMC 여정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릴스 · 인플루언서 → 앱 가입 쿠폰 → 무드 라운지 · 팝업 → 라이브 → 스탬프 재방문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06 · 07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 운영계획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 · 평일 18~21시 집중 · 2주차 금요일 '무드 나이트' 피크 · 방문 3.5만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08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7. 예산 계획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5억 — 공간 26 · 콘텐츠 14 · 디지털 20 · 인플루언서·라이브 16 · 혜택 10 · 인력 9 · 예비 5 (%)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09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8. KPI와 기대효과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도달 10만 · 신규 회원 5,000명 (1인당 10만원) · 신규 고객 40% · 매출 +25% · 만족 85%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10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760720"/>
            <a:ext cx="11091672" cy="621792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76072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여덟 칸이 하나의 메시지로 이어지는지 확인하십시오. 슬로건과 채널 콘텐츠가 따로 놀면 IMC가 성립하지 않습니다.</a:t>
            </a:r>
            <a:endParaRPr lang="en-US" sz="125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BC0920AF-BABB-86DC-1810-50F062616E8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⑪  캠페인 기획안 1페이지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실습 ⑪에서 정한 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74519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완성한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874519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캠페인 기획안 한 장 (여덟 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23160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2316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확인한 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42316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여덟 칸이 “기분” 하나로 이어지는지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71800"/>
            <a:ext cx="11091672" cy="47548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7180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고친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97180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안 맞는 칸 한 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31313"/>
                </a:solidFill>
                <a:latin typeface="a고딕16"/>
                <a:ea typeface="a고딕16"/>
              </a:rPr>
              <a:t>다음 실습으로 이렇게 이어집니다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1148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D1C24"/>
                </a:solidFill>
                <a:latin typeface="a고딕16"/>
                <a:ea typeface="a고딕16"/>
              </a:rPr>
              <a:t>실습 ⑫  </a:t>
            </a:r>
            <a:r>
              <a:rPr sz="1700" b="0">
                <a:solidFill>
                  <a:srgbClr val="131313"/>
                </a:solidFill>
                <a:latin typeface="a고딕14"/>
                <a:ea typeface="a고딕14"/>
              </a:rPr>
              <a:t>이 한 장을 들고 8분 동안 발표한다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마무리 한마디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“한 장 기획안이 곧 발표 대본이에요.”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⑫  발표와 상호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실습 ⑫ · 50분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>
                <a:solidFill>
                  <a:srgbClr val="ED1C24"/>
                </a:solidFill>
                <a:latin typeface="a타이틀고딕3"/>
                <a:ea typeface="a타이틀고딕3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78308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우리 기획을 8분 안에</a:t>
            </a:r>
          </a:p>
          <a:p>
            <a:pPr algn="l"/>
            <a:r>
              <a:rPr sz="3200" b="1">
                <a:solidFill>
                  <a:srgbClr val="131313"/>
                </a:solidFill>
                <a:latin typeface="a타이틀고딕3"/>
                <a:ea typeface="a타이틀고딕3"/>
              </a:rPr>
              <a:t>어떻게 설명할까요?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발표는 새로 준비하는 게 아니라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기획안 한 장을 순서대로 읽는 것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입니다.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다른 조는 점수와 함께 </a:t>
            </a:r>
            <a:r>
              <a:rPr sz="2000" b="1">
                <a:solidFill>
                  <a:srgbClr val="ED1C24"/>
                </a:solidFill>
                <a:latin typeface="a고딕16"/>
                <a:ea typeface="a고딕16"/>
              </a:rPr>
              <a:t>칭찬 하나, 질문 하나</a:t>
            </a:r>
            <a:r>
              <a:rPr sz="2000" b="0">
                <a:solidFill>
                  <a:srgbClr val="131313"/>
                </a:solidFill>
                <a:latin typeface="a고딕14"/>
                <a:ea typeface="a고딕14"/>
              </a:rPr>
              <a:t>를 남깁니다.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1091672" cy="9601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98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4조 기준 </a:t>
            </a:r>
            <a:r>
              <a:rPr sz="1800" b="0">
                <a:solidFill>
                  <a:srgbClr val="6B6B6B"/>
                </a:solidFill>
                <a:latin typeface="a고딕14"/>
                <a:ea typeface="a고딕14"/>
              </a:rPr>
              <a:t>4조 × (발표 8분 + 질의 4분) = 48분 → 마무리 2분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준비물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실습 ⑪ 기획안 한 장 · 155쪽(평가 기준) · 166쪽(평가표)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⑫  발표와 상호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1 · 8분 = 2분 ×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네 부분을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2분씩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 말합니다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877056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4754880"/>
                <a:gridCol w="1737360"/>
                <a:gridCol w="158191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발표 순서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담을 내용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기획안 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시간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1. 트렌드와 인사이트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어떤 트렌드에서 누구의 어떤 상황을 보았는가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1 · 2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2. 캠페인명과 스토리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무엇을 말하는 캠페인인가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3 · 4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3. 채널 전략과 운영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어디서 어떻게 만날 것인가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5 · 6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4. 예산과 KPI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얼마를 써서 무엇을 얻는가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6B6B6B"/>
                          </a:solidFill>
                          <a:latin typeface="a고딕14"/>
                          <a:ea typeface="a고딕14"/>
                        </a:rPr>
                        <a:t>7 · 8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2분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예시 팀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필코노미 → 퇴근길 직장인의 “들를 곳 없음” → MOOD SHIFT → 릴스 · 인플루언서 → 5억으로 신규 5,000명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실습 ⑫  발표와 상호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걸음 2 · 서로 평가하기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점수보다 </a:t>
            </a:r>
            <a:r>
              <a:rPr sz="1800" b="1">
                <a:solidFill>
                  <a:srgbClr val="ED1C24"/>
                </a:solidFill>
                <a:latin typeface="a고딕16"/>
                <a:ea typeface="a고딕16"/>
              </a:rPr>
              <a:t>한 줄 코멘트</a:t>
            </a:r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가 더 도움이 됩니다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874519"/>
          <a:ext cx="11091672" cy="3877056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3383280"/>
                <a:gridCol w="1097280"/>
                <a:gridCol w="36850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평가 항목 (각 25점)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무엇을 보나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예시 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한 줄 코멘트 예시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트렌드 · 타깃 분석의 정확성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트렌드를 우리 고객 데이터로 확인했나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22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데이터 두 개로 트렌드를 확인해 설득력 있음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컨셉의 창의성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경쟁사와 다른 새로운 경험인가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20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“안 사도 되는 백화점”이라는 역발상이 차별적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통합 마케팅의 일관성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채널마다 같은 메시지인가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23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일곱 단계 모두 “기분” 메시지 유지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실행 가능성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예산 · 일정 · KPI가 맞나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31313"/>
                          </a:solidFill>
                          <a:latin typeface="a고딕16"/>
                          <a:ea typeface="a고딕16"/>
                        </a:rPr>
                        <a:t>19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31313"/>
                          </a:solidFill>
                          <a:latin typeface="a고딕14"/>
                          <a:ea typeface="a고딕14"/>
                        </a:rPr>
                        <a:t>저녁 피크 인력 운영을 더 구체화할 필요</a:t>
                      </a:r>
                    </a:p>
                  </a:txBody>
                  <a:tcPr anchor="ctr" marL="109728" marR="109728" marT="27432" marB="27432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합계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예시 팀 84점 · 점수는 평가 예시이며 계산으로 나오는 정답이 아닙니다  ·  167쪽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⑫  발표와 상호 평가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팀당 8분 발표, 4분 질의응답입니다.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60분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103120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발표 순서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담을 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배분 시간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트렌드와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어떤 트렌드에서 누구의 어떤 상황을 보았는가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캠페인명과 스토리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무엇을 말하는 캠페인인가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채널 전략과 운영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어디서 어떻게 만날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예산과 KPI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얼마를 써서 무엇을 얻는가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2414016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평가 항목 (각 25점)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한 줄 코멘트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트렌드 · 타깃 분석의 정확성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컨셉의 창의성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통합 마케팅의 일관성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실행 가능성 (예산·일정·KPI)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6D7CB400-813E-FFDC-21F7-A8C0515B8B9E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⑫  발표와 상호 평가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팀당 8분 발표, 4분 질의응답입니다.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103120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발표 순서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담을 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배분 시간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트렌드와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신호 두 개로, 퇴근 후 20~30대 직장인의 '들를 곳 없음'을 보았다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캠페인명과 스토리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MOOD SHIFT — 사지 않아도 기분이 바뀌는 30분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채널 전략과 운영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릴스 · 인플루언서 → 앱 가입 → 무드 라운지 → 라이브 → 스탬프 재방문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예산과 KPI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5억으로 신규 회원 5,000명, 1인당 획득 비용 21.7만원 → 10만원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2414016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평가 항목 (각 25점)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예시 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한 줄 코멘트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트렌드 · 타깃 분석의 정확성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데이터 두 개로 트렌드를 확인해 설득력 있음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컨셉의 창의성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'안 사도 되는 백화점'이라는 역발상이 차별적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통합 마케팅의 일관성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일곱 단계 여정 모두 '기분' 메시지 유지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실행 가능성 (예산·일정·KPI)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저녁 피크 인력 운영을 더 구체화할 필요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84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050" b="0" dirty="0">
                        <a:solidFill>
                          <a:srgbClr val="1F4E9A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6D7CB400-813E-FFDC-21F7-A8C0515B8B9E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868680"/>
            <a:ext cx="54864" cy="38404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8229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31313"/>
                </a:solidFill>
                <a:latin typeface="a타이틀고딕3"/>
                <a:ea typeface="a타이틀고딕3"/>
              </a:rPr>
              <a:t>3-2 캠페인 기획 실습  ·  마무리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868680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오늘 하루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1313"/>
                </a:solidFill>
                <a:latin typeface="a고딕16"/>
                <a:ea typeface="a고딕16"/>
              </a:rPr>
              <a:t>처음 질문으로 돌아갑니다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9202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131313"/>
                </a:solidFill>
                <a:latin typeface="a타이틀고딕3"/>
                <a:ea typeface="a타이틀고딕3"/>
              </a:rPr>
              <a:t>캠페인은 왜 할까요?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3464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ED1C24"/>
                </a:solidFill>
                <a:latin typeface="a타이틀고딕3"/>
                <a:ea typeface="a타이틀고딕3"/>
              </a:rPr>
              <a:t>할인이 없어도 올 이유를 만들려고요.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31313"/>
                </a:solidFill>
                <a:latin typeface="a고딕14"/>
                <a:ea typeface="a고딕14"/>
              </a:rPr>
              <a:t>오늘 여러분은 트렌드 하나에서 출발해 </a:t>
            </a:r>
            <a:r>
              <a:rPr sz="1900" b="1">
                <a:solidFill>
                  <a:srgbClr val="131313"/>
                </a:solidFill>
                <a:latin typeface="a고딕16"/>
                <a:ea typeface="a고딕16"/>
              </a:rPr>
              <a:t>한 장짜리 캠페인</a:t>
            </a:r>
            <a:r>
              <a:rPr sz="1900" b="0">
                <a:solidFill>
                  <a:srgbClr val="131313"/>
                </a:solidFill>
                <a:latin typeface="a고딕14"/>
                <a:ea typeface="a고딕14"/>
              </a:rPr>
              <a:t>을 완성했습니다.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31313"/>
                </a:solidFill>
                <a:latin typeface="a고딕14"/>
                <a:ea typeface="a고딕14"/>
              </a:rPr>
              <a:t>①에서 고른 것이 ⑫까지 줄처럼 이어졌습니다. 오늘 만든 것이 바로 그 “올 이유”입니다.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누구에게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709160"/>
            <a:ext cx="8869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① 트렌드 · ② 목표·타깃 · ③ 인사이트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56632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무슨 말을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056632"/>
            <a:ext cx="8869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④ 캠페인명·슬로건 · ⑤ 스토리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0410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어떻게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404104"/>
            <a:ext cx="8869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⑥ 채널 · ⑦ 고객 여정 · ⑧ 운영 · ⑨ 예산 · ⑩ KPI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5157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D1C24"/>
                </a:solidFill>
                <a:latin typeface="a고딕16"/>
                <a:ea typeface="a고딕16"/>
              </a:rPr>
              <a:t>정리하고 발표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751576"/>
            <a:ext cx="8869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31313"/>
                </a:solidFill>
                <a:latin typeface="a고딕16"/>
                <a:ea typeface="a고딕16"/>
              </a:rPr>
              <a:t>⑪ 기획안 1장 · ⑫ 발표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199632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272784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a고딕16"/>
                <a:ea typeface="a고딕16"/>
              </a:rPr>
              <a:t>다음 시간  </a:t>
            </a:r>
            <a:r>
              <a:rPr sz="1500" b="0">
                <a:solidFill>
                  <a:srgbClr val="6B6B6B"/>
                </a:solidFill>
                <a:latin typeface="a고딕14"/>
                <a:ea typeface="a고딕14"/>
              </a:rPr>
              <a:t>3-3 고객 세그먼트와 데이터 마케팅 — 오늘 정한 고객을 숫자로 더 깊이 나눕니다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14290</TotalTime>
  <Words>11659</Words>
  <Application>Microsoft Office PowerPoint</Application>
  <PresentationFormat>사용자 지정</PresentationFormat>
  <Paragraphs>2006</Paragraphs>
  <Slides>81</Slides>
  <Notes>30</Notes>
  <HiddenSlides>2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82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745</cp:revision>
  <dcterms:created xsi:type="dcterms:W3CDTF">2023-03-30T02:09:27Z</dcterms:created>
  <dcterms:modified xsi:type="dcterms:W3CDTF">2026-09-27T18:19:31Z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